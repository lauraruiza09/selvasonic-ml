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1D4D4"/>
                </a:solidFill>
                <a:latin typeface="Aptos Display"/>
              </a:rPr>
              <a:t>Machine Learning · </a:t>
            </a:r>
            <a:r>
              <a:rPr lang="es-CO" sz="1600" b="1" dirty="0">
                <a:solidFill>
                  <a:srgbClr val="21D4D4"/>
                </a:solidFill>
                <a:latin typeface="Aptos Display"/>
              </a:rPr>
              <a:t>Proyecto Final</a:t>
            </a:r>
            <a:endParaRPr sz="1600" b="1" i="0" dirty="0">
              <a:solidFill>
                <a:srgbClr val="21D4D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8433"/>
            <a:ext cx="8229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0" b="1" i="0" dirty="0" err="1">
                <a:solidFill>
                  <a:srgbClr val="EFFCF5"/>
                </a:solidFill>
                <a:latin typeface="Daily Challenge DEMO" pitchFamily="50" charset="0"/>
              </a:rPr>
              <a:t>SelvaSonic</a:t>
            </a:r>
            <a:r>
              <a:rPr sz="11500" b="1" i="0" dirty="0">
                <a:solidFill>
                  <a:srgbClr val="EFFCF5"/>
                </a:solidFill>
                <a:latin typeface="Daily Challenge DEMO" pitchFamily="50" charset="0"/>
              </a:rPr>
              <a:t>-ML</a:t>
            </a:r>
            <a:endParaRPr sz="60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5D3C3"/>
                </a:solidFill>
                <a:latin typeface="Aptos Display"/>
              </a:rPr>
              <a:t>Clasificación bioacústica de aves amazónicas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 err="1">
                <a:solidFill>
                  <a:srgbClr val="B5D3C3"/>
                </a:solidFill>
                <a:latin typeface="Aptos Display"/>
              </a:rPr>
              <a:t>mediante</a:t>
            </a:r>
            <a:r>
              <a:rPr sz="1900" b="0" i="0" dirty="0">
                <a:solidFill>
                  <a:srgbClr val="B5D3C3"/>
                </a:solidFill>
                <a:latin typeface="Aptos Display"/>
              </a:rPr>
              <a:t> CNN + Multi-Head Self-Attention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7955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7EAA95"/>
                </a:solidFill>
                <a:latin typeface="Aptos Display"/>
              </a:rPr>
              <a:t>Pipeline end-to-end ·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comparativa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3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modelos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·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evaluación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multi-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métrica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(F1, AP, ECE, silhouette) ·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prueba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campo</a:t>
            </a:r>
            <a:r>
              <a:rPr sz="1200" b="0" i="0" dirty="0">
                <a:solidFill>
                  <a:srgbClr val="7EAA95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795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B5D3C3"/>
                </a:solidFill>
                <a:latin typeface="Aptos Display"/>
              </a:rPr>
              <a:t>Laura Ruiz Arango · Jose Aldair Molina Méndez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7955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7EAA95"/>
                </a:solidFill>
                <a:latin typeface="Aptos Display"/>
              </a:rPr>
              <a:t>Universidad Nacional de Colombia —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Sede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Medellín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7955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Aprendizaje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Automático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· Prof. Alcides Montoya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5132" y="484336"/>
            <a:ext cx="11398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1.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Problema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: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escuchar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la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biodiversidad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a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escala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6990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EAA95"/>
                </a:solidFill>
                <a:latin typeface="Aptos Display"/>
              </a:rPr>
              <a:t>Del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monitoreo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acústico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pasivo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a la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clasificación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automática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de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especies</a:t>
            </a:r>
            <a:endParaRPr sz="16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047666"/>
            <a:ext cx="3657600" cy="141732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84632" y="213910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21D4D4"/>
                </a:solidFill>
                <a:latin typeface="Aptos Display"/>
              </a:rPr>
              <a:t>1,627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79747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7EAA95"/>
                </a:solidFill>
                <a:latin typeface="Aptos Display"/>
              </a:rPr>
              <a:t>E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species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registradas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Colombia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2047666"/>
            <a:ext cx="3657600" cy="141732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213910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1D4D4"/>
                </a:solidFill>
                <a:latin typeface="Aptos Display"/>
              </a:rPr>
              <a:t>3,319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797473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dirty="0">
                <a:solidFill>
                  <a:srgbClr val="7EAA95"/>
                </a:solidFill>
                <a:latin typeface="Aptos Display"/>
              </a:rPr>
              <a:t>G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rabaciones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Amazonía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colombiana</a:t>
            </a:r>
            <a:endParaRPr sz="14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74152" y="2047666"/>
            <a:ext cx="3657600" cy="141732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213910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1D4D4"/>
                </a:solidFill>
                <a:latin typeface="Aptos Display"/>
              </a:rPr>
              <a:t>10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79747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7EAA95"/>
                </a:solidFill>
                <a:latin typeface="Aptos Display"/>
              </a:rPr>
              <a:t>E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species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seleccionadas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+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no_ave</a:t>
            </a:r>
            <a:endParaRPr sz="16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9913" y="3724558"/>
            <a:ext cx="11274552" cy="1024128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32" y="3826938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B5D3C3"/>
                </a:solidFill>
                <a:latin typeface="Aptos Display"/>
              </a:rPr>
              <a:t>La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Amazonía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colombiana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concentra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16 % de la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diversidad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mundial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aves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.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Monitorear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su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salud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requiere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identificación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masiva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de cantos, hoy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dependiente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expertos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humanos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escasos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.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SelvaSonic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-ML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aborda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este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cuello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botella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entrenando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un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clasificador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bioacústico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desde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cero,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especializado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 fauna </a:t>
            </a:r>
            <a:r>
              <a:rPr b="0" i="0" dirty="0" err="1">
                <a:solidFill>
                  <a:srgbClr val="B5D3C3"/>
                </a:solidFill>
                <a:latin typeface="Aptos Display"/>
              </a:rPr>
              <a:t>colombiana</a:t>
            </a:r>
            <a:r>
              <a:rPr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913" y="4937760"/>
            <a:ext cx="11274552" cy="128016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84632" y="50256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21D4D4"/>
                </a:solidFill>
                <a:latin typeface="Aptos Display"/>
              </a:rPr>
              <a:t>Pregunta</a:t>
            </a:r>
            <a:r>
              <a:rPr b="1" i="0" dirty="0">
                <a:solidFill>
                  <a:srgbClr val="21D4D4"/>
                </a:solidFill>
                <a:latin typeface="Aptos Display"/>
              </a:rPr>
              <a:t> de </a:t>
            </a:r>
            <a:r>
              <a:rPr b="1" i="0" dirty="0" err="1">
                <a:solidFill>
                  <a:srgbClr val="21D4D4"/>
                </a:solidFill>
                <a:latin typeface="Aptos Display"/>
              </a:rPr>
              <a:t>investigación</a:t>
            </a:r>
            <a:endParaRPr b="1" i="0" dirty="0">
              <a:solidFill>
                <a:srgbClr val="21D4D4"/>
              </a:solidFill>
              <a:latin typeface="Aptos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45542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EFFCF5"/>
                </a:solidFill>
                <a:latin typeface="Aptos Display"/>
              </a:rPr>
              <a:t>¿Podemos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aprender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patrones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espectro-temporales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de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vocalizaciones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amazónicas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con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datos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pequeños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y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desbalanceados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,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alcanzando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rendimiento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competitivo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sin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recurrir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a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modelos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2000" b="0" i="0" dirty="0" err="1">
                <a:solidFill>
                  <a:srgbClr val="EFFCF5"/>
                </a:solidFill>
                <a:latin typeface="Aptos Display"/>
              </a:rPr>
              <a:t>preentrenados</a:t>
            </a:r>
            <a:r>
              <a:rPr sz="2000" b="0" i="0" dirty="0">
                <a:solidFill>
                  <a:srgbClr val="EFFCF5"/>
                </a:solidFill>
                <a:latin typeface="Aptos Display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3484" y="128230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2.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Objetivos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y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antecedentes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5486400" cy="5212080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21D4D4"/>
                </a:solidFill>
                <a:latin typeface="Daily Challenge DEMO" pitchFamily="50" charset="0"/>
              </a:rPr>
              <a:t>Objetivos</a:t>
            </a:r>
            <a:endParaRPr sz="1100" b="1" i="0" dirty="0">
              <a:solidFill>
                <a:srgbClr val="21D4D4"/>
              </a:solidFill>
              <a:latin typeface="Daily Challenge DEMO" pitchFamily="5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235" y="1629795"/>
            <a:ext cx="512064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>
                <a:solidFill>
                  <a:srgbClr val="EFFCF5"/>
                </a:solidFill>
                <a:latin typeface="Aptos Display"/>
              </a:rPr>
              <a:t>General:</a:t>
            </a:r>
          </a:p>
          <a:p>
            <a:pPr algn="just"/>
            <a:r>
              <a:rPr sz="1600" b="0" dirty="0" err="1">
                <a:solidFill>
                  <a:srgbClr val="B5D3C3"/>
                </a:solidFill>
                <a:latin typeface="Aptos Display"/>
              </a:rPr>
              <a:t>Diseñar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entrenar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y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evaluar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un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clasificador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bioacústico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end-to-end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basado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CNN + attention para 10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especies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amazónicas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+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no_ave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6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just"/>
            <a:r>
              <a:rPr sz="1600" b="1" dirty="0" err="1">
                <a:solidFill>
                  <a:srgbClr val="EFFCF5"/>
                </a:solidFill>
                <a:latin typeface="Aptos Display"/>
              </a:rPr>
              <a:t>Específicos</a:t>
            </a:r>
            <a:r>
              <a:rPr sz="1600" b="1" dirty="0">
                <a:solidFill>
                  <a:srgbClr val="EFFCF5"/>
                </a:solidFill>
                <a:latin typeface="Aptos Display"/>
              </a:rPr>
              <a:t>: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1. 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Construir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pipeline reproducible (Xeno-canto + ESC-50).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2. 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Comparar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arquitecturas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: CNN baseline → +MHSA → +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balanceo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3.  Validar bajo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cambio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distribución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(audios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externos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).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4. 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Documentar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decisiones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metodológicas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con rigor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científico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6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just"/>
            <a:r>
              <a:rPr sz="1600" b="1" dirty="0">
                <a:solidFill>
                  <a:srgbClr val="F4D35E"/>
                </a:solidFill>
                <a:latin typeface="Aptos Display"/>
              </a:rPr>
              <a:t>Por </a:t>
            </a:r>
            <a:r>
              <a:rPr sz="1600" b="1" dirty="0" err="1">
                <a:solidFill>
                  <a:srgbClr val="F4D35E"/>
                </a:solidFill>
                <a:latin typeface="Aptos Display"/>
              </a:rPr>
              <a:t>qué</a:t>
            </a:r>
            <a:r>
              <a:rPr sz="1600" b="1" dirty="0">
                <a:solidFill>
                  <a:srgbClr val="F4D35E"/>
                </a:solidFill>
                <a:latin typeface="Aptos Display"/>
              </a:rPr>
              <a:t> sin </a:t>
            </a:r>
            <a:r>
              <a:rPr sz="1600" b="1" dirty="0" err="1">
                <a:solidFill>
                  <a:srgbClr val="F4D35E"/>
                </a:solidFill>
                <a:latin typeface="Aptos Display"/>
              </a:rPr>
              <a:t>preentrenamiento</a:t>
            </a:r>
            <a:r>
              <a:rPr sz="1600" b="1" dirty="0">
                <a:solidFill>
                  <a:srgbClr val="F4D35E"/>
                </a:solidFill>
                <a:latin typeface="Aptos Display"/>
              </a:rPr>
              <a:t>:</a:t>
            </a:r>
          </a:p>
          <a:p>
            <a:pPr algn="just"/>
            <a:r>
              <a:rPr sz="1600" b="0" dirty="0" err="1">
                <a:solidFill>
                  <a:srgbClr val="B5D3C3"/>
                </a:solidFill>
                <a:latin typeface="Aptos Display"/>
              </a:rPr>
              <a:t>Modelos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como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YAMNet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/ AST se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preentrenaron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AudioSet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etiquetas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genéricas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).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Aprender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desde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cero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sobre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fauna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colombiana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nos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fuerza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a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construir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representaciones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específicas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— y a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entender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qué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aprende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realmente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987552"/>
            <a:ext cx="5650992" cy="5212080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D4D4"/>
                </a:solidFill>
                <a:latin typeface="Aptos Display"/>
              </a:rPr>
              <a:t>Antes vs. SelvaSonic-ML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99632" y="1417320"/>
          <a:ext cx="539495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Aspecto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Proyecto anterior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SelvaSonic-ML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Modelos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YAMNet, AST (pretrain.)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CNN custom desde cero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Dataset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3 audios Amazonas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~14 K clips train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Clases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AudioSet genérico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10 sp. amazónicas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Métricas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Cualitativas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F1, AP, ECE, silhouette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Pipeline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Sin estructurar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Modular, testeable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Interpretabilidad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Ninguna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Grad-CAM + t-SNE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176" y="267390"/>
            <a:ext cx="112745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 dirty="0">
                <a:solidFill>
                  <a:srgbClr val="EFFCF5"/>
                </a:solidFill>
                <a:latin typeface="+mj-lt"/>
              </a:rPr>
              <a:t>3. </a:t>
            </a:r>
            <a:r>
              <a:rPr sz="6600" b="1" i="0" dirty="0" err="1">
                <a:solidFill>
                  <a:srgbClr val="EFFCF5"/>
                </a:solidFill>
                <a:latin typeface="Daily Challenge DEMO" pitchFamily="50" charset="0"/>
              </a:rPr>
              <a:t>Estructura</a:t>
            </a:r>
            <a:r>
              <a:rPr sz="6600" b="1" i="0" dirty="0">
                <a:solidFill>
                  <a:srgbClr val="EFFCF5"/>
                </a:solidFill>
                <a:latin typeface="Daily Challenge DEMO" pitchFamily="50" charset="0"/>
              </a:rPr>
              <a:t> del </a:t>
            </a:r>
            <a:r>
              <a:rPr sz="6600" b="1" i="0" dirty="0" err="1">
                <a:solidFill>
                  <a:srgbClr val="EFFCF5"/>
                </a:solidFill>
                <a:latin typeface="Daily Challenge DEMO" pitchFamily="50" charset="0"/>
              </a:rPr>
              <a:t>repositorio</a:t>
            </a:r>
            <a:endParaRPr sz="66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462" y="1563624"/>
            <a:ext cx="2103120" cy="192024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1902" y="1636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D4D4"/>
                </a:solidFill>
                <a:latin typeface="Aptos Display"/>
              </a:rPr>
              <a:t>data/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902" y="198424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5D3C3"/>
                </a:solidFill>
                <a:latin typeface="Aptos Display"/>
              </a:rPr>
              <a:t>Xeno-canto + ESC-50
raw → processed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3582" y="229514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1326" y="1563624"/>
            <a:ext cx="2103120" cy="1920240"/>
          </a:xfrm>
          <a:prstGeom prst="rect">
            <a:avLst/>
          </a:prstGeom>
          <a:solidFill>
            <a:srgbClr val="0B2B27"/>
          </a:solidFill>
          <a:ln w="9525">
            <a:solidFill>
              <a:srgbClr val="3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2766" y="1636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D17A"/>
                </a:solidFill>
                <a:latin typeface="Aptos Display"/>
              </a:rPr>
              <a:t>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2766" y="198424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audio_io · transforms
dataset · model · loss
class_weights ·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4445" y="229514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2190" y="1563624"/>
            <a:ext cx="2103120" cy="1920240"/>
          </a:xfrm>
          <a:prstGeom prst="rect">
            <a:avLst/>
          </a:prstGeom>
          <a:solidFill>
            <a:srgbClr val="0B2B27"/>
          </a:solidFill>
          <a:ln w="952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3630" y="1636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scripts/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3630" y="198424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calcular_class_weights
train ·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5310" y="229514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23054" y="1563624"/>
            <a:ext cx="2103120" cy="1920240"/>
          </a:xfrm>
          <a:prstGeom prst="rect">
            <a:avLst/>
          </a:prstGeom>
          <a:solidFill>
            <a:srgbClr val="0B2B27"/>
          </a:solidFill>
          <a:ln w="9525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4493" y="1636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  <a:latin typeface="Aptos Display"/>
              </a:rPr>
              <a:t>notebooks/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4493" y="198424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EDA → baseline → attention
→ comparativa → Grad-CAM
→ embeddings →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6174" y="229514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63918" y="1563624"/>
            <a:ext cx="2103120" cy="1920240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55358" y="1636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D4D4"/>
                </a:solidFill>
                <a:latin typeface="Aptos Display"/>
              </a:rPr>
              <a:t>results/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5358" y="198424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runs/ · comparativa/
gradcam/ · embeddings/
test_externos/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462" y="3621024"/>
            <a:ext cx="11274552" cy="1344168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622" y="3685032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21D4D4"/>
                </a:solidFill>
                <a:latin typeface="Aptos Display"/>
              </a:rPr>
              <a:t>Decisiones</a:t>
            </a:r>
            <a:r>
              <a:rPr sz="1600" b="1" i="0" dirty="0">
                <a:solidFill>
                  <a:srgbClr val="21D4D4"/>
                </a:solidFill>
                <a:latin typeface="Aptos Display"/>
              </a:rPr>
              <a:t> de </a:t>
            </a:r>
            <a:r>
              <a:rPr sz="1600" b="1" i="0" dirty="0" err="1">
                <a:solidFill>
                  <a:srgbClr val="21D4D4"/>
                </a:solidFill>
                <a:latin typeface="Aptos Display"/>
              </a:rPr>
              <a:t>diseño</a:t>
            </a:r>
            <a:r>
              <a:rPr sz="1600" b="1" i="0" dirty="0">
                <a:solidFill>
                  <a:srgbClr val="21D4D4"/>
                </a:solidFill>
                <a:latin typeface="Aptos Display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622" y="397764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5D3C3"/>
                </a:solidFill>
                <a:latin typeface="Aptos Display"/>
              </a:rPr>
              <a:t>·  Config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centralizada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(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src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/config.py) —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único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lugar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para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todos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hiperparámetros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l"/>
            <a:r>
              <a:rPr sz="1400" b="0" dirty="0">
                <a:solidFill>
                  <a:srgbClr val="B5D3C3"/>
                </a:solidFill>
                <a:latin typeface="Aptos Display"/>
              </a:rPr>
              <a:t>·  Semilla 42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fija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todos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runs — splits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idénticos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para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comparación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justa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l"/>
            <a:r>
              <a:rPr sz="1400" b="0" dirty="0">
                <a:solidFill>
                  <a:srgbClr val="B5D3C3"/>
                </a:solidFill>
                <a:latin typeface="Aptos Display"/>
              </a:rPr>
              <a:t>·  Early stopping con patience configurable —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detecta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convergencia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automáticamente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l"/>
            <a:r>
              <a:rPr sz="1400" b="0" dirty="0">
                <a:solidFill>
                  <a:srgbClr val="B5D3C3"/>
                </a:solidFill>
                <a:latin typeface="Aptos Display"/>
              </a:rPr>
              <a:t>·  Logger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TensorBoard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por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epoch — curvas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reproducibles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fuera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Colab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62" y="5047488"/>
            <a:ext cx="11274552" cy="996696"/>
          </a:xfrm>
          <a:prstGeom prst="rect">
            <a:avLst/>
          </a:prstGeom>
          <a:solidFill>
            <a:srgbClr val="0B2B27"/>
          </a:solidFill>
          <a:ln w="5080">
            <a:solidFill>
              <a:srgbClr val="7EA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1902" y="5135134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4D35E"/>
                </a:solidFill>
                <a:latin typeface="Aptos Display"/>
              </a:rPr>
              <a:t>Módulos</a:t>
            </a:r>
            <a:r>
              <a:rPr sz="1600" b="1" i="0" dirty="0">
                <a:solidFill>
                  <a:srgbClr val="F4D35E"/>
                </a:solidFill>
                <a:latin typeface="Aptos Display"/>
              </a:rPr>
              <a:t> clave — </a:t>
            </a:r>
            <a:r>
              <a:rPr sz="1600" b="1" i="0" dirty="0" err="1">
                <a:solidFill>
                  <a:srgbClr val="F4D35E"/>
                </a:solidFill>
                <a:latin typeface="Aptos Display"/>
              </a:rPr>
              <a:t>src</a:t>
            </a:r>
            <a:r>
              <a:rPr sz="1600" b="1" i="0" dirty="0">
                <a:solidFill>
                  <a:srgbClr val="F4D35E"/>
                </a:solidFill>
                <a:latin typeface="Aptos Display"/>
              </a:rPr>
              <a:t>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02" y="538938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5D3C3"/>
                </a:solidFill>
                <a:latin typeface="Aptos Display"/>
              </a:rPr>
              <a:t>model.py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SelvaSonicCNN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/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CNNAttention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  ·  loss.py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CrossEntropy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+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class_weights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+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label_smoothing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  ·  class_weights.py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cómputo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pesos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inversos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  ·  transforms.py (Mel-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espectrogramas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  ·  inference.py (pipeline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inferencia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con umbral de confianza)  ·  logger.py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TensorBoard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Fuente: github.com/LauraRuizA09/SelvaSonic-ML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8111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latin typeface="Aptos Display"/>
              </a:rPr>
              <a:t>4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. Dataset: </a:t>
            </a:r>
            <a:r>
              <a:rPr sz="4400" b="1" i="0" dirty="0">
                <a:solidFill>
                  <a:srgbClr val="EFFCF5"/>
                </a:solidFill>
                <a:latin typeface="Aptos Display"/>
              </a:rPr>
              <a:t>10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especies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amazónicas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>
                <a:solidFill>
                  <a:srgbClr val="EFFCF5"/>
                </a:solidFill>
                <a:latin typeface="Aptos Display"/>
              </a:rPr>
              <a:t>+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clase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no</a:t>
            </a:r>
            <a:r>
              <a:rPr lang="es-CO"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ave</a:t>
            </a:r>
            <a:endParaRPr sz="4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395670"/>
              </p:ext>
            </p:extLst>
          </p:nvPr>
        </p:nvGraphicFramePr>
        <p:xfrm>
          <a:off x="457200" y="987552"/>
          <a:ext cx="10505767" cy="520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5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1D4D4"/>
                          </a:solidFill>
                          <a:latin typeface="Aptos Display"/>
                        </a:rPr>
                        <a:t>#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1D4D4"/>
                          </a:solidFill>
                          <a:latin typeface="Aptos Display"/>
                        </a:rPr>
                        <a:t>Especie</a:t>
                      </a:r>
                      <a:endParaRPr sz="1600" b="1" dirty="0">
                        <a:solidFill>
                          <a:srgbClr val="21D4D4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1D4D4"/>
                          </a:solidFill>
                          <a:latin typeface="Aptos Display"/>
                        </a:rPr>
                        <a:t>Familia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1D4D4"/>
                          </a:solidFill>
                          <a:latin typeface="Aptos Display"/>
                        </a:rPr>
                        <a:t>Grabaciones</a:t>
                      </a:r>
                      <a:endParaRPr sz="1600" b="1" dirty="0">
                        <a:solidFill>
                          <a:srgbClr val="21D4D4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1D4D4"/>
                          </a:solidFill>
                          <a:latin typeface="Aptos Display"/>
                        </a:rPr>
                        <a:t>Clips train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1D4D4"/>
                          </a:solidFill>
                          <a:latin typeface="Aptos Display"/>
                        </a:rPr>
                        <a:t>Weight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Trogon </a:t>
                      </a:r>
                      <a:r>
                        <a:rPr sz="18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viridis</a:t>
                      </a:r>
                      <a:endParaRPr sz="18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Trogonidae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79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2,784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0.4693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Crypturellus cinereus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Tinamidae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48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2,656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0.4919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3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Lipaugus vociferans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Cotingidae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36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1,650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0.7918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4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Ramphastos</a:t>
                      </a:r>
                      <a:r>
                        <a:rPr sz="18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tucanus</a:t>
                      </a:r>
                      <a:endParaRPr sz="18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Ramphastidae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31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1,492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0.8757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5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Crypturellus undulatus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Tinamidae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738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1.7704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6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Celeus grammicus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Picidae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28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856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1.5263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7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Glaucidium brasilianum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Strigidae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22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560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2.3331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8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Chordeiles pusillus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Caprimulgidae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21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240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5.4439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Frederickena fulva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Thamnophilidae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20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854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1.5299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10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Rupornis magnirostris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Accipitridae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20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302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4.3263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—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no_ave (ESC-50, sin animales)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—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~1,600 archivos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B5D3C3"/>
                          </a:solidFill>
                          <a:latin typeface="Aptos Display"/>
                        </a:rPr>
                        <a:t>2,240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0.5833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54496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Criterios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de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selección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: ≥14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grabaciones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·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diversidad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taxonómica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(8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familias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) ·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reto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intra-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género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(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Crypturellus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) ·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exclusión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de 'Mystery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mystery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' ·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no_ave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de ESC-50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excluyendo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800" b="0" i="0" dirty="0" err="1">
                <a:solidFill>
                  <a:srgbClr val="7EAA95"/>
                </a:solidFill>
                <a:latin typeface="Aptos Display"/>
              </a:rPr>
              <a:t>categoría</a:t>
            </a:r>
            <a:r>
              <a:rPr sz="800" b="0" i="0" dirty="0">
                <a:solidFill>
                  <a:srgbClr val="7EAA95"/>
                </a:solidFill>
                <a:latin typeface="Aptos Display"/>
              </a:rPr>
              <a:t> Animals.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Aptos Display"/>
              </a:rPr>
              <a:t>5.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Desbalance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severo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de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clases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073" y="5369142"/>
            <a:ext cx="7182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7EAA95"/>
                </a:solidFill>
                <a:latin typeface="Aptos Display"/>
              </a:rPr>
              <a:t>no_ave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no es la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más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abundante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— Trogon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viridis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lidera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· las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minoritarias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0" i="0" dirty="0" err="1">
                <a:solidFill>
                  <a:srgbClr val="7EAA95"/>
                </a:solidFill>
                <a:latin typeface="Aptos Display"/>
              </a:rPr>
              <a:t>motivan</a:t>
            </a:r>
            <a:r>
              <a:rPr b="0" i="0" dirty="0">
                <a:solidFill>
                  <a:srgbClr val="7EAA95"/>
                </a:solidFill>
                <a:latin typeface="Aptos Display"/>
              </a:rPr>
              <a:t> class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06</a:t>
            </a:r>
          </a:p>
        </p:txBody>
      </p:sp>
      <p:pic>
        <p:nvPicPr>
          <p:cNvPr id="7" name="Picture 6" descr="dist_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8046720" cy="42193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987552"/>
            <a:ext cx="3090672" cy="4369534"/>
          </a:xfrm>
          <a:prstGeom prst="rect">
            <a:avLst/>
          </a:prstGeom>
          <a:solidFill>
            <a:srgbClr val="0B2B27"/>
          </a:solidFill>
          <a:ln w="762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0" y="1078992"/>
            <a:ext cx="28346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21D4D4"/>
                </a:solidFill>
                <a:latin typeface="Aptos Display"/>
              </a:rPr>
              <a:t>Estadísticas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clave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1" dirty="0">
                <a:solidFill>
                  <a:srgbClr val="F4D35E"/>
                </a:solidFill>
                <a:latin typeface="Aptos Display"/>
              </a:rPr>
              <a:t>Total train:</a:t>
            </a:r>
          </a:p>
          <a:p>
            <a:pPr algn="ctr"/>
            <a:r>
              <a:rPr b="1" dirty="0">
                <a:solidFill>
                  <a:srgbClr val="EFFCF5"/>
                </a:solidFill>
                <a:latin typeface="Aptos Display"/>
              </a:rPr>
              <a:t>14,372 clips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0" dirty="0">
                <a:solidFill>
                  <a:srgbClr val="B5D3C3"/>
                </a:solidFill>
                <a:latin typeface="Aptos Display"/>
              </a:rPr>
              <a:t>Clase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frecuente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:</a:t>
            </a:r>
          </a:p>
          <a:p>
            <a:pPr algn="ctr"/>
            <a:r>
              <a:rPr sz="1600" b="1" dirty="0">
                <a:solidFill>
                  <a:srgbClr val="EFFCF5"/>
                </a:solidFill>
                <a:latin typeface="Aptos Display"/>
              </a:rPr>
              <a:t>Trogon </a:t>
            </a:r>
            <a:r>
              <a:rPr sz="1600" b="1" dirty="0" err="1">
                <a:solidFill>
                  <a:srgbClr val="EFFCF5"/>
                </a:solidFill>
                <a:latin typeface="Aptos Display"/>
              </a:rPr>
              <a:t>viridis</a:t>
            </a:r>
            <a:r>
              <a:rPr sz="1600" b="1" dirty="0">
                <a:solidFill>
                  <a:srgbClr val="EFFCF5"/>
                </a:solidFill>
                <a:latin typeface="Aptos Display"/>
              </a:rPr>
              <a:t> · 2,784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0" dirty="0">
                <a:solidFill>
                  <a:srgbClr val="B5D3C3"/>
                </a:solidFill>
                <a:latin typeface="Aptos Display"/>
              </a:rPr>
              <a:t>Clase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rara:</a:t>
            </a:r>
          </a:p>
          <a:p>
            <a:pPr algn="ctr"/>
            <a:r>
              <a:rPr sz="1600" b="1" dirty="0" err="1">
                <a:solidFill>
                  <a:srgbClr val="FF5C7A"/>
                </a:solidFill>
                <a:latin typeface="Aptos Display"/>
              </a:rPr>
              <a:t>Chordeiles</a:t>
            </a:r>
            <a:r>
              <a:rPr sz="1600" b="1" dirty="0">
                <a:solidFill>
                  <a:srgbClr val="FF5C7A"/>
                </a:solidFill>
                <a:latin typeface="Aptos Display"/>
              </a:rPr>
              <a:t> · 240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0" dirty="0">
                <a:solidFill>
                  <a:srgbClr val="B5D3C3"/>
                </a:solidFill>
                <a:latin typeface="Aptos Display"/>
              </a:rPr>
              <a:t>Ratio max/min:</a:t>
            </a:r>
          </a:p>
          <a:p>
            <a:pPr algn="ctr"/>
            <a:r>
              <a:rPr sz="1600" b="1" dirty="0">
                <a:solidFill>
                  <a:srgbClr val="FF9F1C"/>
                </a:solidFill>
                <a:latin typeface="Aptos Display"/>
              </a:rPr>
              <a:t>11.6×  (Trogon / </a:t>
            </a:r>
            <a:r>
              <a:rPr sz="1600" b="1" dirty="0" err="1">
                <a:solidFill>
                  <a:srgbClr val="FF9F1C"/>
                </a:solidFill>
                <a:latin typeface="Aptos Display"/>
              </a:rPr>
              <a:t>Chordeiles</a:t>
            </a:r>
            <a:r>
              <a:rPr sz="1600" b="1" dirty="0">
                <a:solidFill>
                  <a:srgbClr val="FF9F1C"/>
                </a:solidFill>
                <a:latin typeface="Aptos Display"/>
              </a:rPr>
              <a:t>)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0" dirty="0">
                <a:solidFill>
                  <a:srgbClr val="B5D3C3"/>
                </a:solidFill>
                <a:latin typeface="Aptos Display"/>
              </a:rPr>
              <a:t>Peso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máximo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:</a:t>
            </a:r>
          </a:p>
          <a:p>
            <a:pPr algn="ctr"/>
            <a:r>
              <a:rPr sz="1600" b="1" dirty="0">
                <a:solidFill>
                  <a:srgbClr val="21D4D4"/>
                </a:solidFill>
                <a:latin typeface="Aptos Display"/>
              </a:rPr>
              <a:t>5.44 (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Chordeiles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)</a:t>
            </a:r>
          </a:p>
          <a:p>
            <a:pPr algn="ctr"/>
            <a:r>
              <a:rPr sz="5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1600" b="1" dirty="0" err="1">
                <a:solidFill>
                  <a:srgbClr val="F4D35E"/>
                </a:solidFill>
                <a:latin typeface="Aptos Display"/>
              </a:rPr>
              <a:t>Decisión</a:t>
            </a:r>
            <a:r>
              <a:rPr sz="1600" b="1" dirty="0">
                <a:solidFill>
                  <a:srgbClr val="F4D35E"/>
                </a:solidFill>
                <a:latin typeface="Aptos Display"/>
              </a:rPr>
              <a:t>:</a:t>
            </a:r>
          </a:p>
          <a:p>
            <a:pPr algn="ctr"/>
            <a:r>
              <a:rPr lang="es-CO" sz="1600" b="0" dirty="0">
                <a:solidFill>
                  <a:srgbClr val="B5D3C3"/>
                </a:solidFill>
                <a:latin typeface="Aptos Display"/>
              </a:rPr>
              <a:t>A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tacar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con class weights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la loss antes de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tunear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arquitectura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679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Aptos Display"/>
              </a:rPr>
              <a:t>6.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Pipeline de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preprocesamiento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7558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AA95"/>
                </a:solidFill>
                <a:latin typeface="Aptos Display"/>
              </a:rPr>
              <a:t>Carga → Segmentación → Mel-espectrograma → Normalización → Tensor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1348"/>
            <a:ext cx="2103120" cy="1188720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27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D4D4"/>
                </a:solidFill>
                <a:latin typeface="Aptos Display"/>
              </a:rPr>
              <a:t>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0260"/>
            <a:ext cx="1920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3C3"/>
                </a:solidFill>
                <a:latin typeface="Aptos Display"/>
              </a:rPr>
              <a:t>librosa
sr=22 050 Hz
mono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464308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641348"/>
            <a:ext cx="2103120" cy="1188720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7327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D4D4"/>
                </a:solidFill>
                <a:latin typeface="Aptos Display"/>
              </a:rPr>
              <a:t>Segmentación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080260"/>
            <a:ext cx="1920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3C3"/>
                </a:solidFill>
                <a:latin typeface="Aptos Display"/>
              </a:rPr>
              <a:t>clips 5 s
solape 50 %
(solo train)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464308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641348"/>
            <a:ext cx="2103120" cy="1188720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02936" y="17327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D4D4"/>
                </a:solidFill>
                <a:latin typeface="Aptos Display"/>
              </a:rPr>
              <a:t>Mel FFT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080260"/>
            <a:ext cx="1920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3C3"/>
                </a:solidFill>
                <a:latin typeface="Aptos Display"/>
              </a:rPr>
              <a:t>n_fft=2 048
hop=512
n_mels=128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464308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3" y="1641348"/>
            <a:ext cx="2103120" cy="1188720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3" y="17327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D4D4"/>
                </a:solidFill>
                <a:latin typeface="Aptos Display"/>
              </a:rPr>
              <a:t>Filtros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3" y="2080260"/>
            <a:ext cx="1920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3C3"/>
                </a:solidFill>
                <a:latin typeface="Aptos Display"/>
              </a:rPr>
              <a:t>fmin=50 Hz
fmax=11 025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3" y="2464308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AA95"/>
                </a:solidFill>
                <a:latin typeface="Aptos Display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1" y="1641348"/>
            <a:ext cx="2103120" cy="1188720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1" y="17327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D4D4"/>
                </a:solidFill>
                <a:latin typeface="Aptos Display"/>
              </a:rPr>
              <a:t>Tensor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1" y="2080260"/>
            <a:ext cx="1920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3C3"/>
                </a:solidFill>
                <a:latin typeface="Aptos Display"/>
              </a:rPr>
              <a:t>dB norm.
shape: [1,128,~216]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11274552" cy="320040"/>
          </a:xfrm>
          <a:prstGeom prst="rect">
            <a:avLst/>
          </a:prstGeom>
          <a:solidFill>
            <a:srgbClr val="08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240095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4D35E"/>
                </a:solidFill>
                <a:latin typeface="Aptos Display"/>
              </a:rPr>
              <a:t>Hiperparámetros</a:t>
            </a:r>
            <a:r>
              <a:rPr sz="1400" b="1" i="0" dirty="0">
                <a:solidFill>
                  <a:srgbClr val="F4D35E"/>
                </a:solidFill>
                <a:latin typeface="Aptos Display"/>
              </a:rPr>
              <a:t> del pipeline (src/config.py 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34301"/>
              </p:ext>
            </p:extLst>
          </p:nvPr>
        </p:nvGraphicFramePr>
        <p:xfrm>
          <a:off x="457200" y="3593592"/>
          <a:ext cx="11274551" cy="2747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6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D4D4"/>
                          </a:solidFill>
                          <a:latin typeface="Aptos Display"/>
                        </a:rPr>
                        <a:t>Parámetro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D4D4"/>
                          </a:solidFill>
                          <a:latin typeface="Aptos Display"/>
                        </a:rPr>
                        <a:t>Valor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D4D4"/>
                          </a:solidFill>
                          <a:latin typeface="Aptos Display"/>
                        </a:rPr>
                        <a:t>Justificación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SAMPLE_RATE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22 050 Hz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Nyquist cubre hasta 11 025 Hz &gt; rango aves (500 Hz–10 kHz)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CLIP_DURATION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5.0 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Estándar en BirdCLEF/BirdNET; captura cantos completos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N_FFT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2 048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Δf≈10.8 Hz/bin — suficiente para distinguir tonos de aves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HOP_LENGTH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512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Δt≈23 ms/frame, overlap 75 % — captura trinos rápidos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N_MELS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128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Estándar YAMNet/PANNs; equilibra detalle vs. cómputo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CLIP_OVERLAP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0.5 (solo train)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Data augmentation temporal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honesto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— no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en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val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/test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latin typeface="Aptos Display"/>
              </a:rPr>
              <a:t>6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b. Del audio crudo al Mel-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espectrograma</a:t>
            </a:r>
            <a:endParaRPr sz="4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16248"/>
            <a:ext cx="1127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7EAA95"/>
                </a:solidFill>
                <a:latin typeface="Aptos Display"/>
              </a:rPr>
              <a:t>Cada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cuadro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tiempo-frecuencia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recibe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color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según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energía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08</a:t>
            </a:r>
          </a:p>
        </p:txBody>
      </p:sp>
      <p:pic>
        <p:nvPicPr>
          <p:cNvPr id="7" name="Picture 6" descr="mel_ejemp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" y="1136288"/>
            <a:ext cx="11274552" cy="4350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3484" y="5532120"/>
            <a:ext cx="11274552" cy="960120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" y="5492160"/>
            <a:ext cx="1097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>
                <a:solidFill>
                  <a:srgbClr val="21D4D4"/>
                </a:solidFill>
                <a:latin typeface="Aptos Display"/>
              </a:rPr>
              <a:t>Lectura del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espectrograma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: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Eje X =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tiempo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(s)  ·  Eje Y =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frecuencia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escala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Mel)  ·  Color (magma) =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energía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dB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relativo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al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pico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(rojo =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alta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energía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).  Las CNN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aprenden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filtros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detectan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patrones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espectrales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como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silbo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descendente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Crypturellus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o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graznido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pulsado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Ramphastos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34" y="437061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Aptos Display"/>
              </a:rPr>
              <a:t>7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. Augmentation y control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509" y="1317457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7EAA95"/>
                </a:solidFill>
                <a:latin typeface="Aptos Display"/>
              </a:rPr>
              <a:t>Solo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TRAIN —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nunca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val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/test para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evitar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505" y="2112264"/>
            <a:ext cx="3657600" cy="1766857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21665" y="2185416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D4D4"/>
                </a:solidFill>
                <a:latin typeface="Aptos Display"/>
              </a:rPr>
              <a:t>Time Stretch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665" y="2523744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FCF5"/>
                </a:solidFill>
                <a:latin typeface="Aptos Display"/>
              </a:rPr>
              <a:t>rate ∈ [0.8, 1.25]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665" y="2798064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P=0.50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665" y="3118104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5D3C3"/>
                </a:solidFill>
                <a:latin typeface="Aptos Display"/>
              </a:rPr>
              <a:t>Simula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aves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cantando 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velocidades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distintas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excitación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fatiga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). ±25 % sin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artefactos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del phase vocoder.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4985" y="2112264"/>
            <a:ext cx="3657600" cy="1766857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462145" y="2185416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D35E"/>
                </a:solidFill>
                <a:latin typeface="Aptos Display"/>
              </a:rPr>
              <a:t>Pitch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145" y="2523744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FFCF5"/>
                </a:solidFill>
                <a:latin typeface="Aptos Display"/>
              </a:rPr>
              <a:t>±2 </a:t>
            </a:r>
            <a:r>
              <a:rPr sz="1100" b="0" i="0" dirty="0" err="1">
                <a:solidFill>
                  <a:srgbClr val="EFFCF5"/>
                </a:solidFill>
                <a:latin typeface="Aptos Display"/>
              </a:rPr>
              <a:t>semitonos</a:t>
            </a:r>
            <a:endParaRPr sz="1100" b="0" i="0" dirty="0">
              <a:solidFill>
                <a:srgbClr val="EFFCF5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145" y="2798064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P=0.50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145" y="3118104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Cubre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variación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natural entre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individuos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(machos, hembras, juveniles). f' = f × 2^(n/12); ±2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semitonos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→ [0.89×, 1.12×].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465" y="2112264"/>
            <a:ext cx="3657600" cy="1766857"/>
          </a:xfrm>
          <a:prstGeom prst="roundRect">
            <a:avLst/>
          </a:prstGeom>
          <a:solidFill>
            <a:srgbClr val="0B2B27"/>
          </a:solidFill>
          <a:ln w="9525">
            <a:solidFill>
              <a:srgbClr val="3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625" y="2185416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D17A"/>
                </a:solidFill>
                <a:latin typeface="Aptos Display"/>
              </a:rPr>
              <a:t>Add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625" y="2523744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FCF5"/>
                </a:solidFill>
                <a:latin typeface="Aptos Display"/>
              </a:rPr>
              <a:t>SNR ∈ [10, 30]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625" y="2798064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P=0.70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625" y="3118104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5D3C3"/>
                </a:solidFill>
                <a:latin typeface="Aptos Display"/>
              </a:rPr>
              <a:t>Simula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condiciones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campo. SNR=30 dB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silencioso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SNR=10 dB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lluvia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/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ambiente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 Más alto P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porque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es 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condición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realista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07407"/>
            <a:ext cx="11274552" cy="1583977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1" dirty="0" err="1">
                <a:solidFill>
                  <a:srgbClr val="F4D35E"/>
                </a:solidFill>
                <a:latin typeface="Aptos Display"/>
              </a:rPr>
              <a:t>Principios</a:t>
            </a:r>
            <a:r>
              <a:rPr b="1" dirty="0">
                <a:solidFill>
                  <a:srgbClr val="F4D35E"/>
                </a:solidFill>
                <a:latin typeface="Aptos Display"/>
              </a:rPr>
              <a:t> del control experimental:</a:t>
            </a:r>
          </a:p>
          <a:p>
            <a:pPr algn="just"/>
            <a:r>
              <a:rPr b="0" dirty="0">
                <a:solidFill>
                  <a:srgbClr val="B5D3C3"/>
                </a:solidFill>
                <a:latin typeface="Aptos Display"/>
              </a:rPr>
              <a:t>·  Augmentation SOLO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train splits —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val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y test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usan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audio crudo sin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modificar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.  ·  La augmentation es temporal: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cada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epoch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mini-batch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puede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ver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versiones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distintas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del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mismo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audio.  ·  Short Audio Strategy = 'wrap' (loop circular)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lugar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de zero-padding —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evita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aprenda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'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borde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silencio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'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como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 feature </a:t>
            </a:r>
            <a:r>
              <a:rPr b="0" dirty="0" err="1">
                <a:solidFill>
                  <a:srgbClr val="B5D3C3"/>
                </a:solidFill>
                <a:latin typeface="Aptos Display"/>
              </a:rPr>
              <a:t>artefacto</a:t>
            </a:r>
            <a:r>
              <a:rPr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Aptos Display"/>
              </a:rPr>
              <a:t>8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a.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Arquitectura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1: Baseline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10</a:t>
            </a:r>
          </a:p>
        </p:txBody>
      </p:sp>
      <p:pic>
        <p:nvPicPr>
          <p:cNvPr id="7" name="Picture 6" descr="arch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0" y="991910"/>
            <a:ext cx="11593584" cy="32829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407408"/>
            <a:ext cx="11274552" cy="960120"/>
          </a:xfrm>
          <a:prstGeom prst="rect">
            <a:avLst/>
          </a:prstGeom>
          <a:solidFill>
            <a:srgbClr val="08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1D4D4"/>
                </a:solidFill>
                <a:latin typeface="Aptos Display"/>
              </a:rPr>
              <a:t>422,635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dirty="0">
                <a:solidFill>
                  <a:srgbClr val="7EAA95"/>
                </a:solidFill>
                <a:latin typeface="Aptos Display"/>
              </a:rPr>
              <a:t>P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arámetros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totales</a:t>
            </a:r>
            <a:endParaRPr sz="14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1568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3D17A"/>
                </a:solidFill>
                <a:latin typeface="Aptos Display"/>
              </a:rPr>
              <a:t>27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4983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dirty="0">
                <a:solidFill>
                  <a:srgbClr val="7EAA95"/>
                </a:solidFill>
                <a:latin typeface="Aptos Display"/>
              </a:rPr>
              <a:t>E</a:t>
            </a:r>
            <a:r>
              <a:rPr sz="1400" b="1" i="0" dirty="0" err="1">
                <a:solidFill>
                  <a:srgbClr val="7EAA95"/>
                </a:solidFill>
                <a:latin typeface="Aptos Display"/>
              </a:rPr>
              <a:t>pochs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 (early stop.)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D35E"/>
                </a:solidFill>
                <a:latin typeface="Aptos Display"/>
              </a:rPr>
              <a:t>0.6322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4983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dirty="0">
                <a:solidFill>
                  <a:srgbClr val="7EAA95"/>
                </a:solidFill>
                <a:latin typeface="Aptos Display"/>
              </a:rPr>
              <a:t>T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est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9F1C"/>
                </a:solidFill>
                <a:latin typeface="Aptos Display"/>
              </a:rPr>
              <a:t>0.509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4983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dirty="0">
                <a:solidFill>
                  <a:srgbClr val="7EAA95"/>
                </a:solidFill>
                <a:latin typeface="Aptos Display"/>
              </a:rPr>
              <a:t>M</a:t>
            </a:r>
            <a:r>
              <a:rPr sz="1400" b="1" i="0" dirty="0">
                <a:solidFill>
                  <a:srgbClr val="7EAA95"/>
                </a:solidFill>
                <a:latin typeface="Aptos Display"/>
              </a:rPr>
              <a:t>acro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00116"/>
            <a:ext cx="11274552" cy="1083564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" y="5518404"/>
            <a:ext cx="10972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 err="1">
                <a:solidFill>
                  <a:srgbClr val="21D4D4"/>
                </a:solidFill>
                <a:latin typeface="Aptos Display"/>
              </a:rPr>
              <a:t>Decisiones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de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diseño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:</a:t>
            </a:r>
          </a:p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· 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Progresión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32→64→128→256 (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estándar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VGGNet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):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cada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bloque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extrae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representaciones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abstractas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·  Global Average Pooling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lugar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Flatten: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elimina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dependencia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la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dimensión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temporal de entrada.</a:t>
            </a:r>
          </a:p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·  Dropout 0.3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conservador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: con datasets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pequeños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valores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mayores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degradan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flujo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gradientes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74321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EFFCF5"/>
                </a:solidFill>
                <a:latin typeface="Aptos Display"/>
              </a:rPr>
              <a:t>8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b.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Arquitectura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2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y 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3: + 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Multi-Head Self-Attention 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(+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v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2 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class weights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11</a:t>
            </a:r>
          </a:p>
        </p:txBody>
      </p:sp>
      <p:pic>
        <p:nvPicPr>
          <p:cNvPr id="7" name="Picture 6" descr="arch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0986"/>
            <a:ext cx="11274552" cy="31925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073" y="4280524"/>
            <a:ext cx="11274552" cy="960120"/>
          </a:xfrm>
          <a:prstGeom prst="rect">
            <a:avLst/>
          </a:prstGeom>
          <a:solidFill>
            <a:srgbClr val="08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233" y="43536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1D4D4"/>
                </a:solidFill>
                <a:latin typeface="Aptos Display"/>
              </a:rPr>
              <a:t>714,987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233" y="48565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AA95"/>
                </a:solidFill>
                <a:latin typeface="Aptos Display"/>
              </a:rPr>
              <a:t>parámetros (+69 % vs 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441" y="43536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3D17A"/>
                </a:solidFill>
                <a:latin typeface="Aptos Display"/>
              </a:rPr>
              <a:t>17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441" y="48565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AA95"/>
                </a:solidFill>
                <a:latin typeface="Aptos Display"/>
              </a:rPr>
              <a:t>v1: epochs (converge antes)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649" y="43536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D35E"/>
                </a:solidFill>
                <a:latin typeface="Aptos Display"/>
              </a:rPr>
              <a:t>0.7036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649" y="48565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AA95"/>
                </a:solidFill>
                <a:latin typeface="Aptos Display"/>
              </a:rPr>
              <a:t>v2: test accuracy (+7.1 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857" y="43536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9F1C"/>
                </a:solidFill>
                <a:latin typeface="Aptos Display"/>
              </a:rPr>
              <a:t>0.625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857" y="48565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AA95"/>
                </a:solidFill>
                <a:latin typeface="Aptos Display"/>
              </a:rPr>
              <a:t>v2: macro F1 (+11.6 pp)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9418"/>
            <a:ext cx="11274552" cy="1274261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" y="5346383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1" dirty="0">
                <a:solidFill>
                  <a:srgbClr val="21D4D4"/>
                </a:solidFill>
                <a:latin typeface="Aptos Display"/>
              </a:rPr>
              <a:t>Por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qué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MHSA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mejora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sobre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</a:t>
            </a:r>
            <a:r>
              <a:rPr sz="1600" b="1" dirty="0" err="1">
                <a:solidFill>
                  <a:srgbClr val="21D4D4"/>
                </a:solidFill>
                <a:latin typeface="Aptos Display"/>
              </a:rPr>
              <a:t>el</a:t>
            </a:r>
            <a:r>
              <a:rPr sz="1600" b="1" dirty="0">
                <a:solidFill>
                  <a:srgbClr val="21D4D4"/>
                </a:solidFill>
                <a:latin typeface="Aptos Display"/>
              </a:rPr>
              <a:t> Baseline:</a:t>
            </a:r>
          </a:p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·  Cada frame temporal 'consulta'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todos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demás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frames y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pondera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cuáles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son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relevantes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: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captura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la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estructura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temporal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trinos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y series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notas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·  Converge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17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épocas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vs 27 del baseline: la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atención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encuentra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patrones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discriminativos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eficientemente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/>
            <a:r>
              <a:rPr sz="1400" b="0" dirty="0">
                <a:solidFill>
                  <a:srgbClr val="F4D35E"/>
                </a:solidFill>
                <a:latin typeface="Aptos Display"/>
              </a:rPr>
              <a:t>·  v2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añade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class_weights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 a la loss —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mismo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número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 de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parámetros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, solo cambia la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función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 de </a:t>
            </a:r>
            <a:r>
              <a:rPr sz="1400" b="0" dirty="0" err="1">
                <a:solidFill>
                  <a:srgbClr val="F4D35E"/>
                </a:solidFill>
                <a:latin typeface="Aptos Display"/>
              </a:rPr>
              <a:t>costo</a:t>
            </a:r>
            <a:r>
              <a:rPr sz="1400" b="0" dirty="0">
                <a:solidFill>
                  <a:srgbClr val="F4D35E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/>
              </a:rPr>
              <a:t>9</a:t>
            </a:r>
            <a:r>
              <a:rPr sz="4400" b="1" i="0" dirty="0">
                <a:solidFill>
                  <a:srgbClr val="EFFC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ily Challenge DEMO" pitchFamily="50" charset="0"/>
              </a:rPr>
              <a:t>. 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Modelo final v2: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atacando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el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desbalance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con class weights</a:t>
            </a:r>
            <a:endParaRPr sz="22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098" y="1132295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Misma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arquitectura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que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v1 ·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mismo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label smoothing α=0.1 · cambia SOLO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una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cosa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: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los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pesos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" y="1524000"/>
            <a:ext cx="6400800" cy="2502182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" y="1726757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21D4D4"/>
                </a:solidFill>
                <a:latin typeface="Aptos Display"/>
              </a:rPr>
              <a:t>Fórmula</a:t>
            </a:r>
            <a:r>
              <a:rPr sz="1600" b="1" i="0" dirty="0">
                <a:solidFill>
                  <a:srgbClr val="21D4D4"/>
                </a:solidFill>
                <a:latin typeface="Aptos Display"/>
              </a:rPr>
              <a:t> de class weights</a:t>
            </a:r>
            <a:r>
              <a:rPr sz="1000" b="1" i="0" dirty="0">
                <a:solidFill>
                  <a:srgbClr val="21D4D4"/>
                </a:solidFill>
                <a:latin typeface="Aptos Display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233" y="2411826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7EAA95"/>
                </a:solidFill>
                <a:latin typeface="Aptos Display"/>
              </a:rPr>
              <a:t>Donde:</a:t>
            </a:r>
          </a:p>
          <a:p>
            <a:pPr algn="l"/>
            <a:r>
              <a:rPr sz="1200" b="0" dirty="0" err="1">
                <a:solidFill>
                  <a:srgbClr val="B5D3C3"/>
                </a:solidFill>
                <a:latin typeface="Aptos Display"/>
              </a:rPr>
              <a:t>N_total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= 14,372  (total clips de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entrenamiento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)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K = 11  (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número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)</a:t>
            </a:r>
          </a:p>
          <a:p>
            <a:pPr algn="l"/>
            <a:r>
              <a:rPr sz="1200" b="0" dirty="0" err="1">
                <a:solidFill>
                  <a:srgbClr val="B5D3C3"/>
                </a:solidFill>
                <a:latin typeface="Aptos Display"/>
              </a:rPr>
              <a:t>N_c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= clips de la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c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train</a:t>
            </a:r>
          </a:p>
          <a:p>
            <a:pPr algn="l"/>
            <a:r>
              <a:rPr sz="3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 err="1">
                <a:solidFill>
                  <a:srgbClr val="F4D35E"/>
                </a:solidFill>
                <a:latin typeface="Aptos Display"/>
              </a:rPr>
              <a:t>Aplicado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como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: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CrossEntropyLoss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(weight=w,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label_smoothing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=0.1)</a:t>
            </a:r>
          </a:p>
          <a:p>
            <a:pPr algn="l"/>
            <a:r>
              <a:rPr sz="3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 err="1">
                <a:solidFill>
                  <a:srgbClr val="B5D3C3"/>
                </a:solidFill>
                <a:latin typeface="Aptos Display"/>
              </a:rPr>
              <a:t>Efecto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: un error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Chordeiles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(peso 5.44)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penaliza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11.6×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más</a:t>
            </a:r>
            <a:endParaRPr sz="1200" b="0" dirty="0">
              <a:solidFill>
                <a:srgbClr val="B5D3C3"/>
              </a:solidFill>
              <a:latin typeface="Aptos Display"/>
            </a:endParaRPr>
          </a:p>
          <a:p>
            <a:pPr algn="l"/>
            <a:r>
              <a:rPr sz="1200"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un error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Trogon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viridis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(peso 0.47).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987552"/>
            <a:ext cx="4736592" cy="2606040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105156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D4D4"/>
                </a:solidFill>
                <a:latin typeface="Aptos Display"/>
              </a:rPr>
              <a:t>Pesos reales (data/class_weights.pt)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068312" y="1371600"/>
          <a:ext cx="45262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Clase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N_train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D4D4"/>
                          </a:solidFill>
                          <a:latin typeface="Aptos Display"/>
                        </a:rPr>
                        <a:t>Peso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Trogon viridis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2,784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0.4693 ⬇ mín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Crypturellus cin.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2,656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0.4919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no_ave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2,240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0.5833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Rupornis mag.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302</a:t>
                      </a:r>
                    </a:p>
                  </a:txBody>
                  <a:tcPr>
                    <a:solidFill>
                      <a:srgbClr val="0B2B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4.3263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Chordeiles pus.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5D3C3"/>
                          </a:solidFill>
                          <a:latin typeface="Aptos Display"/>
                        </a:rPr>
                        <a:t>240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00C"/>
                          </a:solidFill>
                          <a:latin typeface="Aptos Display"/>
                        </a:rPr>
                        <a:t>5.4439 ⬆ máx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43484" y="4085128"/>
            <a:ext cx="11274552" cy="822960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" y="41491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4D35E"/>
                </a:solidFill>
                <a:latin typeface="Aptos Display"/>
              </a:rPr>
              <a:t>Nota </a:t>
            </a:r>
            <a:r>
              <a:rPr sz="1200" b="1" i="0" dirty="0" err="1">
                <a:solidFill>
                  <a:srgbClr val="F4D35E"/>
                </a:solidFill>
                <a:latin typeface="Aptos Display"/>
              </a:rPr>
              <a:t>sobre</a:t>
            </a:r>
            <a:r>
              <a:rPr sz="1200" b="1" i="0" dirty="0">
                <a:solidFill>
                  <a:srgbClr val="F4D35E"/>
                </a:solidFill>
                <a:latin typeface="Aptos Display"/>
              </a:rPr>
              <a:t> label smoothing (</a:t>
            </a:r>
            <a:r>
              <a:rPr sz="1200" b="1" i="0" dirty="0" err="1">
                <a:solidFill>
                  <a:srgbClr val="F4D35E"/>
                </a:solidFill>
                <a:latin typeface="Aptos Display"/>
              </a:rPr>
              <a:t>presente</a:t>
            </a:r>
            <a:r>
              <a:rPr sz="1200" b="1" i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F4D35E"/>
                </a:solidFill>
                <a:latin typeface="Aptos Display"/>
              </a:rPr>
              <a:t>en</a:t>
            </a:r>
            <a:r>
              <a:rPr sz="1200" b="1" i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F4D35E"/>
                </a:solidFill>
                <a:latin typeface="Aptos Display"/>
              </a:rPr>
              <a:t>los</a:t>
            </a:r>
            <a:r>
              <a:rPr sz="1200" b="1" i="0" dirty="0">
                <a:solidFill>
                  <a:srgbClr val="F4D35E"/>
                </a:solidFill>
                <a:latin typeface="Aptos Display"/>
              </a:rPr>
              <a:t> 3 </a:t>
            </a:r>
            <a:r>
              <a:rPr sz="1200" b="1" i="0" dirty="0" err="1">
                <a:solidFill>
                  <a:srgbClr val="F4D35E"/>
                </a:solidFill>
                <a:latin typeface="Aptos Display"/>
              </a:rPr>
              <a:t>modelos</a:t>
            </a:r>
            <a:r>
              <a:rPr sz="1200" b="1" i="0" dirty="0">
                <a:solidFill>
                  <a:srgbClr val="F4D35E"/>
                </a:solidFill>
                <a:latin typeface="Aptos Display"/>
              </a:rPr>
              <a:t>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" y="438090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5D3C3"/>
                </a:solidFill>
                <a:latin typeface="Aptos Display"/>
              </a:rPr>
              <a:t>Los 3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modelos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usan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label_smoothing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=0.1. La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decisión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fue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aplicarlo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desde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baseline para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tener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una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comparación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justa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. La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hipótesis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original era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reservarlo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para v2,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pero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mantenerlo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todos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aísla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i="0" dirty="0" err="1">
                <a:solidFill>
                  <a:srgbClr val="B5D3C3"/>
                </a:solidFill>
                <a:latin typeface="Aptos Display"/>
              </a:rPr>
              <a:t>efecto</a:t>
            </a:r>
            <a:r>
              <a:rPr sz="1200" b="0" i="0" dirty="0">
                <a:solidFill>
                  <a:srgbClr val="B5D3C3"/>
                </a:solidFill>
                <a:latin typeface="Aptos Display"/>
              </a:rPr>
              <a:t> de class weights con mayor rigor.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5802"/>
            <a:ext cx="11274552" cy="1004957"/>
          </a:xfrm>
          <a:prstGeom prst="rect">
            <a:avLst/>
          </a:prstGeom>
          <a:solidFill>
            <a:srgbClr val="0B2B27"/>
          </a:solidFill>
          <a:ln w="9525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" y="514885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Decisión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metodológica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" y="54635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EFFCF5"/>
                </a:solidFill>
                <a:latin typeface="Aptos Display"/>
              </a:rPr>
              <a:t>NO se cambia la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arquitectura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entre v1 y v2. El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único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cambio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es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use_class_weights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=True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la loss.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Cualquier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mejora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métricas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se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atribuye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exclusivamente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al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balanceo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, no a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capacidad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adicional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del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modelo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. Esto es un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experimento</a:t>
            </a:r>
            <a:r>
              <a:rPr sz="1400" b="0" i="0" dirty="0">
                <a:solidFill>
                  <a:srgbClr val="EFFCF5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EFFCF5"/>
                </a:solidFill>
                <a:latin typeface="Aptos Display"/>
              </a:rPr>
              <a:t>controlado</a:t>
            </a:r>
            <a:r>
              <a:rPr sz="1050" b="0" i="0" dirty="0">
                <a:solidFill>
                  <a:srgbClr val="EFFCF5"/>
                </a:solidFill>
                <a:latin typeface="Aptos Display"/>
              </a:rPr>
              <a:t>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8D9162A-90DC-203A-CC0C-C9A95C7D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897" y="1884520"/>
            <a:ext cx="2101477" cy="1080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-4572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latin typeface="Aptos Display"/>
              </a:rPr>
              <a:t>10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.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Protocolo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de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entrenamiento</a:t>
            </a:r>
            <a:endParaRPr sz="4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7333" y="420624"/>
            <a:ext cx="56001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EAA95"/>
                </a:solidFill>
                <a:latin typeface="Aptos Display"/>
              </a:rPr>
              <a:t>Mismas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semillas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·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mismo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split ·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mismo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hardware →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comparación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justa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entre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los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3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modelos</a:t>
            </a:r>
            <a:endParaRPr sz="1150" b="0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155431"/>
              </p:ext>
            </p:extLst>
          </p:nvPr>
        </p:nvGraphicFramePr>
        <p:xfrm>
          <a:off x="457200" y="987552"/>
          <a:ext cx="11274551" cy="4261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21D4D4"/>
                          </a:solidFill>
                          <a:latin typeface="Aptos Display"/>
                        </a:rPr>
                        <a:t>Hiperparámetro</a:t>
                      </a:r>
                      <a:endParaRPr sz="2000" b="1" dirty="0">
                        <a:solidFill>
                          <a:srgbClr val="21D4D4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D4D4"/>
                          </a:solidFill>
                          <a:latin typeface="Aptos Display"/>
                        </a:rPr>
                        <a:t>Valor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D4D4"/>
                          </a:solidFill>
                          <a:latin typeface="Aptos Display"/>
                        </a:rPr>
                        <a:t>Justificación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Optimizer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AdamW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Estándar moderno; regularización implícita vía weight decay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Learning rate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0.001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Valor de arranque; CosineAnnealingLR decae a 0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LR Scheduler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CosineAnnealingLR</a:t>
                      </a:r>
                      <a:endParaRPr sz="16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Decaimiento suave; evita oscilaciones de SGD con momentum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Weight decay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1e-4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Regularización L2 implícita en AdamW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Label smoothing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α = 0.1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En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los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3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modelos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; reduce overconfidence (Szegedy et al. 2016)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Batch size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32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Trade-off memoria GPU T4 / ruido en gradientes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Max epochs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30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Límite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superior; early stopping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actúa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antes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en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todos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los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runs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Early stopping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patience=5, Δ=0.001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Detiene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cuando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val_acc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no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mejora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≥0.001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en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5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épocas</a:t>
                      </a:r>
                      <a:endParaRPr sz="16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Semilla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42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Fija splits,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init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de pesos y augmentation para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reproducibilidad</a:t>
                      </a:r>
                      <a:endParaRPr sz="16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F3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55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Hardware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5D3C3"/>
                          </a:solidFill>
                          <a:latin typeface="Aptos Display"/>
                        </a:rPr>
                        <a:t>NVIDIA T4 (Colab)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GPU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gratuita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de Google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Colab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; reproducible con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cuenta</a:t>
                      </a:r>
                      <a:r>
                        <a:rPr sz="16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estándar</a:t>
                      </a:r>
                      <a:endParaRPr sz="16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010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394960"/>
            <a:ext cx="11274552" cy="868680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94360" y="5449824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Tiempos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de </a:t>
            </a:r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entrenamiento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reales (GPU T4 · </a:t>
            </a:r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medidos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en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 </a:t>
            </a:r>
            <a:r>
              <a:rPr sz="1400" b="1" i="0" dirty="0" err="1">
                <a:solidFill>
                  <a:srgbClr val="21D4D4"/>
                </a:solidFill>
                <a:latin typeface="Aptos Display"/>
              </a:rPr>
              <a:t>history.json</a:t>
            </a:r>
            <a:r>
              <a:rPr sz="1400" b="1" i="0" dirty="0">
                <a:solidFill>
                  <a:srgbClr val="21D4D4"/>
                </a:solidFill>
                <a:latin typeface="Aptos Display"/>
              </a:rPr>
              <a:t>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0760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FCF5"/>
                </a:solidFill>
                <a:latin typeface="Aptos Display"/>
              </a:rPr>
              <a:t>~286 min (27 ep.)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760720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Attention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600760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FCF5"/>
                </a:solidFill>
                <a:latin typeface="Aptos Display"/>
              </a:rPr>
              <a:t>~181 min (17 ep.)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760720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EAA95"/>
                </a:solidFill>
                <a:latin typeface="Aptos Display"/>
              </a:rPr>
              <a:t>Attention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600760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FCF5"/>
                </a:solidFill>
                <a:latin typeface="Aptos Display"/>
              </a:rPr>
              <a:t>~270 min (25 ep.)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latin typeface="Aptos Display"/>
              </a:rPr>
              <a:t>11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.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Resultados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: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progresión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metodológica</a:t>
            </a:r>
            <a:endParaRPr sz="4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125255"/>
              </p:ext>
            </p:extLst>
          </p:nvPr>
        </p:nvGraphicFramePr>
        <p:xfrm>
          <a:off x="457200" y="987552"/>
          <a:ext cx="11274550" cy="461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2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21D4D4"/>
                          </a:solidFill>
                          <a:latin typeface="Aptos Display"/>
                        </a:rPr>
                        <a:t>Métrica</a:t>
                      </a:r>
                      <a:endParaRPr sz="2400" b="1" dirty="0">
                        <a:solidFill>
                          <a:srgbClr val="21D4D4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1D4D4"/>
                          </a:solidFill>
                          <a:latin typeface="Aptos Display"/>
                        </a:rPr>
                        <a:t>Baseline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1D4D4"/>
                          </a:solidFill>
                          <a:latin typeface="Aptos Display"/>
                        </a:rPr>
                        <a:t>Attention v1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1D4D4"/>
                          </a:solidFill>
                          <a:latin typeface="Aptos Display"/>
                        </a:rPr>
                        <a:t>Attention v2 ⭐</a:t>
                      </a:r>
                    </a:p>
                  </a:txBody>
                  <a:tcPr>
                    <a:solidFill>
                      <a:srgbClr val="08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val_acc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0.7419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0.7829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0.7653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B5D3C3"/>
                          </a:solidFill>
                          <a:latin typeface="Aptos Display"/>
                        </a:rPr>
                        <a:t>test_acc</a:t>
                      </a:r>
                      <a:endParaRPr sz="2000" b="0" dirty="0">
                        <a:solidFill>
                          <a:srgbClr val="B5D3C3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0.6322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0.6873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0.7036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Macro F1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0.509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0.599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0.625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Macro Precision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0.525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0.606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0.638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Macro Recall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0.536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0.618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0.662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AP medio cl. raras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0.456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0.573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0.664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Gap val-test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0.1097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0.0956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0.0617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ECE (calibración)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0.050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0.039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0.145 ⚠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Parámetros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422,635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714,987</a:t>
                      </a:r>
                    </a:p>
                  </a:txBody>
                  <a:tcPr>
                    <a:solidFill>
                      <a:srgbClr val="0F3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100C"/>
                          </a:solidFill>
                          <a:latin typeface="Aptos Display"/>
                        </a:rPr>
                        <a:t>714,987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Epochs (/ 30)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B5D3C3"/>
                          </a:solidFill>
                          <a:latin typeface="Aptos Display"/>
                        </a:rPr>
                        <a:t>27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B5D3C3"/>
                          </a:solidFill>
                          <a:latin typeface="Aptos Display"/>
                        </a:rPr>
                        <a:t>17</a:t>
                      </a:r>
                    </a:p>
                  </a:txBody>
                  <a:tcPr>
                    <a:solidFill>
                      <a:srgbClr val="001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100C"/>
                          </a:solidFill>
                          <a:latin typeface="Aptos Display"/>
                        </a:rPr>
                        <a:t>25</a:t>
                      </a:r>
                    </a:p>
                  </a:txBody>
                  <a:tcPr>
                    <a:solidFill>
                      <a:srgbClr val="21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715000"/>
            <a:ext cx="11274552" cy="777240"/>
          </a:xfrm>
          <a:prstGeom prst="rect">
            <a:avLst/>
          </a:prstGeom>
          <a:solidFill>
            <a:srgbClr val="0B2B27"/>
          </a:solidFill>
          <a:ln w="635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779008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5D3C3"/>
                </a:solidFill>
                <a:latin typeface="Aptos Display"/>
              </a:rPr>
              <a:t>Lectura clave: v2 no solo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mejora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test_acc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(+7.1 pp vs baseline). El gap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val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-test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bajó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0.110 → 0.062 (−44 %,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mejor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generalización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). AP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raras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mejoró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+21 pp. ECE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sube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v2 (trade-off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conocido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con class weights —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ver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slide 17). AP medio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raras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= AP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Frederickena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Rupornis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Chordeiles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Glaucidium,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Celeus</a:t>
            </a:r>
            <a:r>
              <a:rPr sz="9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254" y="189374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11b. Curvas de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entrenamiento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— Attention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254" y="1084387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Convergencia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progresiva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· early stopping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epoch 25 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711" y="2903356"/>
            <a:ext cx="11986063" cy="3588884"/>
          </a:xfrm>
          <a:prstGeom prst="roundRect">
            <a:avLst>
              <a:gd name="adj" fmla="val 1923"/>
            </a:avLst>
          </a:prstGeom>
          <a:solidFill>
            <a:srgbClr val="FAFAFA"/>
          </a:solidFill>
          <a:ln w="2540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rvas_entren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" y="3089984"/>
            <a:ext cx="11806768" cy="32156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9254" y="1426464"/>
            <a:ext cx="10866513" cy="1247076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599" y="1465294"/>
            <a:ext cx="1061982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21D4D4"/>
                </a:solidFill>
                <a:latin typeface="Aptos Display"/>
              </a:rPr>
              <a:t>Lecturas</a:t>
            </a:r>
            <a:r>
              <a:rPr sz="1200" b="1" dirty="0">
                <a:solidFill>
                  <a:srgbClr val="21D4D4"/>
                </a:solidFill>
                <a:latin typeface="Aptos Display"/>
              </a:rPr>
              <a:t> clave</a:t>
            </a:r>
          </a:p>
          <a:p>
            <a:pPr algn="l"/>
            <a:r>
              <a:rPr sz="4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1.  Loss train/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val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descienden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paralelo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→ no overfitting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severo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l"/>
            <a:r>
              <a:rPr sz="3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2. 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val_acc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mejor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epoch 15 → early stopping se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activa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ep. 25 (patience=5, no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mejoró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0.001).</a:t>
            </a:r>
          </a:p>
          <a:p>
            <a:pPr algn="l"/>
            <a:r>
              <a:rPr sz="3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3.  La curva de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pérdida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es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ruidosa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v1: class weights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amplifican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gradiente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raras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→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varianza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por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batch.</a:t>
            </a:r>
          </a:p>
          <a:p>
            <a:pPr algn="l"/>
            <a:r>
              <a:rPr sz="3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>
                <a:solidFill>
                  <a:srgbClr val="F4D35E"/>
                </a:solidFill>
                <a:latin typeface="Aptos Display"/>
              </a:rPr>
              <a:t>4.  Gap train/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val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loss (v2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usa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class weights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train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pero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no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val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) →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val_loss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parece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mayor,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pero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test_acc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es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el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F4D35E"/>
                </a:solidFill>
                <a:latin typeface="Aptos Display"/>
              </a:rPr>
              <a:t>más</a:t>
            </a:r>
            <a:r>
              <a:rPr sz="1200" b="0" dirty="0">
                <a:solidFill>
                  <a:srgbClr val="F4D35E"/>
                </a:solidFill>
                <a:latin typeface="Aptos Display"/>
              </a:rPr>
              <a:t> alto.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" y="36576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>
                <a:solidFill>
                  <a:srgbClr val="EFFCF5"/>
                </a:solidFill>
                <a:latin typeface="Daily Challenge DEMO" pitchFamily="50" charset="0"/>
              </a:rPr>
              <a:t>12. </a:t>
            </a:r>
            <a:r>
              <a:rPr sz="4800" b="1" i="0" dirty="0" err="1">
                <a:solidFill>
                  <a:srgbClr val="EFFCF5"/>
                </a:solidFill>
                <a:latin typeface="Daily Challenge DEMO" pitchFamily="50" charset="0"/>
              </a:rPr>
              <a:t>Análisis</a:t>
            </a:r>
            <a:r>
              <a:rPr sz="4800" b="1" i="0" dirty="0">
                <a:solidFill>
                  <a:srgbClr val="EFFCF5"/>
                </a:solidFill>
                <a:latin typeface="Daily Challenge DEMO" pitchFamily="50" charset="0"/>
              </a:rPr>
              <a:t> de </a:t>
            </a:r>
            <a:r>
              <a:rPr sz="4800" b="1" i="0" dirty="0" err="1">
                <a:solidFill>
                  <a:srgbClr val="EFFCF5"/>
                </a:solidFill>
                <a:latin typeface="Daily Challenge DEMO" pitchFamily="50" charset="0"/>
              </a:rPr>
              <a:t>errores</a:t>
            </a:r>
            <a:r>
              <a:rPr sz="4800" b="1" i="0" dirty="0">
                <a:solidFill>
                  <a:srgbClr val="EFFCF5"/>
                </a:solidFill>
                <a:latin typeface="Daily Challenge DEMO" pitchFamily="50" charset="0"/>
              </a:rPr>
              <a:t>: matrices de </a:t>
            </a:r>
            <a:r>
              <a:rPr sz="4800" b="1" i="0" dirty="0" err="1">
                <a:solidFill>
                  <a:srgbClr val="EFFCF5"/>
                </a:solidFill>
                <a:latin typeface="Daily Challenge DEMO" pitchFamily="50" charset="0"/>
              </a:rPr>
              <a:t>confusión</a:t>
            </a:r>
            <a:endParaRPr sz="48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460" y="1155496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EAA95"/>
                </a:solidFill>
                <a:latin typeface="Aptos Display"/>
              </a:rPr>
              <a:t>v2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fortalece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la diagonal ·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especialmente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clases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raras</a:t>
            </a:r>
            <a:endParaRPr sz="16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714" y="1783080"/>
            <a:ext cx="11886963" cy="3758184"/>
          </a:xfrm>
          <a:prstGeom prst="roundRect">
            <a:avLst>
              <a:gd name="adj" fmla="val 1250"/>
            </a:avLst>
          </a:prstGeom>
          <a:solidFill>
            <a:srgbClr val="FAFAFA"/>
          </a:solidFill>
          <a:ln w="2540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4" y="1883664"/>
            <a:ext cx="11775396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2336" y="5669280"/>
            <a:ext cx="11274552" cy="822960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5700547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200" b="0" dirty="0">
                <a:solidFill>
                  <a:srgbClr val="B5D3C3"/>
                </a:solidFill>
                <a:latin typeface="Aptos Display"/>
              </a:rPr>
              <a:t>·  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Diagonal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fuerte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v2 —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especialmente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Crypturellus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undulatus (F1: 0.264 → 0.526) y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Rupornis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magnirostris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(F1: 0.053 → 0.250).</a:t>
            </a:r>
          </a:p>
          <a:p>
            <a:pPr algn="just"/>
            <a:r>
              <a:rPr sz="1600" b="0" dirty="0">
                <a:solidFill>
                  <a:srgbClr val="B5D3C3"/>
                </a:solidFill>
                <a:latin typeface="Aptos Display"/>
              </a:rPr>
              <a:t>· 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Confusiones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residuales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son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taxonómicamente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razonables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: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Crypturellus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cinereus ↔ C. undulatus (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mismo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B5D3C3"/>
                </a:solidFill>
                <a:latin typeface="Aptos Display"/>
              </a:rPr>
              <a:t>género</a:t>
            </a:r>
            <a:r>
              <a:rPr sz="1600" b="0" dirty="0">
                <a:solidFill>
                  <a:srgbClr val="B5D3C3"/>
                </a:solidFill>
                <a:latin typeface="Aptos Display"/>
              </a:rPr>
              <a:t>, canto similar).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1635" y="227744"/>
            <a:ext cx="7291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FFCF5"/>
                </a:solidFill>
                <a:latin typeface="Aptos Display"/>
              </a:rPr>
              <a:t>13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. Trade-off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honesto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: class weights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mejoran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F1,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cuestan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385" y="1388255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EAA95"/>
                </a:solidFill>
                <a:latin typeface="Aptos Display"/>
              </a:rPr>
              <a:t>Los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rebalanceos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de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clase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tienen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un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costo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conocido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calibración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(Cao et al. 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747" y="1794560"/>
            <a:ext cx="2143433" cy="1181912"/>
          </a:xfrm>
          <a:prstGeom prst="rect">
            <a:avLst/>
          </a:prstGeom>
          <a:solidFill>
            <a:srgbClr val="0B2B27"/>
          </a:solidFill>
          <a:ln w="9525">
            <a:solidFill>
              <a:srgbClr val="7EA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191483" y="18585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AA95"/>
                </a:solidFill>
                <a:latin typeface="Aptos Display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91483" y="21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7EAA95"/>
                </a:solidFill>
                <a:latin typeface="Aptos Display"/>
              </a:rPr>
              <a:t>ECE = 0.050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91483" y="25856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AA95"/>
                </a:solidFill>
                <a:latin typeface="Aptos Display"/>
              </a:rPr>
              <a:t>calibración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81755" y="1770632"/>
            <a:ext cx="2143434" cy="1234440"/>
          </a:xfrm>
          <a:prstGeom prst="rect">
            <a:avLst/>
          </a:prstGeom>
          <a:solidFill>
            <a:srgbClr val="0B2B27"/>
          </a:solidFill>
          <a:ln w="9525">
            <a:solidFill>
              <a:srgbClr val="3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1698" y="1834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D17A"/>
                </a:solidFill>
                <a:latin typeface="Aptos Display"/>
              </a:rPr>
              <a:t>Attention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1698" y="211810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3D17A"/>
                </a:solidFill>
                <a:latin typeface="Aptos Display"/>
              </a:rPr>
              <a:t>ECE = 0.039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1698" y="2593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AA95"/>
                </a:solidFill>
                <a:latin typeface="Aptos Display"/>
              </a:rPr>
              <a:t>mejor calibración 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4144" y="1761488"/>
            <a:ext cx="2231923" cy="1234440"/>
          </a:xfrm>
          <a:prstGeom prst="rect">
            <a:avLst/>
          </a:prstGeom>
          <a:solidFill>
            <a:srgbClr val="0B2B27"/>
          </a:solidFill>
          <a:ln w="9525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8254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F1C"/>
                </a:solidFill>
                <a:latin typeface="Aptos Display"/>
              </a:rPr>
              <a:t>Attention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F1C"/>
                </a:solidFill>
                <a:latin typeface="Aptos Display"/>
              </a:rPr>
              <a:t>ECE = 0.145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AA95"/>
                </a:solidFill>
                <a:latin typeface="Aptos Display"/>
              </a:rPr>
              <a:t>mayor ECE ⚠ (class weights)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97" y="3177640"/>
            <a:ext cx="11572590" cy="3337560"/>
          </a:xfrm>
          <a:prstGeom prst="roundRect">
            <a:avLst>
              <a:gd name="adj" fmla="val 2173"/>
            </a:avLst>
          </a:prstGeom>
          <a:solidFill>
            <a:srgbClr val="FAFAFA"/>
          </a:solidFill>
          <a:ln w="2540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alib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23360"/>
            <a:ext cx="11344875" cy="322148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875021" y="189788"/>
            <a:ext cx="4162169" cy="2815284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5991" y="288136"/>
            <a:ext cx="40233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1D4D4"/>
                </a:solidFill>
                <a:latin typeface="Aptos Display"/>
              </a:rPr>
              <a:t>¿</a:t>
            </a:r>
            <a:r>
              <a:rPr sz="1300" b="1" dirty="0" err="1">
                <a:solidFill>
                  <a:srgbClr val="21D4D4"/>
                </a:solidFill>
                <a:latin typeface="Aptos Display"/>
              </a:rPr>
              <a:t>Qué</a:t>
            </a:r>
            <a:r>
              <a:rPr sz="1300" b="1" dirty="0">
                <a:solidFill>
                  <a:srgbClr val="21D4D4"/>
                </a:solidFill>
                <a:latin typeface="Aptos Display"/>
              </a:rPr>
              <a:t> es ECE?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Expected Calibration Error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mide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si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la confianza del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coincide con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su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accuracy real. ECE=0 es perfecto.</a:t>
            </a:r>
          </a:p>
          <a:p>
            <a:pPr algn="l"/>
            <a:r>
              <a:rPr sz="4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300" b="1" dirty="0">
                <a:solidFill>
                  <a:srgbClr val="FF9F1C"/>
                </a:solidFill>
                <a:latin typeface="Aptos Display"/>
              </a:rPr>
              <a:t>¿Por </a:t>
            </a:r>
            <a:r>
              <a:rPr sz="1300" b="1" dirty="0" err="1">
                <a:solidFill>
                  <a:srgbClr val="FF9F1C"/>
                </a:solidFill>
                <a:latin typeface="Aptos Display"/>
              </a:rPr>
              <a:t>qué</a:t>
            </a:r>
            <a:r>
              <a:rPr sz="1300" b="1" dirty="0">
                <a:solidFill>
                  <a:srgbClr val="FF9F1C"/>
                </a:solidFill>
                <a:latin typeface="Aptos Display"/>
              </a:rPr>
              <a:t> v2 </a:t>
            </a:r>
            <a:r>
              <a:rPr sz="1300" b="1" dirty="0" err="1">
                <a:solidFill>
                  <a:srgbClr val="FF9F1C"/>
                </a:solidFill>
                <a:latin typeface="Aptos Display"/>
              </a:rPr>
              <a:t>tiene</a:t>
            </a:r>
            <a:r>
              <a:rPr sz="1300" b="1" dirty="0">
                <a:solidFill>
                  <a:srgbClr val="FF9F1C"/>
                </a:solidFill>
                <a:latin typeface="Aptos Display"/>
              </a:rPr>
              <a:t> ECE mayor?</a:t>
            </a:r>
          </a:p>
          <a:p>
            <a:pPr algn="l"/>
            <a:r>
              <a:rPr sz="1200" b="0" dirty="0">
                <a:solidFill>
                  <a:srgbClr val="B5D3C3"/>
                </a:solidFill>
                <a:latin typeface="Aptos Display"/>
              </a:rPr>
              <a:t>Los class weights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fuerzan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al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a ser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confiado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minoritarias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para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compensar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su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escasez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. Esto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mejora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F1 macro (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cada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pesa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igual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),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pero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deteriora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ECE global (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dominado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por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mayoritarias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).</a:t>
            </a:r>
          </a:p>
          <a:p>
            <a:pPr algn="l"/>
            <a:r>
              <a:rPr sz="4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300" b="1" dirty="0" err="1">
                <a:solidFill>
                  <a:srgbClr val="F4D35E"/>
                </a:solidFill>
                <a:latin typeface="Aptos Display"/>
              </a:rPr>
              <a:t>Decisión</a:t>
            </a:r>
            <a:r>
              <a:rPr sz="1300" b="1" dirty="0">
                <a:solidFill>
                  <a:srgbClr val="F4D35E"/>
                </a:solidFill>
                <a:latin typeface="Aptos Display"/>
              </a:rPr>
              <a:t> </a:t>
            </a:r>
            <a:r>
              <a:rPr sz="1300" b="1" dirty="0" err="1">
                <a:solidFill>
                  <a:srgbClr val="F4D35E"/>
                </a:solidFill>
                <a:latin typeface="Aptos Display"/>
              </a:rPr>
              <a:t>metodológica</a:t>
            </a:r>
            <a:r>
              <a:rPr sz="1300" b="1" dirty="0">
                <a:solidFill>
                  <a:srgbClr val="F4D35E"/>
                </a:solidFill>
                <a:latin typeface="Aptos Display"/>
              </a:rPr>
              <a:t>:</a:t>
            </a:r>
          </a:p>
          <a:p>
            <a:pPr algn="l"/>
            <a:r>
              <a:rPr sz="1200" b="0" dirty="0" err="1">
                <a:solidFill>
                  <a:srgbClr val="B5D3C3"/>
                </a:solidFill>
                <a:latin typeface="Aptos Display"/>
              </a:rPr>
              <a:t>Priorizar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F1 macro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porque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monitoreo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bioacústico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interesa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detectar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especies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raras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tener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confianza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calibrada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 las </a:t>
            </a:r>
            <a:r>
              <a:rPr sz="1200" b="0" dirty="0" err="1">
                <a:solidFill>
                  <a:srgbClr val="B5D3C3"/>
                </a:solidFill>
                <a:latin typeface="Aptos Display"/>
              </a:rPr>
              <a:t>dominantes</a:t>
            </a:r>
            <a:r>
              <a:rPr sz="12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l"/>
            <a:r>
              <a:rPr sz="4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200" b="0" dirty="0" err="1">
                <a:solidFill>
                  <a:srgbClr val="7EAA95"/>
                </a:solidFill>
                <a:latin typeface="Aptos Display"/>
              </a:rPr>
              <a:t>Mitigación</a:t>
            </a:r>
            <a:r>
              <a:rPr sz="1200" b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0" dirty="0" err="1">
                <a:solidFill>
                  <a:srgbClr val="7EAA95"/>
                </a:solidFill>
                <a:latin typeface="Aptos Display"/>
              </a:rPr>
              <a:t>futura</a:t>
            </a:r>
            <a:r>
              <a:rPr sz="1200" b="0" dirty="0">
                <a:solidFill>
                  <a:srgbClr val="7EAA95"/>
                </a:solidFill>
                <a:latin typeface="Aptos Display"/>
              </a:rPr>
              <a:t>: temperature scaling post-hoc </a:t>
            </a:r>
            <a:r>
              <a:rPr sz="1200" b="0" dirty="0" err="1">
                <a:solidFill>
                  <a:srgbClr val="7EAA95"/>
                </a:solidFill>
                <a:latin typeface="Aptos Display"/>
              </a:rPr>
              <a:t>sobre</a:t>
            </a:r>
            <a:r>
              <a:rPr sz="1200" b="0" dirty="0">
                <a:solidFill>
                  <a:srgbClr val="7EAA95"/>
                </a:solidFill>
                <a:latin typeface="Aptos Display"/>
              </a:rPr>
              <a:t> v2.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7442" y="403952"/>
            <a:ext cx="38913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FFCF5"/>
                </a:solidFill>
                <a:latin typeface="Aptos Display"/>
              </a:rPr>
              <a:t>14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. Espacio de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representaciones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aprendido</a:t>
            </a:r>
            <a:endParaRPr sz="36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852749" y="2304288"/>
            <a:ext cx="3055451" cy="1097280"/>
          </a:xfrm>
          <a:prstGeom prst="rect">
            <a:avLst/>
          </a:prstGeom>
          <a:solidFill>
            <a:srgbClr val="0B2B27"/>
          </a:solidFill>
          <a:ln w="762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14083" y="2368296"/>
            <a:ext cx="29026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5C7A"/>
                </a:solidFill>
                <a:latin typeface="Aptos Display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4083" y="2642616"/>
            <a:ext cx="29026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5C7A"/>
                </a:solidFill>
                <a:latin typeface="Aptos Display"/>
              </a:rPr>
              <a:t>Silhouette = +0.0084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4083" y="3072384"/>
            <a:ext cx="29026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AA95"/>
                </a:solidFill>
                <a:latin typeface="Aptos Display"/>
              </a:rPr>
              <a:t>clases mezcladas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2749" y="3642360"/>
            <a:ext cx="3055451" cy="1097280"/>
          </a:xfrm>
          <a:prstGeom prst="rect">
            <a:avLst/>
          </a:prstGeom>
          <a:solidFill>
            <a:srgbClr val="0B2B27"/>
          </a:solidFill>
          <a:ln w="7620">
            <a:solidFill>
              <a:srgbClr val="3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4083" y="3706368"/>
            <a:ext cx="29026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D17A"/>
                </a:solidFill>
                <a:latin typeface="Aptos Display"/>
              </a:rPr>
              <a:t>Attention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4083" y="3980688"/>
            <a:ext cx="29026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3D17A"/>
                </a:solidFill>
                <a:latin typeface="Aptos Display"/>
              </a:rPr>
              <a:t>Silhouette = +0.1580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4083" y="4410456"/>
            <a:ext cx="29026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AA95"/>
                </a:solidFill>
                <a:latin typeface="Aptos Display"/>
              </a:rPr>
              <a:t>×19 mejora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2749" y="5020056"/>
            <a:ext cx="3055451" cy="1097280"/>
          </a:xfrm>
          <a:prstGeom prst="rect">
            <a:avLst/>
          </a:prstGeom>
          <a:solidFill>
            <a:srgbClr val="0B2B27"/>
          </a:solidFill>
          <a:ln w="762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4083" y="5084064"/>
            <a:ext cx="29026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D4D4"/>
                </a:solidFill>
                <a:latin typeface="Aptos Display"/>
              </a:rPr>
              <a:t>Attention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4083" y="5358384"/>
            <a:ext cx="29026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D4D4"/>
                </a:solidFill>
                <a:latin typeface="Aptos Display"/>
              </a:rPr>
              <a:t>Silhouette = +0.1686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4083" y="5788152"/>
            <a:ext cx="29026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AA95"/>
                </a:solidFill>
                <a:latin typeface="Aptos Display"/>
              </a:rPr>
              <a:t>×20 mejora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699" y="320040"/>
            <a:ext cx="8632611" cy="5559552"/>
          </a:xfrm>
          <a:prstGeom prst="roundRect">
            <a:avLst>
              <a:gd name="adj" fmla="val 1369"/>
            </a:avLst>
          </a:prstGeom>
          <a:solidFill>
            <a:srgbClr val="FAFAFA"/>
          </a:solidFill>
          <a:ln w="2540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visualizacion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8" y="457200"/>
            <a:ext cx="8466662" cy="53166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0138" y="5975301"/>
            <a:ext cx="8114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7EAA95"/>
                </a:solidFill>
                <a:latin typeface="Aptos Display"/>
              </a:rPr>
              <a:t>Nota: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el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silhouette score se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calcula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sobre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el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espacio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original de 256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dimensiones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(no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sobre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t-SNE). La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visualización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usa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t-SNE (perplexity=30). Trustworthiness t-SNE ≈ 0.996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los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3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modelos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→ la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proyección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2D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preserva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bien la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estructura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del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espacio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28" y="836056"/>
            <a:ext cx="3475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FFCF5"/>
                </a:solidFill>
                <a:latin typeface="Aptos Display"/>
              </a:rPr>
              <a:t>15.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Interpretabilidad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: Grad-CAM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sobre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Attention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63603"/>
            <a:ext cx="2873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EAA95"/>
                </a:solidFill>
                <a:latin typeface="Aptos Display"/>
              </a:rPr>
              <a:t>El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modelo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focaliza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regiones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tiempo-frecuencia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con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vocalización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, no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silencios</a:t>
            </a:r>
            <a:endParaRPr sz="16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58" y="166878"/>
            <a:ext cx="8394193" cy="5246370"/>
          </a:xfrm>
          <a:prstGeom prst="roundRect">
            <a:avLst>
              <a:gd name="adj" fmla="val 1190"/>
            </a:avLst>
          </a:prstGeom>
          <a:solidFill>
            <a:srgbClr val="FAFAFA"/>
          </a:solidFill>
          <a:ln w="1905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rrectas_Crypturellus_cinere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9186"/>
            <a:ext cx="8257032" cy="50780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349240"/>
            <a:ext cx="11274552" cy="1005840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10972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D3C3"/>
                </a:solidFill>
                <a:latin typeface="Aptos Display"/>
              </a:rPr>
              <a:t>Grad-CAM proyecta los gradientes del último mapa de activación sobre el espectrograma de entrada. Las regiones cálidas son las que más contribuyeron a la predicción correcta.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5D3C3"/>
                </a:solidFill>
                <a:latin typeface="Aptos Display"/>
              </a:rPr>
              <a:t>Hallazgo cuantitativo: entropía media de los mapas CAM bajó de 0.952 (baseline) → 0.841 (v2). Entropía más baja = atención más focalizada. Centroide de frecuencia subió de 65.9 → 76.7 bins Mel: v2 mira más arriba en el espectro.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0E4E-7C2B-39CB-96DD-47AADAEB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>
            <a:extLst>
              <a:ext uri="{FF2B5EF4-FFF2-40B4-BE49-F238E27FC236}">
                <a16:creationId xmlns:a16="http://schemas.microsoft.com/office/drawing/2014/main" id="{0C79275C-E706-69A5-8424-49E9D1C4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B9454B-DC8F-D91F-3EDB-463B6009FCAA}"/>
              </a:ext>
            </a:extLst>
          </p:cNvPr>
          <p:cNvSpPr txBox="1"/>
          <p:nvPr/>
        </p:nvSpPr>
        <p:spPr>
          <a:xfrm>
            <a:off x="457200" y="164592"/>
            <a:ext cx="112745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EFFCF5"/>
                </a:solidFill>
                <a:latin typeface="Aptos Display"/>
              </a:rPr>
              <a:t>15</a:t>
            </a:r>
            <a:r>
              <a:rPr sz="4000" b="1" i="0" dirty="0">
                <a:solidFill>
                  <a:srgbClr val="EFFCF5"/>
                </a:solidFill>
                <a:latin typeface="Daily Challenge DEMO" pitchFamily="50" charset="0"/>
              </a:rPr>
              <a:t>. </a:t>
            </a:r>
            <a:r>
              <a:rPr sz="4000" b="1" i="0" dirty="0" err="1">
                <a:solidFill>
                  <a:srgbClr val="EFFCF5"/>
                </a:solidFill>
                <a:latin typeface="Daily Challenge DEMO" pitchFamily="50" charset="0"/>
              </a:rPr>
              <a:t>Interpretabilidad</a:t>
            </a:r>
            <a:r>
              <a:rPr sz="4000" b="1" i="0" dirty="0">
                <a:solidFill>
                  <a:srgbClr val="EFFCF5"/>
                </a:solidFill>
                <a:latin typeface="Daily Challenge DEMO" pitchFamily="50" charset="0"/>
              </a:rPr>
              <a:t>: Grad-CAM </a:t>
            </a:r>
            <a:r>
              <a:rPr sz="4000" b="1" i="0" dirty="0" err="1">
                <a:solidFill>
                  <a:srgbClr val="EFFCF5"/>
                </a:solidFill>
                <a:latin typeface="Daily Challenge DEMO" pitchFamily="50" charset="0"/>
              </a:rPr>
              <a:t>sobre</a:t>
            </a:r>
            <a:r>
              <a:rPr sz="4000" b="1" i="0" dirty="0">
                <a:solidFill>
                  <a:srgbClr val="EFFCF5"/>
                </a:solidFill>
                <a:latin typeface="Daily Challenge DEMO" pitchFamily="50" charset="0"/>
              </a:rPr>
              <a:t> Attention v2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BBFA8-4883-1302-5950-C5E02BBC29D8}"/>
              </a:ext>
            </a:extLst>
          </p:cNvPr>
          <p:cNvSpPr txBox="1"/>
          <p:nvPr/>
        </p:nvSpPr>
        <p:spPr>
          <a:xfrm>
            <a:off x="594360" y="791697"/>
            <a:ext cx="11274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7EAA95"/>
                </a:solidFill>
                <a:latin typeface="Aptos Display"/>
              </a:rPr>
              <a:t>El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modelo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focaliza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regiones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tiempo-frecuencia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con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vocalización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, no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en</a:t>
            </a:r>
            <a:r>
              <a:rPr sz="12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200" b="1" i="0" dirty="0" err="1">
                <a:solidFill>
                  <a:srgbClr val="7EAA95"/>
                </a:solidFill>
                <a:latin typeface="Aptos Display"/>
              </a:rPr>
              <a:t>silencios</a:t>
            </a:r>
            <a:endParaRPr sz="12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4B1D4-F8A6-3225-CE47-FFE8077C7BF9}"/>
              </a:ext>
            </a:extLst>
          </p:cNvPr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65779-DBCC-966B-3190-0BB0AFE9410A}"/>
              </a:ext>
            </a:extLst>
          </p:cNvPr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19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E447BF-3268-D27B-D2F5-78E74E7CD745}"/>
              </a:ext>
            </a:extLst>
          </p:cNvPr>
          <p:cNvSpPr/>
          <p:nvPr/>
        </p:nvSpPr>
        <p:spPr>
          <a:xfrm>
            <a:off x="242258" y="1164884"/>
            <a:ext cx="11822614" cy="4184356"/>
          </a:xfrm>
          <a:prstGeom prst="roundRect">
            <a:avLst>
              <a:gd name="adj" fmla="val 1190"/>
            </a:avLst>
          </a:prstGeom>
          <a:solidFill>
            <a:srgbClr val="FAFAFA"/>
          </a:solidFill>
          <a:ln w="1905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0" name="Picture 9" descr="analisis_cuantitativo.png">
            <a:extLst>
              <a:ext uri="{FF2B5EF4-FFF2-40B4-BE49-F238E27FC236}">
                <a16:creationId xmlns:a16="http://schemas.microsoft.com/office/drawing/2014/main" id="{6705A0F7-8853-D81F-D568-7FEDFAF97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20" y="1251576"/>
            <a:ext cx="11501184" cy="40519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5476DC-6B58-C125-AB18-755DA901E35D}"/>
              </a:ext>
            </a:extLst>
          </p:cNvPr>
          <p:cNvSpPr/>
          <p:nvPr/>
        </p:nvSpPr>
        <p:spPr>
          <a:xfrm>
            <a:off x="457200" y="5483744"/>
            <a:ext cx="11274552" cy="1005840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F8993-85B1-0E97-B8A2-AF81C4950813}"/>
              </a:ext>
            </a:extLst>
          </p:cNvPr>
          <p:cNvSpPr txBox="1"/>
          <p:nvPr/>
        </p:nvSpPr>
        <p:spPr>
          <a:xfrm>
            <a:off x="516636" y="5467241"/>
            <a:ext cx="109728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dirty="0">
                <a:solidFill>
                  <a:srgbClr val="B5D3C3"/>
                </a:solidFill>
                <a:latin typeface="Aptos Display"/>
              </a:rPr>
              <a:t>Grad-CAM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proyecta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gradientes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del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último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mapa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activación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sobre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espectrograma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entrada. Las regiones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cálidas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son las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contribuyeron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a la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predicción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correcta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  <a:p>
            <a:pPr algn="just">
              <a:spcBef>
                <a:spcPts val="300"/>
              </a:spcBef>
            </a:pPr>
            <a:r>
              <a:rPr sz="1400" b="0" dirty="0" err="1">
                <a:solidFill>
                  <a:srgbClr val="B5D3C3"/>
                </a:solidFill>
                <a:latin typeface="Aptos Display"/>
              </a:rPr>
              <a:t>Hallazgo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cuantitativo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: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entropía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media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mapas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CAM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bajó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0.952 (baseline) → 0.841 (v2).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Entropía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baja =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atención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focalizada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Centroide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frecuencia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subió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de 65.9 → 76.7 bins Mel: v2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mira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arriba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dirty="0" err="1">
                <a:solidFill>
                  <a:srgbClr val="B5D3C3"/>
                </a:solidFill>
                <a:latin typeface="Aptos Display"/>
              </a:rPr>
              <a:t>espectro</a:t>
            </a:r>
            <a:r>
              <a:rPr sz="1400" b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639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u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" y="251549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EFFCF5"/>
                </a:solidFill>
                <a:latin typeface="Aptos Display"/>
              </a:rPr>
              <a:t>16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.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Prueba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en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campo: 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6 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audios </a:t>
            </a:r>
            <a:r>
              <a:rPr sz="3600" b="1" i="0" dirty="0" err="1">
                <a:solidFill>
                  <a:srgbClr val="EFFCF5"/>
                </a:solidFill>
                <a:latin typeface="Daily Challenge DEMO" pitchFamily="50" charset="0"/>
              </a:rPr>
              <a:t>externos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 del Amazonas 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(</a:t>
            </a:r>
            <a:r>
              <a:rPr sz="3600" b="1" i="0" dirty="0">
                <a:solidFill>
                  <a:srgbClr val="EFFCF5"/>
                </a:solidFill>
                <a:latin typeface="Daily Challenge DEMO" pitchFamily="50" charset="0"/>
              </a:rPr>
              <a:t>Puerto Nariño</a:t>
            </a:r>
            <a:r>
              <a:rPr sz="3600" b="1" i="0" dirty="0">
                <a:solidFill>
                  <a:srgbClr val="EFFCF5"/>
                </a:solidFill>
                <a:latin typeface="Aptos Display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477" y="109728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EAA95"/>
                </a:solidFill>
                <a:latin typeface="Aptos Display"/>
              </a:rPr>
              <a:t>Sin ground truth —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caracteriza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comportamiento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bajo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cambio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de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distribución</a:t>
            </a:r>
            <a:endParaRPr sz="1150" b="0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32714"/>
            <a:ext cx="4554638" cy="5120640"/>
          </a:xfrm>
          <a:prstGeom prst="roundRect">
            <a:avLst>
              <a:gd name="adj" fmla="val 892"/>
            </a:avLst>
          </a:prstGeom>
          <a:solidFill>
            <a:srgbClr val="FAFAFA"/>
          </a:solidFill>
          <a:ln w="2540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stribuciones_por_a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37" y="1481328"/>
            <a:ext cx="4112963" cy="50109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17421" y="1066260"/>
            <a:ext cx="3410712" cy="4012711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32675" y="1097280"/>
            <a:ext cx="6380205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21D4D4"/>
                </a:solidFill>
                <a:latin typeface="Aptos Display"/>
              </a:rPr>
              <a:t>Métricas</a:t>
            </a:r>
            <a:r>
              <a:rPr sz="2000" b="1" dirty="0">
                <a:solidFill>
                  <a:srgbClr val="21D4D4"/>
                </a:solidFill>
                <a:latin typeface="Aptos Display"/>
              </a:rPr>
              <a:t> de campo</a:t>
            </a:r>
          </a:p>
          <a:p>
            <a:pPr algn="ctr"/>
            <a:r>
              <a:rPr sz="7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2000" b="0" dirty="0">
                <a:solidFill>
                  <a:srgbClr val="7EAA95"/>
                </a:solidFill>
                <a:latin typeface="Aptos Display"/>
              </a:rPr>
              <a:t>Confianza media</a:t>
            </a:r>
          </a:p>
          <a:p>
            <a:pPr algn="ctr"/>
            <a:r>
              <a:rPr sz="2000" b="0" dirty="0">
                <a:solidFill>
                  <a:srgbClr val="B5D3C3"/>
                </a:solidFill>
                <a:latin typeface="Aptos Display"/>
              </a:rPr>
              <a:t>Baseline:  0.40</a:t>
            </a:r>
          </a:p>
          <a:p>
            <a:pPr algn="ctr"/>
            <a:r>
              <a:rPr sz="2000" b="0" dirty="0">
                <a:solidFill>
                  <a:srgbClr val="FF9F1C"/>
                </a:solidFill>
                <a:latin typeface="Aptos Display"/>
              </a:rPr>
              <a:t>Att. v1:   0.59  (</a:t>
            </a:r>
            <a:r>
              <a:rPr sz="2000" b="0" dirty="0" err="1">
                <a:solidFill>
                  <a:srgbClr val="FF9F1C"/>
                </a:solidFill>
                <a:latin typeface="Aptos Display"/>
              </a:rPr>
              <a:t>más</a:t>
            </a:r>
            <a:r>
              <a:rPr sz="2000" b="0" dirty="0">
                <a:solidFill>
                  <a:srgbClr val="FF9F1C"/>
                </a:solidFill>
                <a:latin typeface="Aptos Display"/>
              </a:rPr>
              <a:t> </a:t>
            </a:r>
            <a:r>
              <a:rPr sz="2000" b="0" dirty="0" err="1">
                <a:solidFill>
                  <a:srgbClr val="FF9F1C"/>
                </a:solidFill>
                <a:latin typeface="Aptos Display"/>
              </a:rPr>
              <a:t>alta</a:t>
            </a:r>
            <a:r>
              <a:rPr sz="2000" b="0" dirty="0">
                <a:solidFill>
                  <a:srgbClr val="FF9F1C"/>
                </a:solidFill>
                <a:latin typeface="Aptos Display"/>
              </a:rPr>
              <a:t>)</a:t>
            </a:r>
          </a:p>
          <a:p>
            <a:pPr algn="ctr"/>
            <a:r>
              <a:rPr sz="2000" b="0" dirty="0">
                <a:solidFill>
                  <a:srgbClr val="21D4D4"/>
                </a:solidFill>
                <a:latin typeface="Aptos Display"/>
              </a:rPr>
              <a:t>Att. v2:   0.42  (</a:t>
            </a:r>
            <a:r>
              <a:rPr sz="2000" b="0" dirty="0" err="1">
                <a:solidFill>
                  <a:srgbClr val="21D4D4"/>
                </a:solidFill>
                <a:latin typeface="Aptos Display"/>
              </a:rPr>
              <a:t>más</a:t>
            </a:r>
            <a:r>
              <a:rPr sz="2000" b="0" dirty="0">
                <a:solidFill>
                  <a:srgbClr val="21D4D4"/>
                </a:solidFill>
                <a:latin typeface="Aptos Display"/>
              </a:rPr>
              <a:t> baja ⭐)</a:t>
            </a:r>
          </a:p>
          <a:p>
            <a:pPr algn="ctr"/>
            <a:r>
              <a:rPr sz="7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2000" b="0" dirty="0">
                <a:solidFill>
                  <a:srgbClr val="7EAA95"/>
                </a:solidFill>
                <a:latin typeface="Aptos Display"/>
              </a:rPr>
              <a:t>% </a:t>
            </a:r>
            <a:r>
              <a:rPr sz="2000" b="0" dirty="0" err="1">
                <a:solidFill>
                  <a:srgbClr val="7EAA95"/>
                </a:solidFill>
                <a:latin typeface="Aptos Display"/>
              </a:rPr>
              <a:t>no_identificado</a:t>
            </a:r>
            <a:r>
              <a:rPr sz="2000" b="0" dirty="0">
                <a:solidFill>
                  <a:srgbClr val="7EAA95"/>
                </a:solidFill>
                <a:latin typeface="Aptos Display"/>
              </a:rPr>
              <a:t> (θ=0.6)</a:t>
            </a:r>
          </a:p>
          <a:p>
            <a:pPr algn="ctr"/>
            <a:r>
              <a:rPr sz="2000" b="0" dirty="0">
                <a:solidFill>
                  <a:srgbClr val="B5D3C3"/>
                </a:solidFill>
                <a:latin typeface="Aptos Display"/>
              </a:rPr>
              <a:t>Baseline:  90.2 %</a:t>
            </a:r>
          </a:p>
          <a:p>
            <a:pPr algn="ctr"/>
            <a:r>
              <a:rPr sz="2000" b="0" dirty="0">
                <a:solidFill>
                  <a:srgbClr val="FF9F1C"/>
                </a:solidFill>
                <a:latin typeface="Aptos Display"/>
              </a:rPr>
              <a:t>Att. v1:   42.0 %</a:t>
            </a:r>
          </a:p>
          <a:p>
            <a:pPr algn="ctr"/>
            <a:r>
              <a:rPr sz="2000" b="0" dirty="0">
                <a:solidFill>
                  <a:srgbClr val="21D4D4"/>
                </a:solidFill>
                <a:latin typeface="Aptos Display"/>
              </a:rPr>
              <a:t>Att. v2:   </a:t>
            </a:r>
            <a:r>
              <a:rPr sz="2000" b="0" dirty="0" err="1">
                <a:solidFill>
                  <a:srgbClr val="21D4D4"/>
                </a:solidFill>
                <a:latin typeface="Aptos Display"/>
              </a:rPr>
              <a:t>ver</a:t>
            </a:r>
            <a:r>
              <a:rPr sz="2000" b="0" dirty="0">
                <a:solidFill>
                  <a:srgbClr val="21D4D4"/>
                </a:solidFill>
                <a:latin typeface="Aptos Display"/>
              </a:rPr>
              <a:t> hist.</a:t>
            </a:r>
          </a:p>
          <a:p>
            <a:pPr algn="ctr"/>
            <a:r>
              <a:rPr sz="700" b="0" dirty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ctr"/>
            <a:r>
              <a:rPr sz="2000" b="0" dirty="0" err="1">
                <a:solidFill>
                  <a:srgbClr val="7EAA95"/>
                </a:solidFill>
                <a:latin typeface="Aptos Display"/>
              </a:rPr>
              <a:t>Acuerdo</a:t>
            </a:r>
            <a:r>
              <a:rPr sz="2000" b="0" dirty="0">
                <a:solidFill>
                  <a:srgbClr val="7EAA95"/>
                </a:solidFill>
                <a:latin typeface="Aptos Display"/>
              </a:rPr>
              <a:t> B↔v1 (clip a clip)</a:t>
            </a:r>
          </a:p>
          <a:p>
            <a:pPr algn="ctr"/>
            <a:r>
              <a:rPr sz="2000" b="0" dirty="0">
                <a:solidFill>
                  <a:srgbClr val="B5D3C3"/>
                </a:solidFill>
                <a:latin typeface="Aptos Display"/>
              </a:rPr>
              <a:t>37.9 %  (37.5 % </a:t>
            </a:r>
            <a:r>
              <a:rPr sz="2000" b="0" dirty="0" err="1">
                <a:solidFill>
                  <a:srgbClr val="B5D3C3"/>
                </a:solidFill>
                <a:latin typeface="Aptos Display"/>
              </a:rPr>
              <a:t>no_ident</a:t>
            </a:r>
            <a:r>
              <a:rPr sz="2000" b="0" dirty="0">
                <a:solidFill>
                  <a:srgbClr val="B5D3C3"/>
                </a:solidFill>
                <a:latin typeface="Aptos Display"/>
              </a:rPr>
              <a:t>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2442" y="5242778"/>
            <a:ext cx="5415905" cy="1350046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5879" y="5297642"/>
            <a:ext cx="52670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600" dirty="0">
                <a:solidFill>
                  <a:srgbClr val="B5D3C3"/>
                </a:solidFill>
                <a:latin typeface="Aptos Display"/>
              </a:rPr>
              <a:t>Sin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etiquetas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expertos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, no se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puede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calcular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accuracy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campo. La confianza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baja de v2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audios OOD es DESEABLE: label smoothing + class weights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reducen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overconfidence,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exactamente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objetivo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diseño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para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despliegue</a:t>
            </a:r>
            <a:r>
              <a:rPr sz="16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600" b="0" i="0" dirty="0" err="1">
                <a:solidFill>
                  <a:srgbClr val="B5D3C3"/>
                </a:solidFill>
                <a:latin typeface="Aptos Display"/>
              </a:rPr>
              <a:t>seguro</a:t>
            </a:r>
            <a:r>
              <a:rPr sz="9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" descr="jungle_bg.png">
            <a:extLst>
              <a:ext uri="{FF2B5EF4-FFF2-40B4-BE49-F238E27FC236}">
                <a16:creationId xmlns:a16="http://schemas.microsoft.com/office/drawing/2014/main" id="{E47650B0-A035-6159-B705-4237FCE8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8156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505" y="411636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EFFCF5"/>
                </a:solidFill>
                <a:latin typeface="Aptos Display"/>
              </a:rPr>
              <a:t>17. </a:t>
            </a:r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Limitaciones</a:t>
            </a:r>
            <a:r>
              <a:rPr sz="5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lang="es-CO" sz="5400" b="1" i="0" dirty="0">
                <a:solidFill>
                  <a:srgbClr val="EFFCF5"/>
                </a:solidFill>
                <a:latin typeface="Daily Challenge DEMO" pitchFamily="50" charset="0"/>
              </a:rPr>
              <a:t>del proyecto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081" y="1258465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7EAA95"/>
                </a:solidFill>
                <a:latin typeface="Aptos Display"/>
              </a:rPr>
              <a:t>Una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evaluación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científica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rigorosa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incluye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sus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propias</a:t>
            </a:r>
            <a:r>
              <a:rPr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b="1" i="0" dirty="0" err="1">
                <a:solidFill>
                  <a:srgbClr val="7EAA95"/>
                </a:solidFill>
                <a:latin typeface="Aptos Display"/>
              </a:rPr>
              <a:t>restricciones</a:t>
            </a:r>
            <a:endParaRPr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929" y="2379754"/>
            <a:ext cx="3657600" cy="2027654"/>
          </a:xfrm>
          <a:prstGeom prst="rect">
            <a:avLst/>
          </a:prstGeom>
          <a:solidFill>
            <a:srgbClr val="0B2B27"/>
          </a:solidFill>
          <a:ln w="63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2464681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9F1C"/>
                </a:solidFill>
                <a:latin typeface="Aptos Display"/>
              </a:rPr>
              <a:t>Desbalance</a:t>
            </a:r>
            <a:r>
              <a:rPr sz="1600" b="1" i="0" dirty="0">
                <a:solidFill>
                  <a:srgbClr val="FF9F1C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FF9F1C"/>
                </a:solidFill>
                <a:latin typeface="Aptos Display"/>
              </a:rPr>
              <a:t>parcialmente</a:t>
            </a:r>
            <a:r>
              <a:rPr sz="1600" b="1" i="0" dirty="0">
                <a:solidFill>
                  <a:srgbClr val="FF9F1C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FF9F1C"/>
                </a:solidFill>
                <a:latin typeface="Aptos Display"/>
              </a:rPr>
              <a:t>resuelto</a:t>
            </a:r>
            <a:endParaRPr sz="1600" b="1" i="0" dirty="0">
              <a:solidFill>
                <a:srgbClr val="FF9F1C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801" y="2888047"/>
            <a:ext cx="3429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5D3C3"/>
                </a:solidFill>
                <a:latin typeface="Aptos Display"/>
              </a:rPr>
              <a:t>Los class weights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reducen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gap de F1 entre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pero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Celeus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grammicus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(F1=0.19) y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Rupornis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magnirostris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(F1=0.25)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siguen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por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debajo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0.5. El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desbalance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train (12:1 Trogon vs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Chordeiles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supera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lo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pesos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pueden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compensar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sin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más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datos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381142"/>
            <a:ext cx="3657600" cy="2026265"/>
          </a:xfrm>
          <a:prstGeom prst="rect">
            <a:avLst/>
          </a:prstGeom>
          <a:solidFill>
            <a:srgbClr val="0B2B27"/>
          </a:solidFill>
          <a:ln w="63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6" y="2464681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9F1C"/>
                </a:solidFill>
                <a:latin typeface="Aptos Display"/>
              </a:rPr>
              <a:t>Campo real ≠ dataset </a:t>
            </a:r>
            <a:r>
              <a:rPr sz="1600" b="1" i="0" dirty="0" err="1">
                <a:solidFill>
                  <a:srgbClr val="FF9F1C"/>
                </a:solidFill>
                <a:latin typeface="Aptos Display"/>
              </a:rPr>
              <a:t>curado</a:t>
            </a:r>
            <a:endParaRPr sz="1600" b="1" i="0" dirty="0">
              <a:solidFill>
                <a:srgbClr val="FF9F1C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8993" y="2863886"/>
            <a:ext cx="3429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5D3C3"/>
                </a:solidFill>
                <a:latin typeface="Aptos Display"/>
              </a:rPr>
              <a:t>Los audios de Puerto Nariño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tienen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polución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ruido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superposición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cantos y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especies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no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presentes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dataset. El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fue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entrenado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sobre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clips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curados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Xeno-canto (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grabaciones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expertos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condiciones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ideales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3461" y="2407461"/>
            <a:ext cx="3657600" cy="1999945"/>
          </a:xfrm>
          <a:prstGeom prst="rect">
            <a:avLst/>
          </a:prstGeom>
          <a:solidFill>
            <a:srgbClr val="0B2B27"/>
          </a:solidFill>
          <a:ln w="635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4007" y="2549493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5C7A"/>
                </a:solidFill>
                <a:latin typeface="Aptos Display"/>
              </a:rPr>
              <a:t>Salida de </a:t>
            </a:r>
            <a:r>
              <a:rPr sz="1600" b="1" i="0" dirty="0" err="1">
                <a:solidFill>
                  <a:srgbClr val="FF5C7A"/>
                </a:solidFill>
                <a:latin typeface="Aptos Display"/>
              </a:rPr>
              <a:t>etiqueta</a:t>
            </a:r>
            <a:r>
              <a:rPr sz="1600" b="1" i="0" dirty="0">
                <a:solidFill>
                  <a:srgbClr val="FF5C7A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FF5C7A"/>
                </a:solidFill>
                <a:latin typeface="Aptos Display"/>
              </a:rPr>
              <a:t>única</a:t>
            </a:r>
            <a:endParaRPr sz="1600" b="1" i="0" dirty="0">
              <a:solidFill>
                <a:srgbClr val="FF5C7A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34553" y="2844224"/>
            <a:ext cx="3429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5D3C3"/>
                </a:solidFill>
                <a:latin typeface="Aptos Display"/>
              </a:rPr>
              <a:t>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capa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softmax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fuerza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elegir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una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 En audios con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múltiples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especies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vocalizando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simultáneamente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modelo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debe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escoger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una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(o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decir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no_identificado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). 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solución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es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migrar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a sigmoid multi-label.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673" y="4724981"/>
            <a:ext cx="5303520" cy="1329735"/>
          </a:xfrm>
          <a:prstGeom prst="rect">
            <a:avLst/>
          </a:prstGeom>
          <a:solidFill>
            <a:srgbClr val="0B2B27"/>
          </a:solidFill>
          <a:ln w="635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5064" y="4847096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5C7A"/>
                </a:solidFill>
                <a:latin typeface="Aptos Display"/>
              </a:rPr>
              <a:t>Detección</a:t>
            </a:r>
            <a:r>
              <a:rPr sz="1600" b="1" i="0" dirty="0">
                <a:solidFill>
                  <a:srgbClr val="FF5C7A"/>
                </a:solidFill>
                <a:latin typeface="Aptos Display"/>
              </a:rPr>
              <a:t> antes de </a:t>
            </a:r>
            <a:r>
              <a:rPr sz="1600" b="1" i="0" dirty="0" err="1">
                <a:solidFill>
                  <a:srgbClr val="FF5C7A"/>
                </a:solidFill>
                <a:latin typeface="Aptos Display"/>
              </a:rPr>
              <a:t>clasificación</a:t>
            </a:r>
            <a:endParaRPr sz="1600" b="1" i="0" dirty="0">
              <a:solidFill>
                <a:srgbClr val="FF5C7A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558" y="5161755"/>
            <a:ext cx="5074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5D3C3"/>
                </a:solidFill>
                <a:latin typeface="Aptos Display"/>
              </a:rPr>
              <a:t>El pipeline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asume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que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hay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vocalización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clip. Sin un VAD (Voice Activity Detector)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bioacústico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previo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los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clips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silencio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se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clasifican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alguna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clase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,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inflando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la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tasa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falsos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positivos</a:t>
            </a:r>
            <a:r>
              <a:rPr sz="11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673" y="4731625"/>
            <a:ext cx="5303520" cy="1323091"/>
          </a:xfrm>
          <a:prstGeom prst="rect">
            <a:avLst/>
          </a:prstGeom>
          <a:solidFill>
            <a:srgbClr val="0B2B27"/>
          </a:solidFill>
          <a:ln w="6350">
            <a:solidFill>
              <a:srgbClr val="7EA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401" y="4800993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EAA95"/>
                </a:solidFill>
                <a:latin typeface="Aptos Display"/>
              </a:rPr>
              <a:t>Umbral de confianza sin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calibrar</a:t>
            </a:r>
            <a:r>
              <a:rPr sz="1600" b="1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600" b="1" i="0" dirty="0" err="1">
                <a:solidFill>
                  <a:srgbClr val="7EAA95"/>
                </a:solidFill>
                <a:latin typeface="Aptos Display"/>
              </a:rPr>
              <a:t>formalmente</a:t>
            </a:r>
            <a:endParaRPr sz="1600" b="1" i="0" dirty="0">
              <a:solidFill>
                <a:srgbClr val="7EAA95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51612" y="5125250"/>
            <a:ext cx="5074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5D3C3"/>
                </a:solidFill>
                <a:latin typeface="Aptos Display"/>
              </a:rPr>
              <a:t>El umbral θ=0.6 para '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no_identificado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' se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eligió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forma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exploratoria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 Una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calibración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rigurosa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requeriría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un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val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set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independiente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con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anotaciones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de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experto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para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optimizar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precision-recall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en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cada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 </a:t>
            </a:r>
            <a:r>
              <a:rPr sz="1400" b="0" i="0" dirty="0" err="1">
                <a:solidFill>
                  <a:srgbClr val="B5D3C3"/>
                </a:solidFill>
                <a:latin typeface="Aptos Display"/>
              </a:rPr>
              <a:t>especie</a:t>
            </a:r>
            <a:r>
              <a:rPr sz="1400" b="0" i="0" dirty="0">
                <a:solidFill>
                  <a:srgbClr val="B5D3C3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" descr="jungle_bg.png">
            <a:extLst>
              <a:ext uri="{FF2B5EF4-FFF2-40B4-BE49-F238E27FC236}">
                <a16:creationId xmlns:a16="http://schemas.microsoft.com/office/drawing/2014/main" id="{EE289B9D-1A35-B2DC-8AC4-028F6280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581" y="241610"/>
            <a:ext cx="112745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EFFCF5"/>
                </a:solidFill>
                <a:latin typeface="Aptos Display"/>
              </a:rPr>
              <a:t>18.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Trabajo</a:t>
            </a:r>
            <a:r>
              <a:rPr sz="4400" b="1" i="0" dirty="0">
                <a:solidFill>
                  <a:srgbClr val="EFFCF5"/>
                </a:solidFill>
                <a:latin typeface="Daily Challenge DEMO" pitchFamily="50" charset="0"/>
              </a:rPr>
              <a:t> </a:t>
            </a:r>
            <a:r>
              <a:rPr sz="4400" b="1" i="0" dirty="0" err="1">
                <a:solidFill>
                  <a:srgbClr val="EFFCF5"/>
                </a:solidFill>
                <a:latin typeface="Daily Challenge DEMO" pitchFamily="50" charset="0"/>
              </a:rPr>
              <a:t>futuro</a:t>
            </a:r>
            <a:endParaRPr sz="4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EAA95"/>
                </a:solidFill>
                <a:latin typeface="Aptos Display"/>
              </a:rPr>
              <a:t>SelvaSonic-ML · Aprendizaje Automático · UNAL Medellín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EAA95"/>
                </a:solidFill>
                <a:latin typeface="Aptos Display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274552" cy="960120"/>
          </a:xfrm>
          <a:prstGeom prst="roundRect">
            <a:avLst/>
          </a:prstGeom>
          <a:solidFill>
            <a:srgbClr val="0B2B27"/>
          </a:solidFill>
          <a:ln w="6350">
            <a:solidFill>
              <a:srgbClr val="21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D4D4"/>
                </a:solidFill>
                <a:latin typeface="Aptos Display"/>
              </a:rPr>
              <a:t>Escalar a 50+ especies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078992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D3C3"/>
                </a:solidFill>
                <a:latin typeface="Aptos Display"/>
              </a:rPr>
              <a:t>Integrar BirdCLEF 2024 + Xeno-canto Colombia. Modelo actual: 10 sp. amazónicas. Siguiente paso: cubrir los ~300 sp. del Trapecio Amazónico.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74552" cy="960120"/>
          </a:xfrm>
          <a:prstGeom prst="roundRect">
            <a:avLst/>
          </a:prstGeom>
          <a:solidFill>
            <a:srgbClr val="0B2B27"/>
          </a:solidFill>
          <a:ln w="6350">
            <a:solidFill>
              <a:srgbClr val="3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D17A"/>
                </a:solidFill>
                <a:latin typeface="Aptos Display"/>
              </a:rPr>
              <a:t>Calibración post-hoc con temperature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30552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D3C3"/>
                </a:solidFill>
                <a:latin typeface="Aptos Display"/>
              </a:rPr>
              <a:t>Aplicar temperature scaling (Guo et al. 2017) sobre v2 para mejorar ECE sin cambiar la arquitectura. Requiere val set independiente anotado.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11274552" cy="960120"/>
          </a:xfrm>
          <a:prstGeom prst="roundRect">
            <a:avLst/>
          </a:prstGeom>
          <a:solidFill>
            <a:srgbClr val="0B2B27"/>
          </a:solidFill>
          <a:ln w="635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594360" y="3182112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D35E"/>
                </a:solidFill>
                <a:latin typeface="Aptos Display"/>
              </a:rPr>
              <a:t>Transfer learning desde BirdNET o PANNs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82112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D3C3"/>
                </a:solidFill>
                <a:latin typeface="Aptos Display"/>
              </a:rPr>
              <a:t>Usar embeddings preentrenados como features y fine-tunear las últimas capas. Hipótesis: con datos muy escasos (&lt; 20 grabaciones), el preentrenamiento ayuda.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60520"/>
            <a:ext cx="11274552" cy="960120"/>
          </a:xfrm>
          <a:prstGeom prst="roundRect">
            <a:avLst/>
          </a:prstGeom>
          <a:solidFill>
            <a:srgbClr val="0B2B27"/>
          </a:solidFill>
          <a:ln w="63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94360" y="4233672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  <a:latin typeface="Aptos Display"/>
              </a:rPr>
              <a:t>Multi-label (sigmoid)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33672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D3C3"/>
                </a:solidFill>
                <a:latin typeface="Aptos Display"/>
              </a:rPr>
              <a:t>Migrar de softmax a sigmoid para manejar clips con múltiples especies vocalizando simultáneamente. Requiere re-anotar el dataset.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79"/>
            <a:ext cx="11274552" cy="960120"/>
          </a:xfrm>
          <a:prstGeom prst="roundRect">
            <a:avLst/>
          </a:prstGeom>
          <a:solidFill>
            <a:srgbClr val="0B2B27"/>
          </a:solidFill>
          <a:ln w="635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94360" y="5285231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C7A"/>
                </a:solidFill>
                <a:latin typeface="Aptos Display"/>
              </a:rPr>
              <a:t>Despliegue en dispositivos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85231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D3C3"/>
                </a:solidFill>
                <a:latin typeface="Aptos Display"/>
              </a:rPr>
              <a:t>Cuantizar el modelo (INT8) para correr en Raspberry Pi + micrófono. Objetivo: monitoreo continuo y autónomo en campo sin conectividad.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 descr="jungle_bg.png">
            <a:extLst>
              <a:ext uri="{FF2B5EF4-FFF2-40B4-BE49-F238E27FC236}">
                <a16:creationId xmlns:a16="http://schemas.microsoft.com/office/drawing/2014/main" id="{6363DF3E-1B9F-D53D-86AA-F9009626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 err="1">
                <a:solidFill>
                  <a:srgbClr val="EFFCF5"/>
                </a:solidFill>
                <a:latin typeface="Daily Challenge DEMO" pitchFamily="50" charset="0"/>
              </a:rPr>
              <a:t>Conclusión</a:t>
            </a:r>
            <a:endParaRPr sz="5400" b="1" i="0" dirty="0">
              <a:solidFill>
                <a:srgbClr val="EFFCF5"/>
              </a:solidFill>
              <a:latin typeface="Daily Challenge DEMO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01054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SelvaSonic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-ML: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una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ruta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completa de ML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aplicado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, </a:t>
            </a:r>
            <a:r>
              <a:rPr sz="1150" b="0" i="0" dirty="0" err="1">
                <a:solidFill>
                  <a:srgbClr val="7EAA95"/>
                </a:solidFill>
                <a:latin typeface="Aptos Display"/>
              </a:rPr>
              <a:t>trazable</a:t>
            </a:r>
            <a:r>
              <a:rPr sz="1150" b="0" i="0" dirty="0">
                <a:solidFill>
                  <a:srgbClr val="7EAA95"/>
                </a:solidFill>
                <a:latin typeface="Aptos Display"/>
              </a:rPr>
              <a:t> y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35024"/>
            <a:ext cx="5943600" cy="4523423"/>
          </a:xfrm>
          <a:prstGeom prst="rect">
            <a:avLst/>
          </a:prstGeom>
          <a:solidFill>
            <a:srgbClr val="0B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94360" y="1426464"/>
            <a:ext cx="566928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1D4D4"/>
                </a:solidFill>
                <a:latin typeface="Aptos Display"/>
              </a:rPr>
              <a:t>Mensaje principal</a:t>
            </a:r>
          </a:p>
          <a:p>
            <a:pPr algn="l"/>
            <a:r>
              <a:rPr sz="5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600" b="0">
                <a:solidFill>
                  <a:srgbClr val="EFFCF5"/>
                </a:solidFill>
                <a:latin typeface="Aptos Display"/>
              </a:rPr>
              <a:t>SelvaSonic-ML demuestra una ruta completa de Machine Learning aplicado: descarga estructurada de datos → segmentación → representación Mel → CNN baseline → +attention → +balanceo → evaluación multi-métrica → prueba en campo.</a:t>
            </a:r>
          </a:p>
          <a:p>
            <a:pPr algn="l"/>
            <a:r>
              <a:rPr sz="7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b="1">
                <a:solidFill>
                  <a:srgbClr val="F4D35E"/>
                </a:solidFill>
                <a:latin typeface="Aptos Display"/>
              </a:rPr>
              <a:t>Resultado cuantitativo</a:t>
            </a:r>
          </a:p>
          <a:p>
            <a:pPr algn="l"/>
            <a:r>
              <a:rPr sz="5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600" b="0">
                <a:solidFill>
                  <a:srgbClr val="EFFCF5"/>
                </a:solidFill>
                <a:latin typeface="Aptos Display"/>
              </a:rPr>
              <a:t>El modelo final (Attention v2) alcanza 0.7036 de test accuracy sobre 11 clases con desbalance severo (12:1), sin preentrenamiento.</a:t>
            </a:r>
          </a:p>
          <a:p>
            <a:pPr algn="l"/>
            <a:r>
              <a:rPr sz="7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b="1">
                <a:solidFill>
                  <a:srgbClr val="21D4D4"/>
                </a:solidFill>
                <a:latin typeface="Aptos Display"/>
              </a:rPr>
              <a:t>Mensaje metodológico</a:t>
            </a:r>
          </a:p>
          <a:p>
            <a:pPr algn="l"/>
            <a:r>
              <a:rPr sz="5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600" b="0">
                <a:solidFill>
                  <a:srgbClr val="B5D3C3"/>
                </a:solidFill>
                <a:latin typeface="Aptos Display"/>
              </a:rPr>
              <a:t>La mejora de un modelo no se defiende solo con accuracy: se defiende con controles de fuga, métricas balanceadas, análisis de calibración, embeddings interpretables y pruebas bajo cambio de distribución.</a:t>
            </a:r>
          </a:p>
          <a:p>
            <a:pPr algn="l"/>
            <a:r>
              <a:rPr sz="700" b="0">
                <a:solidFill>
                  <a:srgbClr val="B5D3C3"/>
                </a:solidFill>
                <a:latin typeface="Aptos Display"/>
              </a:rPr>
              <a:t> </a:t>
            </a:r>
          </a:p>
          <a:p>
            <a:pPr algn="l"/>
            <a:r>
              <a:rPr sz="1600" b="0">
                <a:solidFill>
                  <a:srgbClr val="7EAA95"/>
                </a:solidFill>
                <a:latin typeface="Aptos Display"/>
              </a:rPr>
              <a:t>Repositorio: github.com/LauraRuizA09/SelvaSonic-ML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335024"/>
            <a:ext cx="5193792" cy="4200662"/>
          </a:xfrm>
          <a:prstGeom prst="rect">
            <a:avLst/>
          </a:prstGeom>
          <a:solidFill>
            <a:srgbClr val="0F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675120" y="139903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D4D4"/>
                </a:solidFill>
                <a:latin typeface="Aptos Display"/>
              </a:rPr>
              <a:t>Referencias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6479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Gong et al. (2021).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4767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AST: Audio Spectrogram Transformer. Interspeech 2021.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03704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Kong et al. (2020).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86584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PANNs: Large-scale pretrained audio neural networks. IEEE TASLP 28.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42616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Piczak (2015).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25496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ESC: Dataset for environmental sound classification. ACM MM.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81528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Szegedy et al. (2016).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64408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Rethinking Inception. CVPR 2016. [label smoothing]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Vaswani et al. (2017).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Attention is all you need. NeurIPS 30. [MHSA]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5935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Vellinga &amp; Planqué (2015).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4223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The Xeno-canto collection. CLEF Working Notes.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98263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Guo et al. (2017).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81144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5D3C3"/>
                </a:solidFill>
                <a:latin typeface="Aptos Display"/>
              </a:rPr>
              <a:t>On calibration of modern neural networks. ICML 34. [ECE]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37176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D35E"/>
                </a:solidFill>
                <a:latin typeface="Aptos Display"/>
              </a:rPr>
              <a:t>Cao et al. (2019).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20056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D3C3"/>
                </a:solidFill>
                <a:latin typeface="Aptos Display"/>
              </a:rPr>
              <a:t>Learning imbalanced datasets with label-distribution-aware margin loss. NeurIPS.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EAA95"/>
                </a:solidFill>
                <a:latin typeface="Aptos Display"/>
              </a:rPr>
              <a:t>Laura Ruiz Arango &amp; Jose Aldair Molina Méndez · Prof. Alcides Montoya · UNAL Medellín ·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3695</Words>
  <Application>Microsoft Office PowerPoint</Application>
  <PresentationFormat>Personalizado</PresentationFormat>
  <Paragraphs>551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Aptos Display</vt:lpstr>
      <vt:lpstr>Arial</vt:lpstr>
      <vt:lpstr>Calibri</vt:lpstr>
      <vt:lpstr>Daily Challenge DEMO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Laura Ruiz Arango</cp:lastModifiedBy>
  <cp:revision>2</cp:revision>
  <dcterms:created xsi:type="dcterms:W3CDTF">2013-01-27T09:14:16Z</dcterms:created>
  <dcterms:modified xsi:type="dcterms:W3CDTF">2026-06-03T18:30:00Z</dcterms:modified>
  <cp:category/>
</cp:coreProperties>
</file>