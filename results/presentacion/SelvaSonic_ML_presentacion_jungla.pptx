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jungle_bg.pn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8595360" y="0"/>
            <a:ext cx="3593592" cy="6858000"/>
          </a:xfrm>
          <a:prstGeom prst="rect">
            <a:avLst/>
          </a:prstGeom>
          <a:solidFill>
            <a:srgbClr val="0B2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94360"/>
            <a:ext cx="7772400" cy="274320"/>
          </a:xfrm>
          <a:prstGeom prst="rect">
            <a:avLst/>
          </a:prstGeom>
          <a:noFill/>
        </p:spPr>
        <p:txBody>
          <a:bodyPr wrap="square">
            <a:spAutoFit/>
          </a:bodyPr>
          <a:lstStyle/>
          <a:p>
            <a:pPr algn="l"/>
            <a:r>
              <a:rPr sz="1100" b="0" i="0">
                <a:solidFill>
                  <a:srgbClr val="21D4D4"/>
                </a:solidFill>
                <a:latin typeface="Aptos Display"/>
              </a:rPr>
              <a:t>Machine Learning · presentación técnica</a:t>
            </a:r>
          </a:p>
        </p:txBody>
      </p:sp>
      <p:sp>
        <p:nvSpPr>
          <p:cNvPr id="5" name="TextBox 4"/>
          <p:cNvSpPr txBox="1"/>
          <p:nvPr/>
        </p:nvSpPr>
        <p:spPr>
          <a:xfrm>
            <a:off x="548640" y="960120"/>
            <a:ext cx="8229600" cy="1325880"/>
          </a:xfrm>
          <a:prstGeom prst="rect">
            <a:avLst/>
          </a:prstGeom>
          <a:noFill/>
        </p:spPr>
        <p:txBody>
          <a:bodyPr wrap="square">
            <a:spAutoFit/>
          </a:bodyPr>
          <a:lstStyle/>
          <a:p>
            <a:pPr algn="l"/>
            <a:r>
              <a:rPr sz="6000" b="1" i="0">
                <a:solidFill>
                  <a:srgbClr val="EFFCF5"/>
                </a:solidFill>
                <a:latin typeface="Aptos Display"/>
              </a:rPr>
              <a:t>SelvaSonic-ML</a:t>
            </a:r>
          </a:p>
        </p:txBody>
      </p:sp>
      <p:sp>
        <p:nvSpPr>
          <p:cNvPr id="6" name="TextBox 5"/>
          <p:cNvSpPr txBox="1"/>
          <p:nvPr/>
        </p:nvSpPr>
        <p:spPr>
          <a:xfrm>
            <a:off x="548640" y="2286000"/>
            <a:ext cx="7955279" cy="365760"/>
          </a:xfrm>
          <a:prstGeom prst="rect">
            <a:avLst/>
          </a:prstGeom>
          <a:noFill/>
        </p:spPr>
        <p:txBody>
          <a:bodyPr wrap="square">
            <a:spAutoFit/>
          </a:bodyPr>
          <a:lstStyle/>
          <a:p>
            <a:pPr algn="l"/>
            <a:r>
              <a:rPr sz="1900" b="0" i="0">
                <a:solidFill>
                  <a:srgbClr val="B5D3C3"/>
                </a:solidFill>
                <a:latin typeface="Aptos Display"/>
              </a:rPr>
              <a:t>Clasificación bioacústica de aves amazónicas</a:t>
            </a:r>
          </a:p>
        </p:txBody>
      </p:sp>
      <p:sp>
        <p:nvSpPr>
          <p:cNvPr id="7" name="TextBox 6"/>
          <p:cNvSpPr txBox="1"/>
          <p:nvPr/>
        </p:nvSpPr>
        <p:spPr>
          <a:xfrm>
            <a:off x="548640" y="2651760"/>
            <a:ext cx="7955279" cy="365760"/>
          </a:xfrm>
          <a:prstGeom prst="rect">
            <a:avLst/>
          </a:prstGeom>
          <a:noFill/>
        </p:spPr>
        <p:txBody>
          <a:bodyPr wrap="square">
            <a:spAutoFit/>
          </a:bodyPr>
          <a:lstStyle/>
          <a:p>
            <a:pPr algn="l"/>
            <a:r>
              <a:rPr sz="1900" b="0" i="0">
                <a:solidFill>
                  <a:srgbClr val="B5D3C3"/>
                </a:solidFill>
                <a:latin typeface="Aptos Display"/>
              </a:rPr>
              <a:t>mediante CNN + Multi-Head Self-Attention</a:t>
            </a:r>
          </a:p>
        </p:txBody>
      </p:sp>
      <p:sp>
        <p:nvSpPr>
          <p:cNvPr id="8" name="TextBox 7"/>
          <p:cNvSpPr txBox="1"/>
          <p:nvPr/>
        </p:nvSpPr>
        <p:spPr>
          <a:xfrm>
            <a:off x="548640" y="3200400"/>
            <a:ext cx="7955279" cy="411480"/>
          </a:xfrm>
          <a:prstGeom prst="rect">
            <a:avLst/>
          </a:prstGeom>
          <a:noFill/>
        </p:spPr>
        <p:txBody>
          <a:bodyPr wrap="square">
            <a:spAutoFit/>
          </a:bodyPr>
          <a:lstStyle/>
          <a:p>
            <a:pPr algn="l"/>
            <a:r>
              <a:rPr sz="1200" b="0" i="0">
                <a:solidFill>
                  <a:srgbClr val="7EAA95"/>
                </a:solidFill>
                <a:latin typeface="Aptos Display"/>
              </a:rPr>
              <a:t>Pipeline end-to-end · comparativa 3 modelos · evaluación multi-métrica (F1, AP, ECE, silhouette) · prueba en campo.</a:t>
            </a:r>
          </a:p>
        </p:txBody>
      </p:sp>
      <p:sp>
        <p:nvSpPr>
          <p:cNvPr id="9" name="TextBox 8"/>
          <p:cNvSpPr txBox="1"/>
          <p:nvPr/>
        </p:nvSpPr>
        <p:spPr>
          <a:xfrm>
            <a:off x="548640" y="3931920"/>
            <a:ext cx="7955279" cy="320040"/>
          </a:xfrm>
          <a:prstGeom prst="rect">
            <a:avLst/>
          </a:prstGeom>
          <a:noFill/>
        </p:spPr>
        <p:txBody>
          <a:bodyPr wrap="square">
            <a:spAutoFit/>
          </a:bodyPr>
          <a:lstStyle/>
          <a:p>
            <a:pPr algn="l"/>
            <a:r>
              <a:rPr sz="1200" b="0" i="0">
                <a:solidFill>
                  <a:srgbClr val="B5D3C3"/>
                </a:solidFill>
                <a:latin typeface="Aptos Display"/>
              </a:rPr>
              <a:t>Laura Ruiz Arango · Jose Aldair Molina Méndez</a:t>
            </a:r>
          </a:p>
        </p:txBody>
      </p:sp>
      <p:sp>
        <p:nvSpPr>
          <p:cNvPr id="10" name="TextBox 9"/>
          <p:cNvSpPr txBox="1"/>
          <p:nvPr/>
        </p:nvSpPr>
        <p:spPr>
          <a:xfrm>
            <a:off x="548640" y="4315968"/>
            <a:ext cx="7955279" cy="274320"/>
          </a:xfrm>
          <a:prstGeom prst="rect">
            <a:avLst/>
          </a:prstGeom>
          <a:noFill/>
        </p:spPr>
        <p:txBody>
          <a:bodyPr wrap="square">
            <a:spAutoFit/>
          </a:bodyPr>
          <a:lstStyle/>
          <a:p>
            <a:pPr algn="l"/>
            <a:r>
              <a:rPr sz="1000" b="0" i="0">
                <a:solidFill>
                  <a:srgbClr val="7EAA95"/>
                </a:solidFill>
                <a:latin typeface="Aptos Display"/>
              </a:rPr>
              <a:t>Universidad Nacional de Colombia — Sede Medellín</a:t>
            </a:r>
          </a:p>
        </p:txBody>
      </p:sp>
      <p:sp>
        <p:nvSpPr>
          <p:cNvPr id="11" name="TextBox 10"/>
          <p:cNvSpPr txBox="1"/>
          <p:nvPr/>
        </p:nvSpPr>
        <p:spPr>
          <a:xfrm>
            <a:off x="548640" y="4608576"/>
            <a:ext cx="7955279" cy="274320"/>
          </a:xfrm>
          <a:prstGeom prst="rect">
            <a:avLst/>
          </a:prstGeom>
          <a:noFill/>
        </p:spPr>
        <p:txBody>
          <a:bodyPr wrap="square">
            <a:spAutoFit/>
          </a:bodyPr>
          <a:lstStyle/>
          <a:p>
            <a:pPr algn="l"/>
            <a:r>
              <a:rPr sz="1000" b="0" i="0">
                <a:solidFill>
                  <a:srgbClr val="7EAA95"/>
                </a:solidFill>
                <a:latin typeface="Aptos Display"/>
              </a:rPr>
              <a:t>Aprendizaje Automático · Prof. Alcides Montoya · Junio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jungle_bg.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64592"/>
            <a:ext cx="11274552" cy="475488"/>
          </a:xfrm>
          <a:prstGeom prst="rect">
            <a:avLst/>
          </a:prstGeom>
          <a:noFill/>
        </p:spPr>
        <p:txBody>
          <a:bodyPr wrap="square">
            <a:spAutoFit/>
          </a:bodyPr>
          <a:lstStyle/>
          <a:p>
            <a:pPr algn="l"/>
            <a:r>
              <a:rPr sz="2100" b="1" i="0">
                <a:solidFill>
                  <a:srgbClr val="EFFCF5"/>
                </a:solidFill>
                <a:latin typeface="Aptos Display"/>
              </a:rPr>
              <a:t>1. Problema: escuchar la biodiversidad a escala</a:t>
            </a:r>
          </a:p>
        </p:txBody>
      </p:sp>
      <p:sp>
        <p:nvSpPr>
          <p:cNvPr id="4" name="TextBox 3"/>
          <p:cNvSpPr txBox="1"/>
          <p:nvPr/>
        </p:nvSpPr>
        <p:spPr>
          <a:xfrm>
            <a:off x="457200" y="621792"/>
            <a:ext cx="11274552" cy="292608"/>
          </a:xfrm>
          <a:prstGeom prst="rect">
            <a:avLst/>
          </a:prstGeom>
          <a:noFill/>
        </p:spPr>
        <p:txBody>
          <a:bodyPr wrap="square">
            <a:spAutoFit/>
          </a:bodyPr>
          <a:lstStyle/>
          <a:p>
            <a:pPr algn="l"/>
            <a:r>
              <a:rPr sz="1000" b="0" i="0">
                <a:solidFill>
                  <a:srgbClr val="7EAA95"/>
                </a:solidFill>
                <a:latin typeface="Aptos Display"/>
              </a:rPr>
              <a:t>Del monitoreo acústico pasivo a la clasificación automática de especies</a:t>
            </a:r>
          </a:p>
        </p:txBody>
      </p:sp>
      <p:sp>
        <p:nvSpPr>
          <p:cNvPr id="5" name="TextBox 4"/>
          <p:cNvSpPr txBox="1"/>
          <p:nvPr/>
        </p:nvSpPr>
        <p:spPr>
          <a:xfrm>
            <a:off x="457200" y="6537960"/>
            <a:ext cx="8229600" cy="274320"/>
          </a:xfrm>
          <a:prstGeom prst="rect">
            <a:avLst/>
          </a:prstGeom>
          <a:noFill/>
        </p:spPr>
        <p:txBody>
          <a:bodyPr wrap="square">
            <a:spAutoFit/>
          </a:bodyPr>
          <a:lstStyle/>
          <a:p>
            <a:pPr algn="l"/>
            <a:r>
              <a:rPr sz="800" b="0" i="0">
                <a:solidFill>
                  <a:srgbClr val="7EAA95"/>
                </a:solidFill>
                <a:latin typeface="Aptos Display"/>
              </a:rPr>
              <a:t>SelvaSonic-ML · Aprendizaje Automático · UNAL Medellín</a:t>
            </a:r>
          </a:p>
        </p:txBody>
      </p:sp>
      <p:sp>
        <p:nvSpPr>
          <p:cNvPr id="6" name="TextBox 5"/>
          <p:cNvSpPr txBox="1"/>
          <p:nvPr/>
        </p:nvSpPr>
        <p:spPr>
          <a:xfrm>
            <a:off x="11247120" y="6537960"/>
            <a:ext cx="484632" cy="274320"/>
          </a:xfrm>
          <a:prstGeom prst="rect">
            <a:avLst/>
          </a:prstGeom>
          <a:noFill/>
        </p:spPr>
        <p:txBody>
          <a:bodyPr wrap="square">
            <a:spAutoFit/>
          </a:bodyPr>
          <a:lstStyle/>
          <a:p>
            <a:pPr algn="r"/>
            <a:r>
              <a:rPr sz="800" b="0" i="0">
                <a:solidFill>
                  <a:srgbClr val="7EAA95"/>
                </a:solidFill>
                <a:latin typeface="Aptos Display"/>
              </a:rPr>
              <a:t>02</a:t>
            </a:r>
          </a:p>
        </p:txBody>
      </p:sp>
      <p:sp>
        <p:nvSpPr>
          <p:cNvPr id="7" name="Rectangle 6"/>
          <p:cNvSpPr/>
          <p:nvPr/>
        </p:nvSpPr>
        <p:spPr>
          <a:xfrm>
            <a:off x="457200" y="1143000"/>
            <a:ext cx="3657600" cy="1417320"/>
          </a:xfrm>
          <a:prstGeom prst="rect">
            <a:avLst/>
          </a:prstGeom>
          <a:solidFill>
            <a:srgbClr val="0B2B27"/>
          </a:solidFill>
          <a:ln w="9525">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234440"/>
            <a:ext cx="3474720" cy="685800"/>
          </a:xfrm>
          <a:prstGeom prst="rect">
            <a:avLst/>
          </a:prstGeom>
          <a:noFill/>
        </p:spPr>
        <p:txBody>
          <a:bodyPr wrap="square">
            <a:spAutoFit/>
          </a:bodyPr>
          <a:lstStyle/>
          <a:p>
            <a:pPr algn="ctr"/>
            <a:r>
              <a:rPr sz="4200" b="1" i="0">
                <a:solidFill>
                  <a:srgbClr val="21D4D4"/>
                </a:solidFill>
                <a:latin typeface="Aptos Display"/>
              </a:rPr>
              <a:t>1,627</a:t>
            </a:r>
          </a:p>
        </p:txBody>
      </p:sp>
      <p:sp>
        <p:nvSpPr>
          <p:cNvPr id="9" name="TextBox 8"/>
          <p:cNvSpPr txBox="1"/>
          <p:nvPr/>
        </p:nvSpPr>
        <p:spPr>
          <a:xfrm>
            <a:off x="548640" y="1892807"/>
            <a:ext cx="3474720" cy="320040"/>
          </a:xfrm>
          <a:prstGeom prst="rect">
            <a:avLst/>
          </a:prstGeom>
          <a:noFill/>
        </p:spPr>
        <p:txBody>
          <a:bodyPr wrap="square">
            <a:spAutoFit/>
          </a:bodyPr>
          <a:lstStyle/>
          <a:p>
            <a:pPr algn="ctr"/>
            <a:r>
              <a:rPr sz="900" b="0" i="0">
                <a:solidFill>
                  <a:srgbClr val="7EAA95"/>
                </a:solidFill>
                <a:latin typeface="Aptos Display"/>
              </a:rPr>
              <a:t>especies registradas en Colombia</a:t>
            </a:r>
          </a:p>
        </p:txBody>
      </p:sp>
      <p:sp>
        <p:nvSpPr>
          <p:cNvPr id="10" name="Rectangle 9"/>
          <p:cNvSpPr/>
          <p:nvPr/>
        </p:nvSpPr>
        <p:spPr>
          <a:xfrm>
            <a:off x="4297680" y="1143000"/>
            <a:ext cx="3657600" cy="1417320"/>
          </a:xfrm>
          <a:prstGeom prst="rect">
            <a:avLst/>
          </a:prstGeom>
          <a:solidFill>
            <a:srgbClr val="0B2B27"/>
          </a:solidFill>
          <a:ln w="9525">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234440"/>
            <a:ext cx="3474720" cy="685800"/>
          </a:xfrm>
          <a:prstGeom prst="rect">
            <a:avLst/>
          </a:prstGeom>
          <a:noFill/>
        </p:spPr>
        <p:txBody>
          <a:bodyPr wrap="square">
            <a:spAutoFit/>
          </a:bodyPr>
          <a:lstStyle/>
          <a:p>
            <a:pPr algn="ctr"/>
            <a:r>
              <a:rPr sz="4200" b="1" i="0">
                <a:solidFill>
                  <a:srgbClr val="21D4D4"/>
                </a:solidFill>
                <a:latin typeface="Aptos Display"/>
              </a:rPr>
              <a:t>3,319</a:t>
            </a:r>
          </a:p>
        </p:txBody>
      </p:sp>
      <p:sp>
        <p:nvSpPr>
          <p:cNvPr id="12" name="TextBox 11"/>
          <p:cNvSpPr txBox="1"/>
          <p:nvPr/>
        </p:nvSpPr>
        <p:spPr>
          <a:xfrm>
            <a:off x="4389120" y="1892807"/>
            <a:ext cx="3474720" cy="320040"/>
          </a:xfrm>
          <a:prstGeom prst="rect">
            <a:avLst/>
          </a:prstGeom>
          <a:noFill/>
        </p:spPr>
        <p:txBody>
          <a:bodyPr wrap="square">
            <a:spAutoFit/>
          </a:bodyPr>
          <a:lstStyle/>
          <a:p>
            <a:pPr algn="ctr"/>
            <a:r>
              <a:rPr sz="900" b="0" i="0">
                <a:solidFill>
                  <a:srgbClr val="7EAA95"/>
                </a:solidFill>
                <a:latin typeface="Aptos Display"/>
              </a:rPr>
              <a:t>grabaciones en Amazonía colombiana</a:t>
            </a:r>
          </a:p>
        </p:txBody>
      </p:sp>
      <p:sp>
        <p:nvSpPr>
          <p:cNvPr id="13" name="Rectangle 12"/>
          <p:cNvSpPr/>
          <p:nvPr/>
        </p:nvSpPr>
        <p:spPr>
          <a:xfrm>
            <a:off x="8138160" y="1143000"/>
            <a:ext cx="3657600" cy="1417320"/>
          </a:xfrm>
          <a:prstGeom prst="rect">
            <a:avLst/>
          </a:prstGeom>
          <a:solidFill>
            <a:srgbClr val="0B2B27"/>
          </a:solidFill>
          <a:ln w="9525">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234440"/>
            <a:ext cx="3474720" cy="685800"/>
          </a:xfrm>
          <a:prstGeom prst="rect">
            <a:avLst/>
          </a:prstGeom>
          <a:noFill/>
        </p:spPr>
        <p:txBody>
          <a:bodyPr wrap="square">
            <a:spAutoFit/>
          </a:bodyPr>
          <a:lstStyle/>
          <a:p>
            <a:pPr algn="ctr"/>
            <a:r>
              <a:rPr sz="4200" b="1" i="0">
                <a:solidFill>
                  <a:srgbClr val="21D4D4"/>
                </a:solidFill>
                <a:latin typeface="Aptos Display"/>
              </a:rPr>
              <a:t>10 + 1</a:t>
            </a:r>
          </a:p>
        </p:txBody>
      </p:sp>
      <p:sp>
        <p:nvSpPr>
          <p:cNvPr id="15" name="TextBox 14"/>
          <p:cNvSpPr txBox="1"/>
          <p:nvPr/>
        </p:nvSpPr>
        <p:spPr>
          <a:xfrm>
            <a:off x="8229600" y="1892807"/>
            <a:ext cx="3474720" cy="320040"/>
          </a:xfrm>
          <a:prstGeom prst="rect">
            <a:avLst/>
          </a:prstGeom>
          <a:noFill/>
        </p:spPr>
        <p:txBody>
          <a:bodyPr wrap="square">
            <a:spAutoFit/>
          </a:bodyPr>
          <a:lstStyle/>
          <a:p>
            <a:pPr algn="ctr"/>
            <a:r>
              <a:rPr sz="900" b="0" i="0">
                <a:solidFill>
                  <a:srgbClr val="7EAA95"/>
                </a:solidFill>
                <a:latin typeface="Aptos Display"/>
              </a:rPr>
              <a:t>especies seleccionadas + no_ave</a:t>
            </a:r>
          </a:p>
        </p:txBody>
      </p:sp>
      <p:sp>
        <p:nvSpPr>
          <p:cNvPr id="16" name="Rectangle 15"/>
          <p:cNvSpPr/>
          <p:nvPr/>
        </p:nvSpPr>
        <p:spPr>
          <a:xfrm>
            <a:off x="457200" y="2743200"/>
            <a:ext cx="11274552" cy="1024128"/>
          </a:xfrm>
          <a:prstGeom prst="rect">
            <a:avLst/>
          </a:prstGeom>
          <a:solidFill>
            <a:srgbClr val="0F3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2807208"/>
            <a:ext cx="10972800" cy="896112"/>
          </a:xfrm>
          <a:prstGeom prst="rect">
            <a:avLst/>
          </a:prstGeom>
          <a:noFill/>
        </p:spPr>
        <p:txBody>
          <a:bodyPr wrap="square">
            <a:spAutoFit/>
          </a:bodyPr>
          <a:lstStyle/>
          <a:p>
            <a:pPr algn="l"/>
            <a:r>
              <a:rPr sz="1050" b="0" i="0">
                <a:solidFill>
                  <a:srgbClr val="B5D3C3"/>
                </a:solidFill>
                <a:latin typeface="Aptos Display"/>
              </a:rPr>
              <a:t>La Amazonía colombiana concentra el 16 % de la diversidad mundial de aves. Monitorear su salud requiere identificación masiva de cantos, hoy dependiente de expertos humanos escasos. SelvaSonic-ML aborda este cuello de botella entrenando un clasificador bioacústico desde cero, especializado en fauna colombiana.</a:t>
            </a:r>
          </a:p>
        </p:txBody>
      </p:sp>
      <p:sp>
        <p:nvSpPr>
          <p:cNvPr id="18" name="Rectangle 17"/>
          <p:cNvSpPr/>
          <p:nvPr/>
        </p:nvSpPr>
        <p:spPr>
          <a:xfrm>
            <a:off x="457200" y="3886200"/>
            <a:ext cx="11274552" cy="1280160"/>
          </a:xfrm>
          <a:prstGeom prst="rect">
            <a:avLst/>
          </a:prstGeom>
          <a:solidFill>
            <a:srgbClr val="0B2B27"/>
          </a:solidFill>
          <a:ln w="9525">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31920"/>
            <a:ext cx="4572000" cy="292608"/>
          </a:xfrm>
          <a:prstGeom prst="rect">
            <a:avLst/>
          </a:prstGeom>
          <a:noFill/>
        </p:spPr>
        <p:txBody>
          <a:bodyPr wrap="square">
            <a:spAutoFit/>
          </a:bodyPr>
          <a:lstStyle/>
          <a:p>
            <a:pPr algn="l"/>
            <a:r>
              <a:rPr sz="900" b="1" i="0">
                <a:solidFill>
                  <a:srgbClr val="21D4D4"/>
                </a:solidFill>
                <a:latin typeface="Aptos Display"/>
              </a:rPr>
              <a:t>Pregunta de investigación</a:t>
            </a:r>
          </a:p>
        </p:txBody>
      </p:sp>
      <p:sp>
        <p:nvSpPr>
          <p:cNvPr id="20" name="TextBox 19"/>
          <p:cNvSpPr txBox="1"/>
          <p:nvPr/>
        </p:nvSpPr>
        <p:spPr>
          <a:xfrm>
            <a:off x="594360" y="4251960"/>
            <a:ext cx="10972800" cy="822960"/>
          </a:xfrm>
          <a:prstGeom prst="rect">
            <a:avLst/>
          </a:prstGeom>
          <a:noFill/>
        </p:spPr>
        <p:txBody>
          <a:bodyPr wrap="square">
            <a:spAutoFit/>
          </a:bodyPr>
          <a:lstStyle/>
          <a:p>
            <a:pPr algn="l"/>
            <a:r>
              <a:rPr sz="1150" b="0" i="0">
                <a:solidFill>
                  <a:srgbClr val="EFFCF5"/>
                </a:solidFill>
                <a:latin typeface="Aptos Display"/>
              </a:rPr>
              <a:t>¿Podemos aprender patrones espectro-temporales de vocalizaciones amazónicas con datos pequeños y desbalanceados, alcanzando rendimiento competitivo sin recurrir a modelos preentrenados?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jungle_bg.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64592"/>
            <a:ext cx="11274552" cy="475488"/>
          </a:xfrm>
          <a:prstGeom prst="rect">
            <a:avLst/>
          </a:prstGeom>
          <a:noFill/>
        </p:spPr>
        <p:txBody>
          <a:bodyPr wrap="square">
            <a:spAutoFit/>
          </a:bodyPr>
          <a:lstStyle/>
          <a:p>
            <a:pPr algn="l"/>
            <a:r>
              <a:rPr sz="2100" b="1" i="0">
                <a:solidFill>
                  <a:srgbClr val="EFFCF5"/>
                </a:solidFill>
                <a:latin typeface="Aptos Display"/>
              </a:rPr>
              <a:t>2. Objetivos y antecedentes</a:t>
            </a:r>
          </a:p>
        </p:txBody>
      </p:sp>
      <p:sp>
        <p:nvSpPr>
          <p:cNvPr id="4" name="TextBox 3"/>
          <p:cNvSpPr txBox="1"/>
          <p:nvPr/>
        </p:nvSpPr>
        <p:spPr>
          <a:xfrm>
            <a:off x="457200" y="621792"/>
            <a:ext cx="11274552" cy="292608"/>
          </a:xfrm>
          <a:prstGeom prst="rect">
            <a:avLst/>
          </a:prstGeom>
          <a:noFill/>
        </p:spPr>
        <p:txBody>
          <a:bodyPr wrap="square">
            <a:spAutoFit/>
          </a:bodyPr>
          <a:lstStyle/>
          <a:p>
            <a:pPr algn="l"/>
            <a:r>
              <a:rPr sz="1000" b="0" i="0">
                <a:solidFill>
                  <a:srgbClr val="7EAA95"/>
                </a:solidFill>
                <a:latin typeface="Aptos Display"/>
              </a:rPr>
              <a:t>Diseño experimental con base científica clara</a:t>
            </a:r>
          </a:p>
        </p:txBody>
      </p:sp>
      <p:sp>
        <p:nvSpPr>
          <p:cNvPr id="5" name="TextBox 4"/>
          <p:cNvSpPr txBox="1"/>
          <p:nvPr/>
        </p:nvSpPr>
        <p:spPr>
          <a:xfrm>
            <a:off x="457200" y="6537960"/>
            <a:ext cx="8229600" cy="274320"/>
          </a:xfrm>
          <a:prstGeom prst="rect">
            <a:avLst/>
          </a:prstGeom>
          <a:noFill/>
        </p:spPr>
        <p:txBody>
          <a:bodyPr wrap="square">
            <a:spAutoFit/>
          </a:bodyPr>
          <a:lstStyle/>
          <a:p>
            <a:pPr algn="l"/>
            <a:r>
              <a:rPr sz="800" b="0" i="0">
                <a:solidFill>
                  <a:srgbClr val="7EAA95"/>
                </a:solidFill>
                <a:latin typeface="Aptos Display"/>
              </a:rPr>
              <a:t>SelvaSonic-ML · Aprendizaje Automático · UNAL Medellín</a:t>
            </a:r>
          </a:p>
        </p:txBody>
      </p:sp>
      <p:sp>
        <p:nvSpPr>
          <p:cNvPr id="6" name="TextBox 5"/>
          <p:cNvSpPr txBox="1"/>
          <p:nvPr/>
        </p:nvSpPr>
        <p:spPr>
          <a:xfrm>
            <a:off x="11247120" y="6537960"/>
            <a:ext cx="484632" cy="274320"/>
          </a:xfrm>
          <a:prstGeom prst="rect">
            <a:avLst/>
          </a:prstGeom>
          <a:noFill/>
        </p:spPr>
        <p:txBody>
          <a:bodyPr wrap="square">
            <a:spAutoFit/>
          </a:bodyPr>
          <a:lstStyle/>
          <a:p>
            <a:pPr algn="r"/>
            <a:r>
              <a:rPr sz="800" b="0" i="0">
                <a:solidFill>
                  <a:srgbClr val="7EAA95"/>
                </a:solidFill>
                <a:latin typeface="Aptos Display"/>
              </a:rPr>
              <a:t>03</a:t>
            </a:r>
          </a:p>
        </p:txBody>
      </p:sp>
      <p:sp>
        <p:nvSpPr>
          <p:cNvPr id="7" name="Rectangle 6"/>
          <p:cNvSpPr/>
          <p:nvPr/>
        </p:nvSpPr>
        <p:spPr>
          <a:xfrm>
            <a:off x="457200" y="987552"/>
            <a:ext cx="5486400" cy="5212080"/>
          </a:xfrm>
          <a:prstGeom prst="rect">
            <a:avLst/>
          </a:prstGeom>
          <a:solidFill>
            <a:srgbClr val="0B2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051560"/>
            <a:ext cx="5212080" cy="320040"/>
          </a:xfrm>
          <a:prstGeom prst="rect">
            <a:avLst/>
          </a:prstGeom>
          <a:noFill/>
        </p:spPr>
        <p:txBody>
          <a:bodyPr wrap="square">
            <a:spAutoFit/>
          </a:bodyPr>
          <a:lstStyle/>
          <a:p>
            <a:pPr algn="l"/>
            <a:r>
              <a:rPr sz="1100" b="1" i="0">
                <a:solidFill>
                  <a:srgbClr val="21D4D4"/>
                </a:solidFill>
                <a:latin typeface="Aptos Display"/>
              </a:rPr>
              <a:t>Objetivos</a:t>
            </a:r>
          </a:p>
        </p:txBody>
      </p:sp>
      <p:sp>
        <p:nvSpPr>
          <p:cNvPr id="9" name="TextBox 8"/>
          <p:cNvSpPr txBox="1"/>
          <p:nvPr/>
        </p:nvSpPr>
        <p:spPr>
          <a:xfrm>
            <a:off x="594360" y="1389888"/>
            <a:ext cx="5120640" cy="4663440"/>
          </a:xfrm>
          <a:prstGeom prst="rect">
            <a:avLst/>
          </a:prstGeom>
          <a:noFill/>
        </p:spPr>
        <p:txBody>
          <a:bodyPr wrap="square">
            <a:spAutoFit/>
          </a:bodyPr>
          <a:lstStyle/>
          <a:p>
            <a:pPr algn="l"/>
            <a:r>
              <a:rPr sz="1000" b="1">
                <a:solidFill>
                  <a:srgbClr val="EFFCF5"/>
                </a:solidFill>
                <a:latin typeface="Aptos Display"/>
              </a:rPr>
              <a:t>General:</a:t>
            </a:r>
          </a:p>
          <a:p>
            <a:pPr algn="l"/>
            <a:r>
              <a:rPr sz="950" b="0">
                <a:solidFill>
                  <a:srgbClr val="B5D3C3"/>
                </a:solidFill>
                <a:latin typeface="Aptos Display"/>
              </a:rPr>
              <a:t>Diseñar, entrenar y evaluar un clasificador bioacústico end-to-end basado en CNN + attention para 10 especies amazónicas + no_ave.</a:t>
            </a:r>
          </a:p>
          <a:p>
            <a:pPr algn="l"/>
            <a:r>
              <a:rPr sz="400" b="0">
                <a:solidFill>
                  <a:srgbClr val="B5D3C3"/>
                </a:solidFill>
                <a:latin typeface="Aptos Display"/>
              </a:rPr>
              <a:t> </a:t>
            </a:r>
          </a:p>
          <a:p>
            <a:pPr algn="l"/>
            <a:r>
              <a:rPr sz="1000" b="1">
                <a:solidFill>
                  <a:srgbClr val="EFFCF5"/>
                </a:solidFill>
                <a:latin typeface="Aptos Display"/>
              </a:rPr>
              <a:t>Específicos:</a:t>
            </a:r>
          </a:p>
          <a:p>
            <a:pPr algn="l"/>
            <a:r>
              <a:rPr sz="950" b="0">
                <a:solidFill>
                  <a:srgbClr val="B5D3C3"/>
                </a:solidFill>
                <a:latin typeface="Aptos Display"/>
              </a:rPr>
              <a:t>1.  Construir pipeline reproducible (Xeno-canto + ESC-50).</a:t>
            </a:r>
          </a:p>
          <a:p>
            <a:pPr algn="l"/>
            <a:r>
              <a:rPr sz="950" b="0">
                <a:solidFill>
                  <a:srgbClr val="B5D3C3"/>
                </a:solidFill>
                <a:latin typeface="Aptos Display"/>
              </a:rPr>
              <a:t>2.  Comparar arquitecturas: CNN baseline → +MHSA → +balanceo.</a:t>
            </a:r>
          </a:p>
          <a:p>
            <a:pPr algn="l"/>
            <a:r>
              <a:rPr sz="950" b="0">
                <a:solidFill>
                  <a:srgbClr val="B5D3C3"/>
                </a:solidFill>
                <a:latin typeface="Aptos Display"/>
              </a:rPr>
              <a:t>3.  Validar bajo cambio de distribución (audios externos).</a:t>
            </a:r>
          </a:p>
          <a:p>
            <a:pPr algn="l"/>
            <a:r>
              <a:rPr sz="950" b="0">
                <a:solidFill>
                  <a:srgbClr val="B5D3C3"/>
                </a:solidFill>
                <a:latin typeface="Aptos Display"/>
              </a:rPr>
              <a:t>4.  Documentar decisiones metodológicas con rigor científico.</a:t>
            </a:r>
          </a:p>
          <a:p>
            <a:pPr algn="l"/>
            <a:r>
              <a:rPr sz="400" b="0">
                <a:solidFill>
                  <a:srgbClr val="B5D3C3"/>
                </a:solidFill>
                <a:latin typeface="Aptos Display"/>
              </a:rPr>
              <a:t> </a:t>
            </a:r>
          </a:p>
          <a:p>
            <a:pPr algn="l"/>
            <a:r>
              <a:rPr sz="1000" b="1">
                <a:solidFill>
                  <a:srgbClr val="F4D35E"/>
                </a:solidFill>
                <a:latin typeface="Aptos Display"/>
              </a:rPr>
              <a:t>Por qué sin preentrenamiento:</a:t>
            </a:r>
          </a:p>
          <a:p>
            <a:pPr algn="l"/>
            <a:r>
              <a:rPr sz="950" b="0">
                <a:solidFill>
                  <a:srgbClr val="B5D3C3"/>
                </a:solidFill>
                <a:latin typeface="Aptos Display"/>
              </a:rPr>
              <a:t>Modelos como YAMNet / AST se preentrenaron en AudioSet (etiquetas genéricas). Aprender desde cero sobre fauna colombiana nos fuerza a construir representaciones específicas — y a entender qué aprende el modelo realmente.</a:t>
            </a:r>
          </a:p>
        </p:txBody>
      </p:sp>
      <p:sp>
        <p:nvSpPr>
          <p:cNvPr id="10" name="Rectangle 9"/>
          <p:cNvSpPr/>
          <p:nvPr/>
        </p:nvSpPr>
        <p:spPr>
          <a:xfrm>
            <a:off x="6080760" y="987552"/>
            <a:ext cx="5650992" cy="5212080"/>
          </a:xfrm>
          <a:prstGeom prst="rect">
            <a:avLst/>
          </a:prstGeom>
          <a:solidFill>
            <a:srgbClr val="0B2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051560"/>
            <a:ext cx="5394960" cy="320040"/>
          </a:xfrm>
          <a:prstGeom prst="rect">
            <a:avLst/>
          </a:prstGeom>
          <a:noFill/>
        </p:spPr>
        <p:txBody>
          <a:bodyPr wrap="square">
            <a:spAutoFit/>
          </a:bodyPr>
          <a:lstStyle/>
          <a:p>
            <a:pPr algn="l"/>
            <a:r>
              <a:rPr sz="1100" b="1" i="0">
                <a:solidFill>
                  <a:srgbClr val="21D4D4"/>
                </a:solidFill>
                <a:latin typeface="Aptos Display"/>
              </a:rPr>
              <a:t>Antes vs. SelvaSonic-ML</a:t>
            </a:r>
          </a:p>
        </p:txBody>
      </p:sp>
      <p:graphicFrame>
        <p:nvGraphicFramePr>
          <p:cNvPr id="12" name="Table 11"/>
          <p:cNvGraphicFramePr>
            <a:graphicFrameLocks noGrp="1"/>
          </p:cNvGraphicFramePr>
          <p:nvPr/>
        </p:nvGraphicFramePr>
        <p:xfrm>
          <a:off x="6199632" y="1417320"/>
          <a:ext cx="5394958" cy="4526280"/>
        </p:xfrm>
        <a:graphic>
          <a:graphicData uri="http://schemas.openxmlformats.org/drawingml/2006/table">
            <a:tbl>
              <a:tblPr firstRow="1" bandRow="1">
                <a:tableStyleId>{5C22544A-7EE6-4342-B048-85BDC9FD1C3A}</a:tableStyleId>
              </a:tblPr>
              <a:tblGrid>
                <a:gridCol w="1618488"/>
                <a:gridCol w="1888235"/>
                <a:gridCol w="1888235"/>
              </a:tblGrid>
              <a:tr h="646611">
                <a:tc>
                  <a:txBody>
                    <a:bodyPr wrap="square"/>
                    <a:lstStyle/>
                    <a:p>
                      <a:pPr algn="ctr"/>
                      <a:r>
                        <a:rPr sz="850" b="1">
                          <a:solidFill>
                            <a:srgbClr val="21D4D4"/>
                          </a:solidFill>
                          <a:latin typeface="Aptos Display"/>
                        </a:rPr>
                        <a:t>Aspecto</a:t>
                      </a:r>
                    </a:p>
                  </a:txBody>
                  <a:tcPr>
                    <a:solidFill>
                      <a:srgbClr val="082C2C"/>
                    </a:solidFill>
                  </a:tcPr>
                </a:tc>
                <a:tc>
                  <a:txBody>
                    <a:bodyPr wrap="square"/>
                    <a:lstStyle/>
                    <a:p>
                      <a:pPr algn="ctr"/>
                      <a:r>
                        <a:rPr sz="850" b="1">
                          <a:solidFill>
                            <a:srgbClr val="21D4D4"/>
                          </a:solidFill>
                          <a:latin typeface="Aptos Display"/>
                        </a:rPr>
                        <a:t>Proyecto anterior</a:t>
                      </a:r>
                    </a:p>
                  </a:txBody>
                  <a:tcPr>
                    <a:solidFill>
                      <a:srgbClr val="082C2C"/>
                    </a:solidFill>
                  </a:tcPr>
                </a:tc>
                <a:tc>
                  <a:txBody>
                    <a:bodyPr wrap="square"/>
                    <a:lstStyle/>
                    <a:p>
                      <a:pPr algn="ctr"/>
                      <a:r>
                        <a:rPr sz="850" b="1">
                          <a:solidFill>
                            <a:srgbClr val="21D4D4"/>
                          </a:solidFill>
                          <a:latin typeface="Aptos Display"/>
                        </a:rPr>
                        <a:t>SelvaSonic-ML</a:t>
                      </a:r>
                    </a:p>
                  </a:txBody>
                  <a:tcPr>
                    <a:solidFill>
                      <a:srgbClr val="082C2C"/>
                    </a:solidFill>
                  </a:tcPr>
                </a:tc>
              </a:tr>
              <a:tr h="646611">
                <a:tc>
                  <a:txBody>
                    <a:bodyPr wrap="square"/>
                    <a:lstStyle/>
                    <a:p>
                      <a:pPr algn="ctr"/>
                      <a:r>
                        <a:rPr sz="800" b="0">
                          <a:solidFill>
                            <a:srgbClr val="B5D3C3"/>
                          </a:solidFill>
                          <a:latin typeface="Aptos Display"/>
                        </a:rPr>
                        <a:t>Modelos</a:t>
                      </a:r>
                    </a:p>
                  </a:txBody>
                  <a:tcPr>
                    <a:solidFill>
                      <a:srgbClr val="082C2C"/>
                    </a:solidFill>
                  </a:tcPr>
                </a:tc>
                <a:tc>
                  <a:txBody>
                    <a:bodyPr wrap="square"/>
                    <a:lstStyle/>
                    <a:p>
                      <a:pPr algn="ctr"/>
                      <a:r>
                        <a:rPr sz="800" b="0">
                          <a:solidFill>
                            <a:srgbClr val="B5D3C3"/>
                          </a:solidFill>
                          <a:latin typeface="Aptos Display"/>
                        </a:rPr>
                        <a:t>YAMNet, AST (pretrain.)</a:t>
                      </a:r>
                    </a:p>
                  </a:txBody>
                  <a:tcPr>
                    <a:solidFill>
                      <a:srgbClr val="082C2C"/>
                    </a:solidFill>
                  </a:tcPr>
                </a:tc>
                <a:tc>
                  <a:txBody>
                    <a:bodyPr wrap="square"/>
                    <a:lstStyle/>
                    <a:p>
                      <a:pPr algn="ctr"/>
                      <a:r>
                        <a:rPr sz="800" b="1">
                          <a:solidFill>
                            <a:srgbClr val="00100C"/>
                          </a:solidFill>
                          <a:latin typeface="Aptos Display"/>
                        </a:rPr>
                        <a:t>CNN custom desde cero</a:t>
                      </a:r>
                    </a:p>
                  </a:txBody>
                  <a:tcPr>
                    <a:solidFill>
                      <a:srgbClr val="21D4D4"/>
                    </a:solidFill>
                  </a:tcPr>
                </a:tc>
              </a:tr>
              <a:tr h="646611">
                <a:tc>
                  <a:txBody>
                    <a:bodyPr wrap="square"/>
                    <a:lstStyle/>
                    <a:p>
                      <a:pPr algn="ctr"/>
                      <a:r>
                        <a:rPr sz="800" b="0">
                          <a:solidFill>
                            <a:srgbClr val="B5D3C3"/>
                          </a:solidFill>
                          <a:latin typeface="Aptos Display"/>
                        </a:rPr>
                        <a:t>Dataset</a:t>
                      </a:r>
                    </a:p>
                  </a:txBody>
                  <a:tcPr>
                    <a:solidFill>
                      <a:srgbClr val="0B2B27"/>
                    </a:solidFill>
                  </a:tcPr>
                </a:tc>
                <a:tc>
                  <a:txBody>
                    <a:bodyPr wrap="square"/>
                    <a:lstStyle/>
                    <a:p>
                      <a:pPr algn="ctr"/>
                      <a:r>
                        <a:rPr sz="800" b="0">
                          <a:solidFill>
                            <a:srgbClr val="B5D3C3"/>
                          </a:solidFill>
                          <a:latin typeface="Aptos Display"/>
                        </a:rPr>
                        <a:t>3 audios Amazonas</a:t>
                      </a:r>
                    </a:p>
                  </a:txBody>
                  <a:tcPr>
                    <a:solidFill>
                      <a:srgbClr val="0B2B27"/>
                    </a:solidFill>
                  </a:tcPr>
                </a:tc>
                <a:tc>
                  <a:txBody>
                    <a:bodyPr wrap="square"/>
                    <a:lstStyle/>
                    <a:p>
                      <a:pPr algn="ctr"/>
                      <a:r>
                        <a:rPr sz="800" b="1">
                          <a:solidFill>
                            <a:srgbClr val="00100C"/>
                          </a:solidFill>
                          <a:latin typeface="Aptos Display"/>
                        </a:rPr>
                        <a:t>~14 K clips train</a:t>
                      </a:r>
                    </a:p>
                  </a:txBody>
                  <a:tcPr>
                    <a:solidFill>
                      <a:srgbClr val="21D4D4"/>
                    </a:solidFill>
                  </a:tcPr>
                </a:tc>
              </a:tr>
              <a:tr h="646611">
                <a:tc>
                  <a:txBody>
                    <a:bodyPr wrap="square"/>
                    <a:lstStyle/>
                    <a:p>
                      <a:pPr algn="ctr"/>
                      <a:r>
                        <a:rPr sz="800" b="0">
                          <a:solidFill>
                            <a:srgbClr val="B5D3C3"/>
                          </a:solidFill>
                          <a:latin typeface="Aptos Display"/>
                        </a:rPr>
                        <a:t>Clases</a:t>
                      </a:r>
                    </a:p>
                  </a:txBody>
                  <a:tcPr>
                    <a:solidFill>
                      <a:srgbClr val="082C2C"/>
                    </a:solidFill>
                  </a:tcPr>
                </a:tc>
                <a:tc>
                  <a:txBody>
                    <a:bodyPr wrap="square"/>
                    <a:lstStyle/>
                    <a:p>
                      <a:pPr algn="ctr"/>
                      <a:r>
                        <a:rPr sz="800" b="0">
                          <a:solidFill>
                            <a:srgbClr val="B5D3C3"/>
                          </a:solidFill>
                          <a:latin typeface="Aptos Display"/>
                        </a:rPr>
                        <a:t>AudioSet genérico</a:t>
                      </a:r>
                    </a:p>
                  </a:txBody>
                  <a:tcPr>
                    <a:solidFill>
                      <a:srgbClr val="082C2C"/>
                    </a:solidFill>
                  </a:tcPr>
                </a:tc>
                <a:tc>
                  <a:txBody>
                    <a:bodyPr wrap="square"/>
                    <a:lstStyle/>
                    <a:p>
                      <a:pPr algn="ctr"/>
                      <a:r>
                        <a:rPr sz="800" b="1">
                          <a:solidFill>
                            <a:srgbClr val="00100C"/>
                          </a:solidFill>
                          <a:latin typeface="Aptos Display"/>
                        </a:rPr>
                        <a:t>10 sp. amazónicas</a:t>
                      </a:r>
                    </a:p>
                  </a:txBody>
                  <a:tcPr>
                    <a:solidFill>
                      <a:srgbClr val="21D4D4"/>
                    </a:solidFill>
                  </a:tcPr>
                </a:tc>
              </a:tr>
              <a:tr h="646611">
                <a:tc>
                  <a:txBody>
                    <a:bodyPr wrap="square"/>
                    <a:lstStyle/>
                    <a:p>
                      <a:pPr algn="ctr"/>
                      <a:r>
                        <a:rPr sz="800" b="0">
                          <a:solidFill>
                            <a:srgbClr val="B5D3C3"/>
                          </a:solidFill>
                          <a:latin typeface="Aptos Display"/>
                        </a:rPr>
                        <a:t>Métricas</a:t>
                      </a:r>
                    </a:p>
                  </a:txBody>
                  <a:tcPr>
                    <a:solidFill>
                      <a:srgbClr val="0B2B27"/>
                    </a:solidFill>
                  </a:tcPr>
                </a:tc>
                <a:tc>
                  <a:txBody>
                    <a:bodyPr wrap="square"/>
                    <a:lstStyle/>
                    <a:p>
                      <a:pPr algn="ctr"/>
                      <a:r>
                        <a:rPr sz="800" b="0">
                          <a:solidFill>
                            <a:srgbClr val="B5D3C3"/>
                          </a:solidFill>
                          <a:latin typeface="Aptos Display"/>
                        </a:rPr>
                        <a:t>Cualitativas</a:t>
                      </a:r>
                    </a:p>
                  </a:txBody>
                  <a:tcPr>
                    <a:solidFill>
                      <a:srgbClr val="0B2B27"/>
                    </a:solidFill>
                  </a:tcPr>
                </a:tc>
                <a:tc>
                  <a:txBody>
                    <a:bodyPr wrap="square"/>
                    <a:lstStyle/>
                    <a:p>
                      <a:pPr algn="ctr"/>
                      <a:r>
                        <a:rPr sz="800" b="1">
                          <a:solidFill>
                            <a:srgbClr val="00100C"/>
                          </a:solidFill>
                          <a:latin typeface="Aptos Display"/>
                        </a:rPr>
                        <a:t>F1, AP, ECE, silhouette</a:t>
                      </a:r>
                    </a:p>
                  </a:txBody>
                  <a:tcPr>
                    <a:solidFill>
                      <a:srgbClr val="21D4D4"/>
                    </a:solidFill>
                  </a:tcPr>
                </a:tc>
              </a:tr>
              <a:tr h="646611">
                <a:tc>
                  <a:txBody>
                    <a:bodyPr wrap="square"/>
                    <a:lstStyle/>
                    <a:p>
                      <a:pPr algn="ctr"/>
                      <a:r>
                        <a:rPr sz="800" b="0">
                          <a:solidFill>
                            <a:srgbClr val="B5D3C3"/>
                          </a:solidFill>
                          <a:latin typeface="Aptos Display"/>
                        </a:rPr>
                        <a:t>Pipeline</a:t>
                      </a:r>
                    </a:p>
                  </a:txBody>
                  <a:tcPr>
                    <a:solidFill>
                      <a:srgbClr val="082C2C"/>
                    </a:solidFill>
                  </a:tcPr>
                </a:tc>
                <a:tc>
                  <a:txBody>
                    <a:bodyPr wrap="square"/>
                    <a:lstStyle/>
                    <a:p>
                      <a:pPr algn="ctr"/>
                      <a:r>
                        <a:rPr sz="800" b="0">
                          <a:solidFill>
                            <a:srgbClr val="B5D3C3"/>
                          </a:solidFill>
                          <a:latin typeface="Aptos Display"/>
                        </a:rPr>
                        <a:t>Sin estructurar</a:t>
                      </a:r>
                    </a:p>
                  </a:txBody>
                  <a:tcPr>
                    <a:solidFill>
                      <a:srgbClr val="082C2C"/>
                    </a:solidFill>
                  </a:tcPr>
                </a:tc>
                <a:tc>
                  <a:txBody>
                    <a:bodyPr wrap="square"/>
                    <a:lstStyle/>
                    <a:p>
                      <a:pPr algn="ctr"/>
                      <a:r>
                        <a:rPr sz="800" b="1">
                          <a:solidFill>
                            <a:srgbClr val="00100C"/>
                          </a:solidFill>
                          <a:latin typeface="Aptos Display"/>
                        </a:rPr>
                        <a:t>Modular, testeable</a:t>
                      </a:r>
                    </a:p>
                  </a:txBody>
                  <a:tcPr>
                    <a:solidFill>
                      <a:srgbClr val="21D4D4"/>
                    </a:solidFill>
                  </a:tcPr>
                </a:tc>
              </a:tr>
              <a:tr h="646614">
                <a:tc>
                  <a:txBody>
                    <a:bodyPr wrap="square"/>
                    <a:lstStyle/>
                    <a:p>
                      <a:pPr algn="ctr"/>
                      <a:r>
                        <a:rPr sz="800" b="0">
                          <a:solidFill>
                            <a:srgbClr val="B5D3C3"/>
                          </a:solidFill>
                          <a:latin typeface="Aptos Display"/>
                        </a:rPr>
                        <a:t>Interpretabilidad</a:t>
                      </a:r>
                    </a:p>
                  </a:txBody>
                  <a:tcPr>
                    <a:solidFill>
                      <a:srgbClr val="0B2B27"/>
                    </a:solidFill>
                  </a:tcPr>
                </a:tc>
                <a:tc>
                  <a:txBody>
                    <a:bodyPr wrap="square"/>
                    <a:lstStyle/>
                    <a:p>
                      <a:pPr algn="ctr"/>
                      <a:r>
                        <a:rPr sz="800" b="0">
                          <a:solidFill>
                            <a:srgbClr val="B5D3C3"/>
                          </a:solidFill>
                          <a:latin typeface="Aptos Display"/>
                        </a:rPr>
                        <a:t>Ninguna</a:t>
                      </a:r>
                    </a:p>
                  </a:txBody>
                  <a:tcPr>
                    <a:solidFill>
                      <a:srgbClr val="0B2B27"/>
                    </a:solidFill>
                  </a:tcPr>
                </a:tc>
                <a:tc>
                  <a:txBody>
                    <a:bodyPr wrap="square"/>
                    <a:lstStyle/>
                    <a:p>
                      <a:pPr algn="ctr"/>
                      <a:r>
                        <a:rPr sz="800" b="1">
                          <a:solidFill>
                            <a:srgbClr val="00100C"/>
                          </a:solidFill>
                          <a:latin typeface="Aptos Display"/>
                        </a:rPr>
                        <a:t>Grad-CAM + t-SNE</a:t>
                      </a:r>
                    </a:p>
                  </a:txBody>
                  <a:tcPr>
                    <a:solidFill>
                      <a:srgbClr val="21D4D4"/>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jungle_bg.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64592"/>
            <a:ext cx="11274552" cy="475488"/>
          </a:xfrm>
          <a:prstGeom prst="rect">
            <a:avLst/>
          </a:prstGeom>
          <a:noFill/>
        </p:spPr>
        <p:txBody>
          <a:bodyPr wrap="square">
            <a:spAutoFit/>
          </a:bodyPr>
          <a:lstStyle/>
          <a:p>
            <a:pPr algn="l"/>
            <a:r>
              <a:rPr sz="2100" b="1" i="0">
                <a:solidFill>
                  <a:srgbClr val="EFFCF5"/>
                </a:solidFill>
                <a:latin typeface="Aptos Display"/>
              </a:rPr>
              <a:t>3. Estructura del repositorio</a:t>
            </a:r>
          </a:p>
        </p:txBody>
      </p:sp>
      <p:sp>
        <p:nvSpPr>
          <p:cNvPr id="4" name="TextBox 3"/>
          <p:cNvSpPr txBox="1"/>
          <p:nvPr/>
        </p:nvSpPr>
        <p:spPr>
          <a:xfrm>
            <a:off x="457200" y="621792"/>
            <a:ext cx="11274552" cy="292608"/>
          </a:xfrm>
          <a:prstGeom prst="rect">
            <a:avLst/>
          </a:prstGeom>
          <a:noFill/>
        </p:spPr>
        <p:txBody>
          <a:bodyPr wrap="square">
            <a:spAutoFit/>
          </a:bodyPr>
          <a:lstStyle/>
          <a:p>
            <a:pPr algn="l"/>
            <a:r>
              <a:rPr sz="1000" b="0" i="0">
                <a:solidFill>
                  <a:srgbClr val="7EAA95"/>
                </a:solidFill>
                <a:latin typeface="Aptos Display"/>
              </a:rPr>
              <a:t>Código modular, testeable, con type hints y config centralizada</a:t>
            </a:r>
          </a:p>
        </p:txBody>
      </p:sp>
      <p:sp>
        <p:nvSpPr>
          <p:cNvPr id="5" name="TextBox 4"/>
          <p:cNvSpPr txBox="1"/>
          <p:nvPr/>
        </p:nvSpPr>
        <p:spPr>
          <a:xfrm>
            <a:off x="457200" y="6537960"/>
            <a:ext cx="8229600" cy="274320"/>
          </a:xfrm>
          <a:prstGeom prst="rect">
            <a:avLst/>
          </a:prstGeom>
          <a:noFill/>
        </p:spPr>
        <p:txBody>
          <a:bodyPr wrap="square">
            <a:spAutoFit/>
          </a:bodyPr>
          <a:lstStyle/>
          <a:p>
            <a:pPr algn="l"/>
            <a:r>
              <a:rPr sz="800" b="0" i="0">
                <a:solidFill>
                  <a:srgbClr val="7EAA95"/>
                </a:solidFill>
                <a:latin typeface="Aptos Display"/>
              </a:rPr>
              <a:t>SelvaSonic-ML · Aprendizaje Automático · UNAL Medellín</a:t>
            </a:r>
          </a:p>
        </p:txBody>
      </p:sp>
      <p:sp>
        <p:nvSpPr>
          <p:cNvPr id="6" name="TextBox 5"/>
          <p:cNvSpPr txBox="1"/>
          <p:nvPr/>
        </p:nvSpPr>
        <p:spPr>
          <a:xfrm>
            <a:off x="11247120" y="6537960"/>
            <a:ext cx="484632" cy="274320"/>
          </a:xfrm>
          <a:prstGeom prst="rect">
            <a:avLst/>
          </a:prstGeom>
          <a:noFill/>
        </p:spPr>
        <p:txBody>
          <a:bodyPr wrap="square">
            <a:spAutoFit/>
          </a:bodyPr>
          <a:lstStyle/>
          <a:p>
            <a:pPr algn="r"/>
            <a:r>
              <a:rPr sz="800" b="0" i="0">
                <a:solidFill>
                  <a:srgbClr val="7EAA95"/>
                </a:solidFill>
                <a:latin typeface="Aptos Display"/>
              </a:rPr>
              <a:t>04</a:t>
            </a:r>
          </a:p>
        </p:txBody>
      </p:sp>
      <p:sp>
        <p:nvSpPr>
          <p:cNvPr id="7" name="Rectangle 6"/>
          <p:cNvSpPr/>
          <p:nvPr/>
        </p:nvSpPr>
        <p:spPr>
          <a:xfrm>
            <a:off x="457200" y="1005840"/>
            <a:ext cx="2103120" cy="1920240"/>
          </a:xfrm>
          <a:prstGeom prst="rect">
            <a:avLst/>
          </a:prstGeom>
          <a:solidFill>
            <a:srgbClr val="0B2B27"/>
          </a:solidFill>
          <a:ln w="9525">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78992"/>
            <a:ext cx="1920240" cy="320040"/>
          </a:xfrm>
          <a:prstGeom prst="rect">
            <a:avLst/>
          </a:prstGeom>
          <a:noFill/>
        </p:spPr>
        <p:txBody>
          <a:bodyPr wrap="square">
            <a:spAutoFit/>
          </a:bodyPr>
          <a:lstStyle/>
          <a:p>
            <a:pPr algn="l"/>
            <a:r>
              <a:rPr sz="1100" b="1" i="0">
                <a:solidFill>
                  <a:srgbClr val="21D4D4"/>
                </a:solidFill>
                <a:latin typeface="Aptos Display"/>
              </a:rPr>
              <a:t>data/</a:t>
            </a:r>
          </a:p>
        </p:txBody>
      </p:sp>
      <p:sp>
        <p:nvSpPr>
          <p:cNvPr id="9" name="TextBox 8"/>
          <p:cNvSpPr txBox="1"/>
          <p:nvPr/>
        </p:nvSpPr>
        <p:spPr>
          <a:xfrm>
            <a:off x="548640" y="1426464"/>
            <a:ext cx="1920240" cy="1325880"/>
          </a:xfrm>
          <a:prstGeom prst="rect">
            <a:avLst/>
          </a:prstGeom>
          <a:noFill/>
        </p:spPr>
        <p:txBody>
          <a:bodyPr wrap="square">
            <a:spAutoFit/>
          </a:bodyPr>
          <a:lstStyle/>
          <a:p>
            <a:pPr algn="l"/>
            <a:r>
              <a:rPr sz="850" b="0" i="0">
                <a:solidFill>
                  <a:srgbClr val="B5D3C3"/>
                </a:solidFill>
                <a:latin typeface="Aptos Display"/>
              </a:rPr>
              <a:t>Xeno-canto + ESC-50
raw → processed</a:t>
            </a:r>
          </a:p>
        </p:txBody>
      </p:sp>
      <p:sp>
        <p:nvSpPr>
          <p:cNvPr id="10" name="TextBox 9"/>
          <p:cNvSpPr txBox="1"/>
          <p:nvPr/>
        </p:nvSpPr>
        <p:spPr>
          <a:xfrm>
            <a:off x="2560320" y="1737360"/>
            <a:ext cx="237744" cy="320040"/>
          </a:xfrm>
          <a:prstGeom prst="rect">
            <a:avLst/>
          </a:prstGeom>
          <a:noFill/>
        </p:spPr>
        <p:txBody>
          <a:bodyPr wrap="square">
            <a:spAutoFit/>
          </a:bodyPr>
          <a:lstStyle/>
          <a:p>
            <a:pPr algn="ctr"/>
            <a:r>
              <a:rPr sz="1600" b="0" i="0">
                <a:solidFill>
                  <a:srgbClr val="7EAA95"/>
                </a:solidFill>
                <a:latin typeface="Aptos Display"/>
              </a:rPr>
              <a:t>→</a:t>
            </a:r>
          </a:p>
        </p:txBody>
      </p:sp>
      <p:sp>
        <p:nvSpPr>
          <p:cNvPr id="11" name="Rectangle 10"/>
          <p:cNvSpPr/>
          <p:nvPr/>
        </p:nvSpPr>
        <p:spPr>
          <a:xfrm>
            <a:off x="2798064" y="1005840"/>
            <a:ext cx="2103120" cy="1920240"/>
          </a:xfrm>
          <a:prstGeom prst="rect">
            <a:avLst/>
          </a:prstGeom>
          <a:solidFill>
            <a:srgbClr val="0B2B27"/>
          </a:solidFill>
          <a:ln w="9525">
            <a:solidFill>
              <a:srgbClr val="33D1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89504" y="1078992"/>
            <a:ext cx="1920240" cy="320040"/>
          </a:xfrm>
          <a:prstGeom prst="rect">
            <a:avLst/>
          </a:prstGeom>
          <a:noFill/>
        </p:spPr>
        <p:txBody>
          <a:bodyPr wrap="square">
            <a:spAutoFit/>
          </a:bodyPr>
          <a:lstStyle/>
          <a:p>
            <a:pPr algn="l"/>
            <a:r>
              <a:rPr sz="1100" b="1" i="0">
                <a:solidFill>
                  <a:srgbClr val="33D17A"/>
                </a:solidFill>
                <a:latin typeface="Aptos Display"/>
              </a:rPr>
              <a:t>src/</a:t>
            </a:r>
          </a:p>
        </p:txBody>
      </p:sp>
      <p:sp>
        <p:nvSpPr>
          <p:cNvPr id="13" name="TextBox 12"/>
          <p:cNvSpPr txBox="1"/>
          <p:nvPr/>
        </p:nvSpPr>
        <p:spPr>
          <a:xfrm>
            <a:off x="2889504" y="1426464"/>
            <a:ext cx="1920240" cy="1325880"/>
          </a:xfrm>
          <a:prstGeom prst="rect">
            <a:avLst/>
          </a:prstGeom>
          <a:noFill/>
        </p:spPr>
        <p:txBody>
          <a:bodyPr wrap="square">
            <a:spAutoFit/>
          </a:bodyPr>
          <a:lstStyle/>
          <a:p>
            <a:pPr algn="l"/>
            <a:r>
              <a:rPr sz="850" b="0" i="0">
                <a:solidFill>
                  <a:srgbClr val="B5D3C3"/>
                </a:solidFill>
                <a:latin typeface="Aptos Display"/>
              </a:rPr>
              <a:t>audio_io · transforms
dataset · model · loss
class_weights · inference</a:t>
            </a:r>
          </a:p>
        </p:txBody>
      </p:sp>
      <p:sp>
        <p:nvSpPr>
          <p:cNvPr id="14" name="TextBox 13"/>
          <p:cNvSpPr txBox="1"/>
          <p:nvPr/>
        </p:nvSpPr>
        <p:spPr>
          <a:xfrm>
            <a:off x="4901183" y="1737360"/>
            <a:ext cx="237744" cy="320040"/>
          </a:xfrm>
          <a:prstGeom prst="rect">
            <a:avLst/>
          </a:prstGeom>
          <a:noFill/>
        </p:spPr>
        <p:txBody>
          <a:bodyPr wrap="square">
            <a:spAutoFit/>
          </a:bodyPr>
          <a:lstStyle/>
          <a:p>
            <a:pPr algn="ctr"/>
            <a:r>
              <a:rPr sz="1600" b="0" i="0">
                <a:solidFill>
                  <a:srgbClr val="7EAA95"/>
                </a:solidFill>
                <a:latin typeface="Aptos Display"/>
              </a:rPr>
              <a:t>→</a:t>
            </a:r>
          </a:p>
        </p:txBody>
      </p:sp>
      <p:sp>
        <p:nvSpPr>
          <p:cNvPr id="15" name="Rectangle 14"/>
          <p:cNvSpPr/>
          <p:nvPr/>
        </p:nvSpPr>
        <p:spPr>
          <a:xfrm>
            <a:off x="5138928" y="1005840"/>
            <a:ext cx="2103120" cy="1920240"/>
          </a:xfrm>
          <a:prstGeom prst="rect">
            <a:avLst/>
          </a:prstGeom>
          <a:solidFill>
            <a:srgbClr val="0B2B27"/>
          </a:solidFill>
          <a:ln w="9525">
            <a:solidFill>
              <a:srgbClr val="F4D3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30368" y="1078992"/>
            <a:ext cx="1920240" cy="320040"/>
          </a:xfrm>
          <a:prstGeom prst="rect">
            <a:avLst/>
          </a:prstGeom>
          <a:noFill/>
        </p:spPr>
        <p:txBody>
          <a:bodyPr wrap="square">
            <a:spAutoFit/>
          </a:bodyPr>
          <a:lstStyle/>
          <a:p>
            <a:pPr algn="l"/>
            <a:r>
              <a:rPr sz="1100" b="1" i="0">
                <a:solidFill>
                  <a:srgbClr val="F4D35E"/>
                </a:solidFill>
                <a:latin typeface="Aptos Display"/>
              </a:rPr>
              <a:t>scripts/</a:t>
            </a:r>
          </a:p>
        </p:txBody>
      </p:sp>
      <p:sp>
        <p:nvSpPr>
          <p:cNvPr id="17" name="TextBox 16"/>
          <p:cNvSpPr txBox="1"/>
          <p:nvPr/>
        </p:nvSpPr>
        <p:spPr>
          <a:xfrm>
            <a:off x="5230368" y="1426464"/>
            <a:ext cx="1920240" cy="1325880"/>
          </a:xfrm>
          <a:prstGeom prst="rect">
            <a:avLst/>
          </a:prstGeom>
          <a:noFill/>
        </p:spPr>
        <p:txBody>
          <a:bodyPr wrap="square">
            <a:spAutoFit/>
          </a:bodyPr>
          <a:lstStyle/>
          <a:p>
            <a:pPr algn="l"/>
            <a:r>
              <a:rPr sz="850" b="0" i="0">
                <a:solidFill>
                  <a:srgbClr val="B5D3C3"/>
                </a:solidFill>
                <a:latin typeface="Aptos Display"/>
              </a:rPr>
              <a:t>calcular_class_weights
train · evaluate</a:t>
            </a:r>
          </a:p>
        </p:txBody>
      </p:sp>
      <p:sp>
        <p:nvSpPr>
          <p:cNvPr id="18" name="TextBox 17"/>
          <p:cNvSpPr txBox="1"/>
          <p:nvPr/>
        </p:nvSpPr>
        <p:spPr>
          <a:xfrm>
            <a:off x="7242048" y="1737360"/>
            <a:ext cx="237744" cy="320040"/>
          </a:xfrm>
          <a:prstGeom prst="rect">
            <a:avLst/>
          </a:prstGeom>
          <a:noFill/>
        </p:spPr>
        <p:txBody>
          <a:bodyPr wrap="square">
            <a:spAutoFit/>
          </a:bodyPr>
          <a:lstStyle/>
          <a:p>
            <a:pPr algn="ctr"/>
            <a:r>
              <a:rPr sz="1600" b="0" i="0">
                <a:solidFill>
                  <a:srgbClr val="7EAA95"/>
                </a:solidFill>
                <a:latin typeface="Aptos Display"/>
              </a:rPr>
              <a:t>→</a:t>
            </a:r>
          </a:p>
        </p:txBody>
      </p:sp>
      <p:sp>
        <p:nvSpPr>
          <p:cNvPr id="19" name="Rectangle 18"/>
          <p:cNvSpPr/>
          <p:nvPr/>
        </p:nvSpPr>
        <p:spPr>
          <a:xfrm>
            <a:off x="7479792" y="1005840"/>
            <a:ext cx="2103120" cy="1920240"/>
          </a:xfrm>
          <a:prstGeom prst="rect">
            <a:avLst/>
          </a:prstGeom>
          <a:solidFill>
            <a:srgbClr val="0B2B27"/>
          </a:solidFill>
          <a:ln w="9525">
            <a:solidFill>
              <a:srgbClr val="FF9F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1078992"/>
            <a:ext cx="1920240" cy="320040"/>
          </a:xfrm>
          <a:prstGeom prst="rect">
            <a:avLst/>
          </a:prstGeom>
          <a:noFill/>
        </p:spPr>
        <p:txBody>
          <a:bodyPr wrap="square">
            <a:spAutoFit/>
          </a:bodyPr>
          <a:lstStyle/>
          <a:p>
            <a:pPr algn="l"/>
            <a:r>
              <a:rPr sz="1100" b="1" i="0">
                <a:solidFill>
                  <a:srgbClr val="FF9F1C"/>
                </a:solidFill>
                <a:latin typeface="Aptos Display"/>
              </a:rPr>
              <a:t>notebooks/</a:t>
            </a:r>
          </a:p>
        </p:txBody>
      </p:sp>
      <p:sp>
        <p:nvSpPr>
          <p:cNvPr id="21" name="TextBox 20"/>
          <p:cNvSpPr txBox="1"/>
          <p:nvPr/>
        </p:nvSpPr>
        <p:spPr>
          <a:xfrm>
            <a:off x="7571231" y="1426464"/>
            <a:ext cx="1920240" cy="1325880"/>
          </a:xfrm>
          <a:prstGeom prst="rect">
            <a:avLst/>
          </a:prstGeom>
          <a:noFill/>
        </p:spPr>
        <p:txBody>
          <a:bodyPr wrap="square">
            <a:spAutoFit/>
          </a:bodyPr>
          <a:lstStyle/>
          <a:p>
            <a:pPr algn="l"/>
            <a:r>
              <a:rPr sz="850" b="0" i="0">
                <a:solidFill>
                  <a:srgbClr val="B5D3C3"/>
                </a:solidFill>
                <a:latin typeface="Aptos Display"/>
              </a:rPr>
              <a:t>EDA → baseline → attention
→ comparativa → Grad-CAM
→ embeddings → demo</a:t>
            </a:r>
          </a:p>
        </p:txBody>
      </p:sp>
      <p:sp>
        <p:nvSpPr>
          <p:cNvPr id="22" name="TextBox 21"/>
          <p:cNvSpPr txBox="1"/>
          <p:nvPr/>
        </p:nvSpPr>
        <p:spPr>
          <a:xfrm>
            <a:off x="9582912" y="1737360"/>
            <a:ext cx="237744" cy="320040"/>
          </a:xfrm>
          <a:prstGeom prst="rect">
            <a:avLst/>
          </a:prstGeom>
          <a:noFill/>
        </p:spPr>
        <p:txBody>
          <a:bodyPr wrap="square">
            <a:spAutoFit/>
          </a:bodyPr>
          <a:lstStyle/>
          <a:p>
            <a:pPr algn="ctr"/>
            <a:r>
              <a:rPr sz="1600" b="0" i="0">
                <a:solidFill>
                  <a:srgbClr val="7EAA95"/>
                </a:solidFill>
                <a:latin typeface="Aptos Display"/>
              </a:rPr>
              <a:t>→</a:t>
            </a:r>
          </a:p>
        </p:txBody>
      </p:sp>
      <p:sp>
        <p:nvSpPr>
          <p:cNvPr id="23" name="Rectangle 22"/>
          <p:cNvSpPr/>
          <p:nvPr/>
        </p:nvSpPr>
        <p:spPr>
          <a:xfrm>
            <a:off x="9820656" y="1005840"/>
            <a:ext cx="2103120" cy="1920240"/>
          </a:xfrm>
          <a:prstGeom prst="rect">
            <a:avLst/>
          </a:prstGeom>
          <a:solidFill>
            <a:srgbClr val="0B2B27"/>
          </a:solidFill>
          <a:ln w="9525">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12096" y="1078992"/>
            <a:ext cx="1920240" cy="320040"/>
          </a:xfrm>
          <a:prstGeom prst="rect">
            <a:avLst/>
          </a:prstGeom>
          <a:noFill/>
        </p:spPr>
        <p:txBody>
          <a:bodyPr wrap="square">
            <a:spAutoFit/>
          </a:bodyPr>
          <a:lstStyle/>
          <a:p>
            <a:pPr algn="l"/>
            <a:r>
              <a:rPr sz="1100" b="1" i="0">
                <a:solidFill>
                  <a:srgbClr val="21D4D4"/>
                </a:solidFill>
                <a:latin typeface="Aptos Display"/>
              </a:rPr>
              <a:t>results/</a:t>
            </a:r>
          </a:p>
        </p:txBody>
      </p:sp>
      <p:sp>
        <p:nvSpPr>
          <p:cNvPr id="25" name="TextBox 24"/>
          <p:cNvSpPr txBox="1"/>
          <p:nvPr/>
        </p:nvSpPr>
        <p:spPr>
          <a:xfrm>
            <a:off x="9912096" y="1426464"/>
            <a:ext cx="1920240" cy="1325880"/>
          </a:xfrm>
          <a:prstGeom prst="rect">
            <a:avLst/>
          </a:prstGeom>
          <a:noFill/>
        </p:spPr>
        <p:txBody>
          <a:bodyPr wrap="square">
            <a:spAutoFit/>
          </a:bodyPr>
          <a:lstStyle/>
          <a:p>
            <a:pPr algn="l"/>
            <a:r>
              <a:rPr sz="850" b="0" i="0">
                <a:solidFill>
                  <a:srgbClr val="B5D3C3"/>
                </a:solidFill>
                <a:latin typeface="Aptos Display"/>
              </a:rPr>
              <a:t>runs/ · comparativa/
gradcam/ · embeddings/
test_externos/</a:t>
            </a:r>
          </a:p>
        </p:txBody>
      </p:sp>
      <p:sp>
        <p:nvSpPr>
          <p:cNvPr id="26" name="Rectangle 25"/>
          <p:cNvSpPr/>
          <p:nvPr/>
        </p:nvSpPr>
        <p:spPr>
          <a:xfrm>
            <a:off x="457200" y="3063240"/>
            <a:ext cx="11274552" cy="1051560"/>
          </a:xfrm>
          <a:prstGeom prst="rect">
            <a:avLst/>
          </a:prstGeom>
          <a:solidFill>
            <a:srgbClr val="0F3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3127248"/>
            <a:ext cx="3657600" cy="274320"/>
          </a:xfrm>
          <a:prstGeom prst="rect">
            <a:avLst/>
          </a:prstGeom>
          <a:noFill/>
        </p:spPr>
        <p:txBody>
          <a:bodyPr wrap="square">
            <a:spAutoFit/>
          </a:bodyPr>
          <a:lstStyle/>
          <a:p>
            <a:pPr algn="l"/>
            <a:r>
              <a:rPr sz="1000" b="1" i="0">
                <a:solidFill>
                  <a:srgbClr val="21D4D4"/>
                </a:solidFill>
                <a:latin typeface="Aptos Display"/>
              </a:rPr>
              <a:t>Decisiones de diseño:</a:t>
            </a:r>
          </a:p>
        </p:txBody>
      </p:sp>
      <p:sp>
        <p:nvSpPr>
          <p:cNvPr id="28" name="TextBox 27"/>
          <p:cNvSpPr txBox="1"/>
          <p:nvPr/>
        </p:nvSpPr>
        <p:spPr>
          <a:xfrm>
            <a:off x="594360" y="3419856"/>
            <a:ext cx="10972800" cy="1463040"/>
          </a:xfrm>
          <a:prstGeom prst="rect">
            <a:avLst/>
          </a:prstGeom>
          <a:noFill/>
        </p:spPr>
        <p:txBody>
          <a:bodyPr wrap="square">
            <a:spAutoFit/>
          </a:bodyPr>
          <a:lstStyle/>
          <a:p>
            <a:pPr algn="l"/>
            <a:r>
              <a:rPr sz="950" b="0">
                <a:solidFill>
                  <a:srgbClr val="B5D3C3"/>
                </a:solidFill>
                <a:latin typeface="Aptos Display"/>
              </a:rPr>
              <a:t>·  Config centralizada (src/config.py) — único lugar para todos los hiperparámetros.</a:t>
            </a:r>
          </a:p>
          <a:p>
            <a:pPr algn="l"/>
            <a:r>
              <a:rPr sz="950" b="0">
                <a:solidFill>
                  <a:srgbClr val="B5D3C3"/>
                </a:solidFill>
                <a:latin typeface="Aptos Display"/>
              </a:rPr>
              <a:t>·  Semilla 42 fija en todos los runs — splits idénticos para comparación justa.</a:t>
            </a:r>
          </a:p>
          <a:p>
            <a:pPr algn="l"/>
            <a:r>
              <a:rPr sz="950" b="0">
                <a:solidFill>
                  <a:srgbClr val="B5D3C3"/>
                </a:solidFill>
                <a:latin typeface="Aptos Display"/>
              </a:rPr>
              <a:t>·  Early stopping con patience configurable — detecta convergencia automáticamente.</a:t>
            </a:r>
          </a:p>
          <a:p>
            <a:pPr algn="l"/>
            <a:r>
              <a:rPr sz="950" b="0">
                <a:solidFill>
                  <a:srgbClr val="B5D3C3"/>
                </a:solidFill>
                <a:latin typeface="Aptos Display"/>
              </a:rPr>
              <a:t>·  Logger TensorBoard por epoch — curvas reproducibles fuera de Colab.</a:t>
            </a:r>
          </a:p>
        </p:txBody>
      </p:sp>
      <p:sp>
        <p:nvSpPr>
          <p:cNvPr id="29" name="Rectangle 28"/>
          <p:cNvSpPr/>
          <p:nvPr/>
        </p:nvSpPr>
        <p:spPr>
          <a:xfrm>
            <a:off x="457200" y="4251960"/>
            <a:ext cx="11274552" cy="1234440"/>
          </a:xfrm>
          <a:prstGeom prst="rect">
            <a:avLst/>
          </a:prstGeom>
          <a:solidFill>
            <a:srgbClr val="0B2B27"/>
          </a:solidFill>
          <a:ln w="5080">
            <a:solidFill>
              <a:srgbClr val="7EAA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4297680"/>
            <a:ext cx="3657600" cy="274320"/>
          </a:xfrm>
          <a:prstGeom prst="rect">
            <a:avLst/>
          </a:prstGeom>
          <a:noFill/>
        </p:spPr>
        <p:txBody>
          <a:bodyPr wrap="square">
            <a:spAutoFit/>
          </a:bodyPr>
          <a:lstStyle/>
          <a:p>
            <a:pPr algn="l"/>
            <a:r>
              <a:rPr sz="1000" b="1" i="0">
                <a:solidFill>
                  <a:srgbClr val="F4D35E"/>
                </a:solidFill>
                <a:latin typeface="Aptos Display"/>
              </a:rPr>
              <a:t>Módulos clave — src/</a:t>
            </a:r>
          </a:p>
        </p:txBody>
      </p:sp>
      <p:sp>
        <p:nvSpPr>
          <p:cNvPr id="31" name="TextBox 30"/>
          <p:cNvSpPr txBox="1"/>
          <p:nvPr/>
        </p:nvSpPr>
        <p:spPr>
          <a:xfrm>
            <a:off x="594360" y="4590288"/>
            <a:ext cx="10972800" cy="822960"/>
          </a:xfrm>
          <a:prstGeom prst="rect">
            <a:avLst/>
          </a:prstGeom>
          <a:noFill/>
        </p:spPr>
        <p:txBody>
          <a:bodyPr wrap="square">
            <a:spAutoFit/>
          </a:bodyPr>
          <a:lstStyle/>
          <a:p>
            <a:pPr algn="l"/>
            <a:r>
              <a:rPr sz="950" b="0" i="0">
                <a:solidFill>
                  <a:srgbClr val="B5D3C3"/>
                </a:solidFill>
                <a:latin typeface="Aptos Display"/>
              </a:rPr>
              <a:t>model.py (SelvaSonicCNN / CNNAttention)  ·  loss.py (CrossEntropy + class_weights + label_smoothing)  ·  class_weights.py (cómputo de pesos inversos)  ·  transforms.py (Mel-espectrogramas)  ·  inference.py (pipeline de inferencia con umbral de confianza)  ·  logger.py (TensorBoard)</a:t>
            </a:r>
          </a:p>
        </p:txBody>
      </p:sp>
      <p:sp>
        <p:nvSpPr>
          <p:cNvPr id="32" name="TextBox 31"/>
          <p:cNvSpPr txBox="1"/>
          <p:nvPr/>
        </p:nvSpPr>
        <p:spPr>
          <a:xfrm>
            <a:off x="457200" y="6126480"/>
            <a:ext cx="11274552" cy="256032"/>
          </a:xfrm>
          <a:prstGeom prst="rect">
            <a:avLst/>
          </a:prstGeom>
          <a:noFill/>
        </p:spPr>
        <p:txBody>
          <a:bodyPr wrap="square">
            <a:spAutoFit/>
          </a:bodyPr>
          <a:lstStyle/>
          <a:p>
            <a:pPr algn="l"/>
            <a:r>
              <a:rPr sz="800" b="0" i="0">
                <a:solidFill>
                  <a:srgbClr val="7EAA95"/>
                </a:solidFill>
                <a:latin typeface="Aptos Display"/>
              </a:rPr>
              <a:t>Fuente: github.com/LauraRuizA09/SelvaSonic-ML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jungle_bg.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64592"/>
            <a:ext cx="11274552" cy="475488"/>
          </a:xfrm>
          <a:prstGeom prst="rect">
            <a:avLst/>
          </a:prstGeom>
          <a:noFill/>
        </p:spPr>
        <p:txBody>
          <a:bodyPr wrap="square">
            <a:spAutoFit/>
          </a:bodyPr>
          <a:lstStyle/>
          <a:p>
            <a:pPr algn="l"/>
            <a:r>
              <a:rPr sz="2100" b="1" i="0">
                <a:solidFill>
                  <a:srgbClr val="EFFCF5"/>
                </a:solidFill>
                <a:latin typeface="Aptos Display"/>
              </a:rPr>
              <a:t>4. Dataset: 10 especies amazónicas + clase no_ave</a:t>
            </a:r>
          </a:p>
        </p:txBody>
      </p:sp>
      <p:sp>
        <p:nvSpPr>
          <p:cNvPr id="4" name="TextBox 3"/>
          <p:cNvSpPr txBox="1"/>
          <p:nvPr/>
        </p:nvSpPr>
        <p:spPr>
          <a:xfrm>
            <a:off x="457200" y="621792"/>
            <a:ext cx="11274552" cy="292608"/>
          </a:xfrm>
          <a:prstGeom prst="rect">
            <a:avLst/>
          </a:prstGeom>
          <a:noFill/>
        </p:spPr>
        <p:txBody>
          <a:bodyPr wrap="square">
            <a:spAutoFit/>
          </a:bodyPr>
          <a:lstStyle/>
          <a:p>
            <a:pPr algn="l"/>
            <a:r>
              <a:rPr sz="1000" b="0" i="0">
                <a:solidFill>
                  <a:srgbClr val="7EAA95"/>
                </a:solidFill>
                <a:latin typeface="Aptos Display"/>
              </a:rPr>
              <a:t>Diseño con diversidad taxonómica (8 familias) · reto intra-género (2 Crypturellus)</a:t>
            </a:r>
          </a:p>
        </p:txBody>
      </p:sp>
      <p:sp>
        <p:nvSpPr>
          <p:cNvPr id="5" name="TextBox 4"/>
          <p:cNvSpPr txBox="1"/>
          <p:nvPr/>
        </p:nvSpPr>
        <p:spPr>
          <a:xfrm>
            <a:off x="457200" y="6537960"/>
            <a:ext cx="8229600" cy="274320"/>
          </a:xfrm>
          <a:prstGeom prst="rect">
            <a:avLst/>
          </a:prstGeom>
          <a:noFill/>
        </p:spPr>
        <p:txBody>
          <a:bodyPr wrap="square">
            <a:spAutoFit/>
          </a:bodyPr>
          <a:lstStyle/>
          <a:p>
            <a:pPr algn="l"/>
            <a:r>
              <a:rPr sz="800" b="0" i="0">
                <a:solidFill>
                  <a:srgbClr val="7EAA95"/>
                </a:solidFill>
                <a:latin typeface="Aptos Display"/>
              </a:rPr>
              <a:t>SelvaSonic-ML · Aprendizaje Automático · UNAL Medellín</a:t>
            </a:r>
          </a:p>
        </p:txBody>
      </p:sp>
      <p:sp>
        <p:nvSpPr>
          <p:cNvPr id="6" name="TextBox 5"/>
          <p:cNvSpPr txBox="1"/>
          <p:nvPr/>
        </p:nvSpPr>
        <p:spPr>
          <a:xfrm>
            <a:off x="11247120" y="6537960"/>
            <a:ext cx="484632" cy="274320"/>
          </a:xfrm>
          <a:prstGeom prst="rect">
            <a:avLst/>
          </a:prstGeom>
          <a:noFill/>
        </p:spPr>
        <p:txBody>
          <a:bodyPr wrap="square">
            <a:spAutoFit/>
          </a:bodyPr>
          <a:lstStyle/>
          <a:p>
            <a:pPr algn="r"/>
            <a:r>
              <a:rPr sz="800" b="0" i="0">
                <a:solidFill>
                  <a:srgbClr val="7EAA95"/>
                </a:solidFill>
                <a:latin typeface="Aptos Display"/>
              </a:rPr>
              <a:t>05</a:t>
            </a:r>
          </a:p>
        </p:txBody>
      </p:sp>
      <p:graphicFrame>
        <p:nvGraphicFramePr>
          <p:cNvPr id="7" name="Table 6"/>
          <p:cNvGraphicFramePr>
            <a:graphicFrameLocks noGrp="1"/>
          </p:cNvGraphicFramePr>
          <p:nvPr/>
        </p:nvGraphicFramePr>
        <p:xfrm>
          <a:off x="457200" y="987552"/>
          <a:ext cx="9019639" cy="4983480"/>
        </p:xfrm>
        <a:graphic>
          <a:graphicData uri="http://schemas.openxmlformats.org/drawingml/2006/table">
            <a:tbl>
              <a:tblPr firstRow="1" bandRow="1">
                <a:tableStyleId>{5C22544A-7EE6-4342-B048-85BDC9FD1C3A}</a:tableStyleId>
              </a:tblPr>
              <a:tblGrid>
                <a:gridCol w="507354"/>
                <a:gridCol w="3044129"/>
                <a:gridCol w="1803928"/>
                <a:gridCol w="1352946"/>
                <a:gridCol w="1352946"/>
                <a:gridCol w="958336"/>
              </a:tblGrid>
              <a:tr h="415290">
                <a:tc>
                  <a:txBody>
                    <a:bodyPr wrap="square"/>
                    <a:lstStyle/>
                    <a:p>
                      <a:pPr algn="ctr"/>
                      <a:r>
                        <a:rPr sz="900" b="1">
                          <a:solidFill>
                            <a:srgbClr val="21D4D4"/>
                          </a:solidFill>
                          <a:latin typeface="Aptos Display"/>
                        </a:rPr>
                        <a:t>#</a:t>
                      </a:r>
                    </a:p>
                  </a:txBody>
                  <a:tcPr>
                    <a:solidFill>
                      <a:srgbClr val="082C2C"/>
                    </a:solidFill>
                  </a:tcPr>
                </a:tc>
                <a:tc>
                  <a:txBody>
                    <a:bodyPr wrap="square"/>
                    <a:lstStyle/>
                    <a:p>
                      <a:pPr algn="ctr"/>
                      <a:r>
                        <a:rPr sz="900" b="1">
                          <a:solidFill>
                            <a:srgbClr val="21D4D4"/>
                          </a:solidFill>
                          <a:latin typeface="Aptos Display"/>
                        </a:rPr>
                        <a:t>Especie</a:t>
                      </a:r>
                    </a:p>
                  </a:txBody>
                  <a:tcPr>
                    <a:solidFill>
                      <a:srgbClr val="082C2C"/>
                    </a:solidFill>
                  </a:tcPr>
                </a:tc>
                <a:tc>
                  <a:txBody>
                    <a:bodyPr wrap="square"/>
                    <a:lstStyle/>
                    <a:p>
                      <a:pPr algn="ctr"/>
                      <a:r>
                        <a:rPr sz="900" b="1">
                          <a:solidFill>
                            <a:srgbClr val="21D4D4"/>
                          </a:solidFill>
                          <a:latin typeface="Aptos Display"/>
                        </a:rPr>
                        <a:t>Familia</a:t>
                      </a:r>
                    </a:p>
                  </a:txBody>
                  <a:tcPr>
                    <a:solidFill>
                      <a:srgbClr val="082C2C"/>
                    </a:solidFill>
                  </a:tcPr>
                </a:tc>
                <a:tc>
                  <a:txBody>
                    <a:bodyPr wrap="square"/>
                    <a:lstStyle/>
                    <a:p>
                      <a:pPr algn="ctr"/>
                      <a:r>
                        <a:rPr sz="900" b="1">
                          <a:solidFill>
                            <a:srgbClr val="21D4D4"/>
                          </a:solidFill>
                          <a:latin typeface="Aptos Display"/>
                        </a:rPr>
                        <a:t>Grabaciones</a:t>
                      </a:r>
                    </a:p>
                    <a:p>
                      <a:r>
                        <a:t>(XC)</a:t>
                      </a:r>
                    </a:p>
                  </a:txBody>
                  <a:tcPr>
                    <a:solidFill>
                      <a:srgbClr val="082C2C"/>
                    </a:solidFill>
                  </a:tcPr>
                </a:tc>
                <a:tc>
                  <a:txBody>
                    <a:bodyPr wrap="square"/>
                    <a:lstStyle/>
                    <a:p>
                      <a:pPr algn="ctr"/>
                      <a:r>
                        <a:rPr sz="900" b="1">
                          <a:solidFill>
                            <a:srgbClr val="21D4D4"/>
                          </a:solidFill>
                          <a:latin typeface="Aptos Display"/>
                        </a:rPr>
                        <a:t>Clips train</a:t>
                      </a:r>
                    </a:p>
                  </a:txBody>
                  <a:tcPr>
                    <a:solidFill>
                      <a:srgbClr val="082C2C"/>
                    </a:solidFill>
                  </a:tcPr>
                </a:tc>
                <a:tc>
                  <a:txBody>
                    <a:bodyPr wrap="square"/>
                    <a:lstStyle/>
                    <a:p>
                      <a:pPr algn="ctr"/>
                      <a:r>
                        <a:rPr sz="900" b="1">
                          <a:solidFill>
                            <a:srgbClr val="21D4D4"/>
                          </a:solidFill>
                          <a:latin typeface="Aptos Display"/>
                        </a:rPr>
                        <a:t>Weight</a:t>
                      </a:r>
                    </a:p>
                  </a:txBody>
                  <a:tcPr>
                    <a:solidFill>
                      <a:srgbClr val="082C2C"/>
                    </a:solidFill>
                  </a:tcPr>
                </a:tc>
              </a:tr>
              <a:tr h="415290">
                <a:tc>
                  <a:txBody>
                    <a:bodyPr wrap="square"/>
                    <a:lstStyle/>
                    <a:p>
                      <a:pPr algn="ctr"/>
                      <a:r>
                        <a:rPr sz="850" b="0">
                          <a:solidFill>
                            <a:srgbClr val="B5D3C3"/>
                          </a:solidFill>
                          <a:latin typeface="Aptos Display"/>
                        </a:rPr>
                        <a:t>1</a:t>
                      </a:r>
                    </a:p>
                  </a:txBody>
                  <a:tcPr>
                    <a:solidFill>
                      <a:srgbClr val="0F302B"/>
                    </a:solidFill>
                  </a:tcPr>
                </a:tc>
                <a:tc>
                  <a:txBody>
                    <a:bodyPr wrap="square"/>
                    <a:lstStyle/>
                    <a:p>
                      <a:pPr algn="ctr"/>
                      <a:r>
                        <a:rPr sz="850" b="0">
                          <a:solidFill>
                            <a:srgbClr val="B5D3C3"/>
                          </a:solidFill>
                          <a:latin typeface="Aptos Display"/>
                        </a:rPr>
                        <a:t>Trogon viridis</a:t>
                      </a:r>
                    </a:p>
                  </a:txBody>
                  <a:tcPr>
                    <a:solidFill>
                      <a:srgbClr val="0F302B"/>
                    </a:solidFill>
                  </a:tcPr>
                </a:tc>
                <a:tc>
                  <a:txBody>
                    <a:bodyPr wrap="square"/>
                    <a:lstStyle/>
                    <a:p>
                      <a:pPr algn="ctr"/>
                      <a:r>
                        <a:rPr sz="850" b="0">
                          <a:solidFill>
                            <a:srgbClr val="B5D3C3"/>
                          </a:solidFill>
                          <a:latin typeface="Aptos Display"/>
                        </a:rPr>
                        <a:t>Trogonidae</a:t>
                      </a:r>
                    </a:p>
                  </a:txBody>
                  <a:tcPr>
                    <a:solidFill>
                      <a:srgbClr val="0F302B"/>
                    </a:solidFill>
                  </a:tcPr>
                </a:tc>
                <a:tc>
                  <a:txBody>
                    <a:bodyPr wrap="square"/>
                    <a:lstStyle/>
                    <a:p>
                      <a:pPr algn="ctr"/>
                      <a:r>
                        <a:rPr sz="850" b="0">
                          <a:solidFill>
                            <a:srgbClr val="B5D3C3"/>
                          </a:solidFill>
                          <a:latin typeface="Aptos Display"/>
                        </a:rPr>
                        <a:t>79</a:t>
                      </a:r>
                    </a:p>
                  </a:txBody>
                  <a:tcPr>
                    <a:solidFill>
                      <a:srgbClr val="0F302B"/>
                    </a:solidFill>
                  </a:tcPr>
                </a:tc>
                <a:tc>
                  <a:txBody>
                    <a:bodyPr wrap="square"/>
                    <a:lstStyle/>
                    <a:p>
                      <a:pPr algn="ctr"/>
                      <a:r>
                        <a:rPr sz="850" b="0">
                          <a:solidFill>
                            <a:srgbClr val="B5D3C3"/>
                          </a:solidFill>
                          <a:latin typeface="Aptos Display"/>
                        </a:rPr>
                        <a:t>2,784</a:t>
                      </a:r>
                    </a:p>
                  </a:txBody>
                  <a:tcPr>
                    <a:solidFill>
                      <a:srgbClr val="0F302B"/>
                    </a:solidFill>
                  </a:tcPr>
                </a:tc>
                <a:tc>
                  <a:txBody>
                    <a:bodyPr wrap="square"/>
                    <a:lstStyle/>
                    <a:p>
                      <a:pPr algn="ctr"/>
                      <a:r>
                        <a:rPr sz="850" b="0">
                          <a:solidFill>
                            <a:srgbClr val="B5D3C3"/>
                          </a:solidFill>
                          <a:latin typeface="Aptos Display"/>
                        </a:rPr>
                        <a:t>0.4693</a:t>
                      </a:r>
                    </a:p>
                  </a:txBody>
                  <a:tcPr>
                    <a:solidFill>
                      <a:srgbClr val="0F302B"/>
                    </a:solidFill>
                  </a:tcPr>
                </a:tc>
              </a:tr>
              <a:tr h="415290">
                <a:tc>
                  <a:txBody>
                    <a:bodyPr wrap="square"/>
                    <a:lstStyle/>
                    <a:p>
                      <a:pPr algn="ctr"/>
                      <a:r>
                        <a:rPr sz="850" b="0">
                          <a:solidFill>
                            <a:srgbClr val="B5D3C3"/>
                          </a:solidFill>
                          <a:latin typeface="Aptos Display"/>
                        </a:rPr>
                        <a:t>2</a:t>
                      </a:r>
                    </a:p>
                  </a:txBody>
                  <a:tcPr>
                    <a:solidFill>
                      <a:srgbClr val="00100C"/>
                    </a:solidFill>
                  </a:tcPr>
                </a:tc>
                <a:tc>
                  <a:txBody>
                    <a:bodyPr wrap="square"/>
                    <a:lstStyle/>
                    <a:p>
                      <a:pPr algn="ctr"/>
                      <a:r>
                        <a:rPr sz="850" b="0">
                          <a:solidFill>
                            <a:srgbClr val="B5D3C3"/>
                          </a:solidFill>
                          <a:latin typeface="Aptos Display"/>
                        </a:rPr>
                        <a:t>Crypturellus cinereus</a:t>
                      </a:r>
                    </a:p>
                  </a:txBody>
                  <a:tcPr>
                    <a:solidFill>
                      <a:srgbClr val="00100C"/>
                    </a:solidFill>
                  </a:tcPr>
                </a:tc>
                <a:tc>
                  <a:txBody>
                    <a:bodyPr wrap="square"/>
                    <a:lstStyle/>
                    <a:p>
                      <a:pPr algn="ctr"/>
                      <a:r>
                        <a:rPr sz="850" b="0">
                          <a:solidFill>
                            <a:srgbClr val="B5D3C3"/>
                          </a:solidFill>
                          <a:latin typeface="Aptos Display"/>
                        </a:rPr>
                        <a:t>Tinamidae</a:t>
                      </a:r>
                    </a:p>
                  </a:txBody>
                  <a:tcPr>
                    <a:solidFill>
                      <a:srgbClr val="00100C"/>
                    </a:solidFill>
                  </a:tcPr>
                </a:tc>
                <a:tc>
                  <a:txBody>
                    <a:bodyPr wrap="square"/>
                    <a:lstStyle/>
                    <a:p>
                      <a:pPr algn="ctr"/>
                      <a:r>
                        <a:rPr sz="850" b="0">
                          <a:solidFill>
                            <a:srgbClr val="B5D3C3"/>
                          </a:solidFill>
                          <a:latin typeface="Aptos Display"/>
                        </a:rPr>
                        <a:t>48</a:t>
                      </a:r>
                    </a:p>
                  </a:txBody>
                  <a:tcPr>
                    <a:solidFill>
                      <a:srgbClr val="00100C"/>
                    </a:solidFill>
                  </a:tcPr>
                </a:tc>
                <a:tc>
                  <a:txBody>
                    <a:bodyPr wrap="square"/>
                    <a:lstStyle/>
                    <a:p>
                      <a:pPr algn="ctr"/>
                      <a:r>
                        <a:rPr sz="850" b="0">
                          <a:solidFill>
                            <a:srgbClr val="B5D3C3"/>
                          </a:solidFill>
                          <a:latin typeface="Aptos Display"/>
                        </a:rPr>
                        <a:t>2,656</a:t>
                      </a:r>
                    </a:p>
                  </a:txBody>
                  <a:tcPr>
                    <a:solidFill>
                      <a:srgbClr val="00100C"/>
                    </a:solidFill>
                  </a:tcPr>
                </a:tc>
                <a:tc>
                  <a:txBody>
                    <a:bodyPr wrap="square"/>
                    <a:lstStyle/>
                    <a:p>
                      <a:pPr algn="ctr"/>
                      <a:r>
                        <a:rPr sz="850" b="0">
                          <a:solidFill>
                            <a:srgbClr val="B5D3C3"/>
                          </a:solidFill>
                          <a:latin typeface="Aptos Display"/>
                        </a:rPr>
                        <a:t>0.4919</a:t>
                      </a:r>
                    </a:p>
                  </a:txBody>
                  <a:tcPr>
                    <a:solidFill>
                      <a:srgbClr val="00100C"/>
                    </a:solidFill>
                  </a:tcPr>
                </a:tc>
              </a:tr>
              <a:tr h="415290">
                <a:tc>
                  <a:txBody>
                    <a:bodyPr wrap="square"/>
                    <a:lstStyle/>
                    <a:p>
                      <a:pPr algn="ctr"/>
                      <a:r>
                        <a:rPr sz="850" b="0">
                          <a:solidFill>
                            <a:srgbClr val="B5D3C3"/>
                          </a:solidFill>
                          <a:latin typeface="Aptos Display"/>
                        </a:rPr>
                        <a:t>3</a:t>
                      </a:r>
                    </a:p>
                  </a:txBody>
                  <a:tcPr>
                    <a:solidFill>
                      <a:srgbClr val="0F302B"/>
                    </a:solidFill>
                  </a:tcPr>
                </a:tc>
                <a:tc>
                  <a:txBody>
                    <a:bodyPr wrap="square"/>
                    <a:lstStyle/>
                    <a:p>
                      <a:pPr algn="ctr"/>
                      <a:r>
                        <a:rPr sz="850" b="0">
                          <a:solidFill>
                            <a:srgbClr val="B5D3C3"/>
                          </a:solidFill>
                          <a:latin typeface="Aptos Display"/>
                        </a:rPr>
                        <a:t>Lipaugus vociferans</a:t>
                      </a:r>
                    </a:p>
                  </a:txBody>
                  <a:tcPr>
                    <a:solidFill>
                      <a:srgbClr val="0F302B"/>
                    </a:solidFill>
                  </a:tcPr>
                </a:tc>
                <a:tc>
                  <a:txBody>
                    <a:bodyPr wrap="square"/>
                    <a:lstStyle/>
                    <a:p>
                      <a:pPr algn="ctr"/>
                      <a:r>
                        <a:rPr sz="850" b="0">
                          <a:solidFill>
                            <a:srgbClr val="B5D3C3"/>
                          </a:solidFill>
                          <a:latin typeface="Aptos Display"/>
                        </a:rPr>
                        <a:t>Cotingidae</a:t>
                      </a:r>
                    </a:p>
                  </a:txBody>
                  <a:tcPr>
                    <a:solidFill>
                      <a:srgbClr val="0F302B"/>
                    </a:solidFill>
                  </a:tcPr>
                </a:tc>
                <a:tc>
                  <a:txBody>
                    <a:bodyPr wrap="square"/>
                    <a:lstStyle/>
                    <a:p>
                      <a:pPr algn="ctr"/>
                      <a:r>
                        <a:rPr sz="850" b="0">
                          <a:solidFill>
                            <a:srgbClr val="B5D3C3"/>
                          </a:solidFill>
                          <a:latin typeface="Aptos Display"/>
                        </a:rPr>
                        <a:t>36</a:t>
                      </a:r>
                    </a:p>
                  </a:txBody>
                  <a:tcPr>
                    <a:solidFill>
                      <a:srgbClr val="0F302B"/>
                    </a:solidFill>
                  </a:tcPr>
                </a:tc>
                <a:tc>
                  <a:txBody>
                    <a:bodyPr wrap="square"/>
                    <a:lstStyle/>
                    <a:p>
                      <a:pPr algn="ctr"/>
                      <a:r>
                        <a:rPr sz="850" b="0">
                          <a:solidFill>
                            <a:srgbClr val="B5D3C3"/>
                          </a:solidFill>
                          <a:latin typeface="Aptos Display"/>
                        </a:rPr>
                        <a:t>1,650</a:t>
                      </a:r>
                    </a:p>
                  </a:txBody>
                  <a:tcPr>
                    <a:solidFill>
                      <a:srgbClr val="0F302B"/>
                    </a:solidFill>
                  </a:tcPr>
                </a:tc>
                <a:tc>
                  <a:txBody>
                    <a:bodyPr wrap="square"/>
                    <a:lstStyle/>
                    <a:p>
                      <a:pPr algn="ctr"/>
                      <a:r>
                        <a:rPr sz="850" b="0">
                          <a:solidFill>
                            <a:srgbClr val="B5D3C3"/>
                          </a:solidFill>
                          <a:latin typeface="Aptos Display"/>
                        </a:rPr>
                        <a:t>0.7918</a:t>
                      </a:r>
                    </a:p>
                  </a:txBody>
                  <a:tcPr>
                    <a:solidFill>
                      <a:srgbClr val="0F302B"/>
                    </a:solidFill>
                  </a:tcPr>
                </a:tc>
              </a:tr>
              <a:tr h="415290">
                <a:tc>
                  <a:txBody>
                    <a:bodyPr wrap="square"/>
                    <a:lstStyle/>
                    <a:p>
                      <a:pPr algn="ctr"/>
                      <a:r>
                        <a:rPr sz="850" b="0">
                          <a:solidFill>
                            <a:srgbClr val="B5D3C3"/>
                          </a:solidFill>
                          <a:latin typeface="Aptos Display"/>
                        </a:rPr>
                        <a:t>4</a:t>
                      </a:r>
                    </a:p>
                  </a:txBody>
                  <a:tcPr>
                    <a:solidFill>
                      <a:srgbClr val="00100C"/>
                    </a:solidFill>
                  </a:tcPr>
                </a:tc>
                <a:tc>
                  <a:txBody>
                    <a:bodyPr wrap="square"/>
                    <a:lstStyle/>
                    <a:p>
                      <a:pPr algn="ctr"/>
                      <a:r>
                        <a:rPr sz="850" b="0">
                          <a:solidFill>
                            <a:srgbClr val="B5D3C3"/>
                          </a:solidFill>
                          <a:latin typeface="Aptos Display"/>
                        </a:rPr>
                        <a:t>Ramphastos tucanus</a:t>
                      </a:r>
                    </a:p>
                  </a:txBody>
                  <a:tcPr>
                    <a:solidFill>
                      <a:srgbClr val="00100C"/>
                    </a:solidFill>
                  </a:tcPr>
                </a:tc>
                <a:tc>
                  <a:txBody>
                    <a:bodyPr wrap="square"/>
                    <a:lstStyle/>
                    <a:p>
                      <a:pPr algn="ctr"/>
                      <a:r>
                        <a:rPr sz="850" b="0">
                          <a:solidFill>
                            <a:srgbClr val="B5D3C3"/>
                          </a:solidFill>
                          <a:latin typeface="Aptos Display"/>
                        </a:rPr>
                        <a:t>Ramphastidae</a:t>
                      </a:r>
                    </a:p>
                  </a:txBody>
                  <a:tcPr>
                    <a:solidFill>
                      <a:srgbClr val="00100C"/>
                    </a:solidFill>
                  </a:tcPr>
                </a:tc>
                <a:tc>
                  <a:txBody>
                    <a:bodyPr wrap="square"/>
                    <a:lstStyle/>
                    <a:p>
                      <a:pPr algn="ctr"/>
                      <a:r>
                        <a:rPr sz="850" b="0">
                          <a:solidFill>
                            <a:srgbClr val="B5D3C3"/>
                          </a:solidFill>
                          <a:latin typeface="Aptos Display"/>
                        </a:rPr>
                        <a:t>31</a:t>
                      </a:r>
                    </a:p>
                  </a:txBody>
                  <a:tcPr>
                    <a:solidFill>
                      <a:srgbClr val="00100C"/>
                    </a:solidFill>
                  </a:tcPr>
                </a:tc>
                <a:tc>
                  <a:txBody>
                    <a:bodyPr wrap="square"/>
                    <a:lstStyle/>
                    <a:p>
                      <a:pPr algn="ctr"/>
                      <a:r>
                        <a:rPr sz="850" b="0">
                          <a:solidFill>
                            <a:srgbClr val="B5D3C3"/>
                          </a:solidFill>
                          <a:latin typeface="Aptos Display"/>
                        </a:rPr>
                        <a:t>1,492</a:t>
                      </a:r>
                    </a:p>
                  </a:txBody>
                  <a:tcPr>
                    <a:solidFill>
                      <a:srgbClr val="00100C"/>
                    </a:solidFill>
                  </a:tcPr>
                </a:tc>
                <a:tc>
                  <a:txBody>
                    <a:bodyPr wrap="square"/>
                    <a:lstStyle/>
                    <a:p>
                      <a:pPr algn="ctr"/>
                      <a:r>
                        <a:rPr sz="850" b="0">
                          <a:solidFill>
                            <a:srgbClr val="B5D3C3"/>
                          </a:solidFill>
                          <a:latin typeface="Aptos Display"/>
                        </a:rPr>
                        <a:t>0.8757</a:t>
                      </a:r>
                    </a:p>
                  </a:txBody>
                  <a:tcPr>
                    <a:solidFill>
                      <a:srgbClr val="00100C"/>
                    </a:solidFill>
                  </a:tcPr>
                </a:tc>
              </a:tr>
              <a:tr h="415290">
                <a:tc>
                  <a:txBody>
                    <a:bodyPr wrap="square"/>
                    <a:lstStyle/>
                    <a:p>
                      <a:pPr algn="ctr"/>
                      <a:r>
                        <a:rPr sz="850" b="0">
                          <a:solidFill>
                            <a:srgbClr val="B5D3C3"/>
                          </a:solidFill>
                          <a:latin typeface="Aptos Display"/>
                        </a:rPr>
                        <a:t>5</a:t>
                      </a:r>
                    </a:p>
                  </a:txBody>
                  <a:tcPr>
                    <a:solidFill>
                      <a:srgbClr val="0F302B"/>
                    </a:solidFill>
                  </a:tcPr>
                </a:tc>
                <a:tc>
                  <a:txBody>
                    <a:bodyPr wrap="square"/>
                    <a:lstStyle/>
                    <a:p>
                      <a:pPr algn="ctr"/>
                      <a:r>
                        <a:rPr sz="850" b="0">
                          <a:solidFill>
                            <a:srgbClr val="B5D3C3"/>
                          </a:solidFill>
                          <a:latin typeface="Aptos Display"/>
                        </a:rPr>
                        <a:t>Crypturellus undulatus</a:t>
                      </a:r>
                    </a:p>
                  </a:txBody>
                  <a:tcPr>
                    <a:solidFill>
                      <a:srgbClr val="0F302B"/>
                    </a:solidFill>
                  </a:tcPr>
                </a:tc>
                <a:tc>
                  <a:txBody>
                    <a:bodyPr wrap="square"/>
                    <a:lstStyle/>
                    <a:p>
                      <a:pPr algn="ctr"/>
                      <a:r>
                        <a:rPr sz="850" b="0">
                          <a:solidFill>
                            <a:srgbClr val="B5D3C3"/>
                          </a:solidFill>
                          <a:latin typeface="Aptos Display"/>
                        </a:rPr>
                        <a:t>Tinamidae</a:t>
                      </a:r>
                    </a:p>
                  </a:txBody>
                  <a:tcPr>
                    <a:solidFill>
                      <a:srgbClr val="0F302B"/>
                    </a:solidFill>
                  </a:tcPr>
                </a:tc>
                <a:tc>
                  <a:txBody>
                    <a:bodyPr wrap="square"/>
                    <a:lstStyle/>
                    <a:p>
                      <a:pPr algn="ctr"/>
                      <a:r>
                        <a:rPr sz="850" b="0">
                          <a:solidFill>
                            <a:srgbClr val="B5D3C3"/>
                          </a:solidFill>
                          <a:latin typeface="Aptos Display"/>
                        </a:rPr>
                        <a:t>29</a:t>
                      </a:r>
                    </a:p>
                  </a:txBody>
                  <a:tcPr>
                    <a:solidFill>
                      <a:srgbClr val="0F302B"/>
                    </a:solidFill>
                  </a:tcPr>
                </a:tc>
                <a:tc>
                  <a:txBody>
                    <a:bodyPr wrap="square"/>
                    <a:lstStyle/>
                    <a:p>
                      <a:pPr algn="ctr"/>
                      <a:r>
                        <a:rPr sz="850" b="0">
                          <a:solidFill>
                            <a:srgbClr val="B5D3C3"/>
                          </a:solidFill>
                          <a:latin typeface="Aptos Display"/>
                        </a:rPr>
                        <a:t>738</a:t>
                      </a:r>
                    </a:p>
                  </a:txBody>
                  <a:tcPr>
                    <a:solidFill>
                      <a:srgbClr val="0F302B"/>
                    </a:solidFill>
                  </a:tcPr>
                </a:tc>
                <a:tc>
                  <a:txBody>
                    <a:bodyPr wrap="square"/>
                    <a:lstStyle/>
                    <a:p>
                      <a:pPr algn="ctr"/>
                      <a:r>
                        <a:rPr sz="850" b="0">
                          <a:solidFill>
                            <a:srgbClr val="B5D3C3"/>
                          </a:solidFill>
                          <a:latin typeface="Aptos Display"/>
                        </a:rPr>
                        <a:t>1.7704</a:t>
                      </a:r>
                    </a:p>
                  </a:txBody>
                  <a:tcPr>
                    <a:solidFill>
                      <a:srgbClr val="0F302B"/>
                    </a:solidFill>
                  </a:tcPr>
                </a:tc>
              </a:tr>
              <a:tr h="415290">
                <a:tc>
                  <a:txBody>
                    <a:bodyPr wrap="square"/>
                    <a:lstStyle/>
                    <a:p>
                      <a:pPr algn="ctr"/>
                      <a:r>
                        <a:rPr sz="850" b="0">
                          <a:solidFill>
                            <a:srgbClr val="B5D3C3"/>
                          </a:solidFill>
                          <a:latin typeface="Aptos Display"/>
                        </a:rPr>
                        <a:t>6</a:t>
                      </a:r>
                    </a:p>
                  </a:txBody>
                  <a:tcPr>
                    <a:solidFill>
                      <a:srgbClr val="00100C"/>
                    </a:solidFill>
                  </a:tcPr>
                </a:tc>
                <a:tc>
                  <a:txBody>
                    <a:bodyPr wrap="square"/>
                    <a:lstStyle/>
                    <a:p>
                      <a:pPr algn="ctr"/>
                      <a:r>
                        <a:rPr sz="850" b="0">
                          <a:solidFill>
                            <a:srgbClr val="B5D3C3"/>
                          </a:solidFill>
                          <a:latin typeface="Aptos Display"/>
                        </a:rPr>
                        <a:t>Celeus grammicus</a:t>
                      </a:r>
                    </a:p>
                  </a:txBody>
                  <a:tcPr>
                    <a:solidFill>
                      <a:srgbClr val="00100C"/>
                    </a:solidFill>
                  </a:tcPr>
                </a:tc>
                <a:tc>
                  <a:txBody>
                    <a:bodyPr wrap="square"/>
                    <a:lstStyle/>
                    <a:p>
                      <a:pPr algn="ctr"/>
                      <a:r>
                        <a:rPr sz="850" b="0">
                          <a:solidFill>
                            <a:srgbClr val="B5D3C3"/>
                          </a:solidFill>
                          <a:latin typeface="Aptos Display"/>
                        </a:rPr>
                        <a:t>Picidae</a:t>
                      </a:r>
                    </a:p>
                  </a:txBody>
                  <a:tcPr>
                    <a:solidFill>
                      <a:srgbClr val="00100C"/>
                    </a:solidFill>
                  </a:tcPr>
                </a:tc>
                <a:tc>
                  <a:txBody>
                    <a:bodyPr wrap="square"/>
                    <a:lstStyle/>
                    <a:p>
                      <a:pPr algn="ctr"/>
                      <a:r>
                        <a:rPr sz="850" b="0">
                          <a:solidFill>
                            <a:srgbClr val="B5D3C3"/>
                          </a:solidFill>
                          <a:latin typeface="Aptos Display"/>
                        </a:rPr>
                        <a:t>28</a:t>
                      </a:r>
                    </a:p>
                  </a:txBody>
                  <a:tcPr>
                    <a:solidFill>
                      <a:srgbClr val="00100C"/>
                    </a:solidFill>
                  </a:tcPr>
                </a:tc>
                <a:tc>
                  <a:txBody>
                    <a:bodyPr wrap="square"/>
                    <a:lstStyle/>
                    <a:p>
                      <a:pPr algn="ctr"/>
                      <a:r>
                        <a:rPr sz="850" b="0">
                          <a:solidFill>
                            <a:srgbClr val="B5D3C3"/>
                          </a:solidFill>
                          <a:latin typeface="Aptos Display"/>
                        </a:rPr>
                        <a:t>856</a:t>
                      </a:r>
                    </a:p>
                  </a:txBody>
                  <a:tcPr>
                    <a:solidFill>
                      <a:srgbClr val="00100C"/>
                    </a:solidFill>
                  </a:tcPr>
                </a:tc>
                <a:tc>
                  <a:txBody>
                    <a:bodyPr wrap="square"/>
                    <a:lstStyle/>
                    <a:p>
                      <a:pPr algn="ctr"/>
                      <a:r>
                        <a:rPr sz="850" b="0">
                          <a:solidFill>
                            <a:srgbClr val="B5D3C3"/>
                          </a:solidFill>
                          <a:latin typeface="Aptos Display"/>
                        </a:rPr>
                        <a:t>1.5263</a:t>
                      </a:r>
                    </a:p>
                  </a:txBody>
                  <a:tcPr>
                    <a:solidFill>
                      <a:srgbClr val="00100C"/>
                    </a:solidFill>
                  </a:tcPr>
                </a:tc>
              </a:tr>
              <a:tr h="415290">
                <a:tc>
                  <a:txBody>
                    <a:bodyPr wrap="square"/>
                    <a:lstStyle/>
                    <a:p>
                      <a:pPr algn="ctr"/>
                      <a:r>
                        <a:rPr sz="850" b="0">
                          <a:solidFill>
                            <a:srgbClr val="B5D3C3"/>
                          </a:solidFill>
                          <a:latin typeface="Aptos Display"/>
                        </a:rPr>
                        <a:t>7</a:t>
                      </a:r>
                    </a:p>
                  </a:txBody>
                  <a:tcPr>
                    <a:solidFill>
                      <a:srgbClr val="0F302B"/>
                    </a:solidFill>
                  </a:tcPr>
                </a:tc>
                <a:tc>
                  <a:txBody>
                    <a:bodyPr wrap="square"/>
                    <a:lstStyle/>
                    <a:p>
                      <a:pPr algn="ctr"/>
                      <a:r>
                        <a:rPr sz="850" b="0">
                          <a:solidFill>
                            <a:srgbClr val="B5D3C3"/>
                          </a:solidFill>
                          <a:latin typeface="Aptos Display"/>
                        </a:rPr>
                        <a:t>Glaucidium brasilianum</a:t>
                      </a:r>
                    </a:p>
                  </a:txBody>
                  <a:tcPr>
                    <a:solidFill>
                      <a:srgbClr val="0F302B"/>
                    </a:solidFill>
                  </a:tcPr>
                </a:tc>
                <a:tc>
                  <a:txBody>
                    <a:bodyPr wrap="square"/>
                    <a:lstStyle/>
                    <a:p>
                      <a:pPr algn="ctr"/>
                      <a:r>
                        <a:rPr sz="850" b="0">
                          <a:solidFill>
                            <a:srgbClr val="B5D3C3"/>
                          </a:solidFill>
                          <a:latin typeface="Aptos Display"/>
                        </a:rPr>
                        <a:t>Strigidae</a:t>
                      </a:r>
                    </a:p>
                  </a:txBody>
                  <a:tcPr>
                    <a:solidFill>
                      <a:srgbClr val="0F302B"/>
                    </a:solidFill>
                  </a:tcPr>
                </a:tc>
                <a:tc>
                  <a:txBody>
                    <a:bodyPr wrap="square"/>
                    <a:lstStyle/>
                    <a:p>
                      <a:pPr algn="ctr"/>
                      <a:r>
                        <a:rPr sz="850" b="0">
                          <a:solidFill>
                            <a:srgbClr val="B5D3C3"/>
                          </a:solidFill>
                          <a:latin typeface="Aptos Display"/>
                        </a:rPr>
                        <a:t>22</a:t>
                      </a:r>
                    </a:p>
                  </a:txBody>
                  <a:tcPr>
                    <a:solidFill>
                      <a:srgbClr val="0F302B"/>
                    </a:solidFill>
                  </a:tcPr>
                </a:tc>
                <a:tc>
                  <a:txBody>
                    <a:bodyPr wrap="square"/>
                    <a:lstStyle/>
                    <a:p>
                      <a:pPr algn="ctr"/>
                      <a:r>
                        <a:rPr sz="850" b="0">
                          <a:solidFill>
                            <a:srgbClr val="B5D3C3"/>
                          </a:solidFill>
                          <a:latin typeface="Aptos Display"/>
                        </a:rPr>
                        <a:t>560</a:t>
                      </a:r>
                    </a:p>
                  </a:txBody>
                  <a:tcPr>
                    <a:solidFill>
                      <a:srgbClr val="0F302B"/>
                    </a:solidFill>
                  </a:tcPr>
                </a:tc>
                <a:tc>
                  <a:txBody>
                    <a:bodyPr wrap="square"/>
                    <a:lstStyle/>
                    <a:p>
                      <a:pPr algn="ctr"/>
                      <a:r>
                        <a:rPr sz="850" b="0">
                          <a:solidFill>
                            <a:srgbClr val="B5D3C3"/>
                          </a:solidFill>
                          <a:latin typeface="Aptos Display"/>
                        </a:rPr>
                        <a:t>2.3331</a:t>
                      </a:r>
                    </a:p>
                  </a:txBody>
                  <a:tcPr>
                    <a:solidFill>
                      <a:srgbClr val="0F302B"/>
                    </a:solidFill>
                  </a:tcPr>
                </a:tc>
              </a:tr>
              <a:tr h="415290">
                <a:tc>
                  <a:txBody>
                    <a:bodyPr wrap="square"/>
                    <a:lstStyle/>
                    <a:p>
                      <a:pPr algn="ctr"/>
                      <a:r>
                        <a:rPr sz="850" b="0">
                          <a:solidFill>
                            <a:srgbClr val="B5D3C3"/>
                          </a:solidFill>
                          <a:latin typeface="Aptos Display"/>
                        </a:rPr>
                        <a:t>8</a:t>
                      </a:r>
                    </a:p>
                  </a:txBody>
                  <a:tcPr>
                    <a:solidFill>
                      <a:srgbClr val="00100C"/>
                    </a:solidFill>
                  </a:tcPr>
                </a:tc>
                <a:tc>
                  <a:txBody>
                    <a:bodyPr wrap="square"/>
                    <a:lstStyle/>
                    <a:p>
                      <a:pPr algn="ctr"/>
                      <a:r>
                        <a:rPr sz="850" b="0">
                          <a:solidFill>
                            <a:srgbClr val="B5D3C3"/>
                          </a:solidFill>
                          <a:latin typeface="Aptos Display"/>
                        </a:rPr>
                        <a:t>Chordeiles pusillus</a:t>
                      </a:r>
                    </a:p>
                  </a:txBody>
                  <a:tcPr>
                    <a:solidFill>
                      <a:srgbClr val="00100C"/>
                    </a:solidFill>
                  </a:tcPr>
                </a:tc>
                <a:tc>
                  <a:txBody>
                    <a:bodyPr wrap="square"/>
                    <a:lstStyle/>
                    <a:p>
                      <a:pPr algn="ctr"/>
                      <a:r>
                        <a:rPr sz="850" b="0">
                          <a:solidFill>
                            <a:srgbClr val="B5D3C3"/>
                          </a:solidFill>
                          <a:latin typeface="Aptos Display"/>
                        </a:rPr>
                        <a:t>Caprimulgidae</a:t>
                      </a:r>
                    </a:p>
                  </a:txBody>
                  <a:tcPr>
                    <a:solidFill>
                      <a:srgbClr val="00100C"/>
                    </a:solidFill>
                  </a:tcPr>
                </a:tc>
                <a:tc>
                  <a:txBody>
                    <a:bodyPr wrap="square"/>
                    <a:lstStyle/>
                    <a:p>
                      <a:pPr algn="ctr"/>
                      <a:r>
                        <a:rPr sz="850" b="0">
                          <a:solidFill>
                            <a:srgbClr val="B5D3C3"/>
                          </a:solidFill>
                          <a:latin typeface="Aptos Display"/>
                        </a:rPr>
                        <a:t>21</a:t>
                      </a:r>
                    </a:p>
                  </a:txBody>
                  <a:tcPr>
                    <a:solidFill>
                      <a:srgbClr val="00100C"/>
                    </a:solidFill>
                  </a:tcPr>
                </a:tc>
                <a:tc>
                  <a:txBody>
                    <a:bodyPr wrap="square"/>
                    <a:lstStyle/>
                    <a:p>
                      <a:pPr algn="ctr"/>
                      <a:r>
                        <a:rPr sz="850" b="0">
                          <a:solidFill>
                            <a:srgbClr val="B5D3C3"/>
                          </a:solidFill>
                          <a:latin typeface="Aptos Display"/>
                        </a:rPr>
                        <a:t>240</a:t>
                      </a:r>
                    </a:p>
                  </a:txBody>
                  <a:tcPr>
                    <a:solidFill>
                      <a:srgbClr val="00100C"/>
                    </a:solidFill>
                  </a:tcPr>
                </a:tc>
                <a:tc>
                  <a:txBody>
                    <a:bodyPr wrap="square"/>
                    <a:lstStyle/>
                    <a:p>
                      <a:pPr algn="ctr"/>
                      <a:r>
                        <a:rPr sz="850" b="0">
                          <a:solidFill>
                            <a:srgbClr val="B5D3C3"/>
                          </a:solidFill>
                          <a:latin typeface="Aptos Display"/>
                        </a:rPr>
                        <a:t>5.4439</a:t>
                      </a:r>
                    </a:p>
                  </a:txBody>
                  <a:tcPr>
                    <a:solidFill>
                      <a:srgbClr val="00100C"/>
                    </a:solidFill>
                  </a:tcPr>
                </a:tc>
              </a:tr>
              <a:tr h="415290">
                <a:tc>
                  <a:txBody>
                    <a:bodyPr wrap="square"/>
                    <a:lstStyle/>
                    <a:p>
                      <a:pPr algn="ctr"/>
                      <a:r>
                        <a:rPr sz="850" b="0">
                          <a:solidFill>
                            <a:srgbClr val="B5D3C3"/>
                          </a:solidFill>
                          <a:latin typeface="Aptos Display"/>
                        </a:rPr>
                        <a:t>9</a:t>
                      </a:r>
                    </a:p>
                  </a:txBody>
                  <a:tcPr>
                    <a:solidFill>
                      <a:srgbClr val="0F302B"/>
                    </a:solidFill>
                  </a:tcPr>
                </a:tc>
                <a:tc>
                  <a:txBody>
                    <a:bodyPr wrap="square"/>
                    <a:lstStyle/>
                    <a:p>
                      <a:pPr algn="ctr"/>
                      <a:r>
                        <a:rPr sz="850" b="0">
                          <a:solidFill>
                            <a:srgbClr val="B5D3C3"/>
                          </a:solidFill>
                          <a:latin typeface="Aptos Display"/>
                        </a:rPr>
                        <a:t>Frederickena fulva</a:t>
                      </a:r>
                    </a:p>
                  </a:txBody>
                  <a:tcPr>
                    <a:solidFill>
                      <a:srgbClr val="0F302B"/>
                    </a:solidFill>
                  </a:tcPr>
                </a:tc>
                <a:tc>
                  <a:txBody>
                    <a:bodyPr wrap="square"/>
                    <a:lstStyle/>
                    <a:p>
                      <a:pPr algn="ctr"/>
                      <a:r>
                        <a:rPr sz="850" b="0">
                          <a:solidFill>
                            <a:srgbClr val="B5D3C3"/>
                          </a:solidFill>
                          <a:latin typeface="Aptos Display"/>
                        </a:rPr>
                        <a:t>Thamnophilidae</a:t>
                      </a:r>
                    </a:p>
                  </a:txBody>
                  <a:tcPr>
                    <a:solidFill>
                      <a:srgbClr val="0F302B"/>
                    </a:solidFill>
                  </a:tcPr>
                </a:tc>
                <a:tc>
                  <a:txBody>
                    <a:bodyPr wrap="square"/>
                    <a:lstStyle/>
                    <a:p>
                      <a:pPr algn="ctr"/>
                      <a:r>
                        <a:rPr sz="850" b="0">
                          <a:solidFill>
                            <a:srgbClr val="B5D3C3"/>
                          </a:solidFill>
                          <a:latin typeface="Aptos Display"/>
                        </a:rPr>
                        <a:t>20</a:t>
                      </a:r>
                    </a:p>
                  </a:txBody>
                  <a:tcPr>
                    <a:solidFill>
                      <a:srgbClr val="0F302B"/>
                    </a:solidFill>
                  </a:tcPr>
                </a:tc>
                <a:tc>
                  <a:txBody>
                    <a:bodyPr wrap="square"/>
                    <a:lstStyle/>
                    <a:p>
                      <a:pPr algn="ctr"/>
                      <a:r>
                        <a:rPr sz="850" b="0">
                          <a:solidFill>
                            <a:srgbClr val="B5D3C3"/>
                          </a:solidFill>
                          <a:latin typeface="Aptos Display"/>
                        </a:rPr>
                        <a:t>854</a:t>
                      </a:r>
                    </a:p>
                  </a:txBody>
                  <a:tcPr>
                    <a:solidFill>
                      <a:srgbClr val="0F302B"/>
                    </a:solidFill>
                  </a:tcPr>
                </a:tc>
                <a:tc>
                  <a:txBody>
                    <a:bodyPr wrap="square"/>
                    <a:lstStyle/>
                    <a:p>
                      <a:pPr algn="ctr"/>
                      <a:r>
                        <a:rPr sz="850" b="0">
                          <a:solidFill>
                            <a:srgbClr val="B5D3C3"/>
                          </a:solidFill>
                          <a:latin typeface="Aptos Display"/>
                        </a:rPr>
                        <a:t>1.5299</a:t>
                      </a:r>
                    </a:p>
                  </a:txBody>
                  <a:tcPr>
                    <a:solidFill>
                      <a:srgbClr val="0F302B"/>
                    </a:solidFill>
                  </a:tcPr>
                </a:tc>
              </a:tr>
              <a:tr h="415290">
                <a:tc>
                  <a:txBody>
                    <a:bodyPr wrap="square"/>
                    <a:lstStyle/>
                    <a:p>
                      <a:pPr algn="ctr"/>
                      <a:r>
                        <a:rPr sz="850" b="0">
                          <a:solidFill>
                            <a:srgbClr val="B5D3C3"/>
                          </a:solidFill>
                          <a:latin typeface="Aptos Display"/>
                        </a:rPr>
                        <a:t>10</a:t>
                      </a:r>
                    </a:p>
                  </a:txBody>
                  <a:tcPr>
                    <a:solidFill>
                      <a:srgbClr val="00100C"/>
                    </a:solidFill>
                  </a:tcPr>
                </a:tc>
                <a:tc>
                  <a:txBody>
                    <a:bodyPr wrap="square"/>
                    <a:lstStyle/>
                    <a:p>
                      <a:pPr algn="ctr"/>
                      <a:r>
                        <a:rPr sz="850" b="0">
                          <a:solidFill>
                            <a:srgbClr val="B5D3C3"/>
                          </a:solidFill>
                          <a:latin typeface="Aptos Display"/>
                        </a:rPr>
                        <a:t>Rupornis magnirostris</a:t>
                      </a:r>
                    </a:p>
                  </a:txBody>
                  <a:tcPr>
                    <a:solidFill>
                      <a:srgbClr val="00100C"/>
                    </a:solidFill>
                  </a:tcPr>
                </a:tc>
                <a:tc>
                  <a:txBody>
                    <a:bodyPr wrap="square"/>
                    <a:lstStyle/>
                    <a:p>
                      <a:pPr algn="ctr"/>
                      <a:r>
                        <a:rPr sz="850" b="0">
                          <a:solidFill>
                            <a:srgbClr val="B5D3C3"/>
                          </a:solidFill>
                          <a:latin typeface="Aptos Display"/>
                        </a:rPr>
                        <a:t>Accipitridae</a:t>
                      </a:r>
                    </a:p>
                  </a:txBody>
                  <a:tcPr>
                    <a:solidFill>
                      <a:srgbClr val="00100C"/>
                    </a:solidFill>
                  </a:tcPr>
                </a:tc>
                <a:tc>
                  <a:txBody>
                    <a:bodyPr wrap="square"/>
                    <a:lstStyle/>
                    <a:p>
                      <a:pPr algn="ctr"/>
                      <a:r>
                        <a:rPr sz="850" b="0">
                          <a:solidFill>
                            <a:srgbClr val="B5D3C3"/>
                          </a:solidFill>
                          <a:latin typeface="Aptos Display"/>
                        </a:rPr>
                        <a:t>20</a:t>
                      </a:r>
                    </a:p>
                  </a:txBody>
                  <a:tcPr>
                    <a:solidFill>
                      <a:srgbClr val="00100C"/>
                    </a:solidFill>
                  </a:tcPr>
                </a:tc>
                <a:tc>
                  <a:txBody>
                    <a:bodyPr wrap="square"/>
                    <a:lstStyle/>
                    <a:p>
                      <a:pPr algn="ctr"/>
                      <a:r>
                        <a:rPr sz="850" b="0">
                          <a:solidFill>
                            <a:srgbClr val="B5D3C3"/>
                          </a:solidFill>
                          <a:latin typeface="Aptos Display"/>
                        </a:rPr>
                        <a:t>302</a:t>
                      </a:r>
                    </a:p>
                  </a:txBody>
                  <a:tcPr>
                    <a:solidFill>
                      <a:srgbClr val="00100C"/>
                    </a:solidFill>
                  </a:tcPr>
                </a:tc>
                <a:tc>
                  <a:txBody>
                    <a:bodyPr wrap="square"/>
                    <a:lstStyle/>
                    <a:p>
                      <a:pPr algn="ctr"/>
                      <a:r>
                        <a:rPr sz="850" b="0">
                          <a:solidFill>
                            <a:srgbClr val="B5D3C3"/>
                          </a:solidFill>
                          <a:latin typeface="Aptos Display"/>
                        </a:rPr>
                        <a:t>4.3263</a:t>
                      </a:r>
                    </a:p>
                  </a:txBody>
                  <a:tcPr>
                    <a:solidFill>
                      <a:srgbClr val="00100C"/>
                    </a:solidFill>
                  </a:tcPr>
                </a:tc>
              </a:tr>
              <a:tr h="415290">
                <a:tc>
                  <a:txBody>
                    <a:bodyPr wrap="square"/>
                    <a:lstStyle/>
                    <a:p>
                      <a:pPr algn="ctr"/>
                      <a:r>
                        <a:rPr sz="850" b="0">
                          <a:solidFill>
                            <a:srgbClr val="B5D3C3"/>
                          </a:solidFill>
                          <a:latin typeface="Aptos Display"/>
                        </a:rPr>
                        <a:t>—</a:t>
                      </a:r>
                    </a:p>
                  </a:txBody>
                  <a:tcPr>
                    <a:solidFill>
                      <a:srgbClr val="0F302B"/>
                    </a:solidFill>
                  </a:tcPr>
                </a:tc>
                <a:tc>
                  <a:txBody>
                    <a:bodyPr wrap="square"/>
                    <a:lstStyle/>
                    <a:p>
                      <a:pPr algn="ctr"/>
                      <a:r>
                        <a:rPr sz="850" b="0">
                          <a:solidFill>
                            <a:srgbClr val="B5D3C3"/>
                          </a:solidFill>
                          <a:latin typeface="Aptos Display"/>
                        </a:rPr>
                        <a:t>no_ave (ESC-50, sin animales)</a:t>
                      </a:r>
                    </a:p>
                  </a:txBody>
                  <a:tcPr>
                    <a:solidFill>
                      <a:srgbClr val="0F302B"/>
                    </a:solidFill>
                  </a:tcPr>
                </a:tc>
                <a:tc>
                  <a:txBody>
                    <a:bodyPr wrap="square"/>
                    <a:lstStyle/>
                    <a:p>
                      <a:pPr algn="ctr"/>
                      <a:r>
                        <a:rPr sz="850" b="0">
                          <a:solidFill>
                            <a:srgbClr val="B5D3C3"/>
                          </a:solidFill>
                          <a:latin typeface="Aptos Display"/>
                        </a:rPr>
                        <a:t>—</a:t>
                      </a:r>
                    </a:p>
                  </a:txBody>
                  <a:tcPr>
                    <a:solidFill>
                      <a:srgbClr val="0F302B"/>
                    </a:solidFill>
                  </a:tcPr>
                </a:tc>
                <a:tc>
                  <a:txBody>
                    <a:bodyPr wrap="square"/>
                    <a:lstStyle/>
                    <a:p>
                      <a:pPr algn="ctr"/>
                      <a:r>
                        <a:rPr sz="850" b="0">
                          <a:solidFill>
                            <a:srgbClr val="B5D3C3"/>
                          </a:solidFill>
                          <a:latin typeface="Aptos Display"/>
                        </a:rPr>
                        <a:t>~1,600 archivos</a:t>
                      </a:r>
                    </a:p>
                  </a:txBody>
                  <a:tcPr>
                    <a:solidFill>
                      <a:srgbClr val="0F302B"/>
                    </a:solidFill>
                  </a:tcPr>
                </a:tc>
                <a:tc>
                  <a:txBody>
                    <a:bodyPr wrap="square"/>
                    <a:lstStyle/>
                    <a:p>
                      <a:pPr algn="ctr"/>
                      <a:r>
                        <a:rPr sz="850" b="0">
                          <a:solidFill>
                            <a:srgbClr val="B5D3C3"/>
                          </a:solidFill>
                          <a:latin typeface="Aptos Display"/>
                        </a:rPr>
                        <a:t>2,240</a:t>
                      </a:r>
                    </a:p>
                  </a:txBody>
                  <a:tcPr>
                    <a:solidFill>
                      <a:srgbClr val="0F302B"/>
                    </a:solidFill>
                  </a:tcPr>
                </a:tc>
                <a:tc>
                  <a:txBody>
                    <a:bodyPr wrap="square"/>
                    <a:lstStyle/>
                    <a:p>
                      <a:pPr algn="ctr"/>
                      <a:r>
                        <a:rPr sz="850" b="0">
                          <a:solidFill>
                            <a:srgbClr val="B5D3C3"/>
                          </a:solidFill>
                          <a:latin typeface="Aptos Display"/>
                        </a:rPr>
                        <a:t>0.5833</a:t>
                      </a:r>
                    </a:p>
                  </a:txBody>
                  <a:tcPr>
                    <a:solidFill>
                      <a:srgbClr val="0F302B"/>
                    </a:solidFill>
                  </a:tcPr>
                </a:tc>
              </a:tr>
            </a:tbl>
          </a:graphicData>
        </a:graphic>
      </p:graphicFrame>
      <p:sp>
        <p:nvSpPr>
          <p:cNvPr id="8" name="TextBox 7"/>
          <p:cNvSpPr txBox="1"/>
          <p:nvPr/>
        </p:nvSpPr>
        <p:spPr>
          <a:xfrm>
            <a:off x="457200" y="6071616"/>
            <a:ext cx="11274552" cy="365760"/>
          </a:xfrm>
          <a:prstGeom prst="rect">
            <a:avLst/>
          </a:prstGeom>
          <a:noFill/>
        </p:spPr>
        <p:txBody>
          <a:bodyPr wrap="square">
            <a:spAutoFit/>
          </a:bodyPr>
          <a:lstStyle/>
          <a:p>
            <a:pPr algn="l"/>
            <a:r>
              <a:rPr sz="800" b="0" i="0">
                <a:solidFill>
                  <a:srgbClr val="7EAA95"/>
                </a:solidFill>
                <a:latin typeface="Aptos Display"/>
              </a:rPr>
              <a:t>Criterios de selección: ≥14 grabaciones · diversidad taxonómica (8 familias) · reto intra-género (Crypturellus) · exclusión de 'Mystery mystery' · no_ave de ESC-50 excluyendo categoría Animals.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jungle_bg.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64592"/>
            <a:ext cx="11274552" cy="475488"/>
          </a:xfrm>
          <a:prstGeom prst="rect">
            <a:avLst/>
          </a:prstGeom>
          <a:noFill/>
        </p:spPr>
        <p:txBody>
          <a:bodyPr wrap="square">
            <a:spAutoFit/>
          </a:bodyPr>
          <a:lstStyle/>
          <a:p>
            <a:pPr algn="l"/>
            <a:r>
              <a:rPr sz="2100" b="1" i="0">
                <a:solidFill>
                  <a:srgbClr val="EFFCF5"/>
                </a:solidFill>
                <a:latin typeface="Aptos Display"/>
              </a:rPr>
              <a:t>5. Desbalance severo de clases</a:t>
            </a:r>
          </a:p>
        </p:txBody>
      </p:sp>
      <p:sp>
        <p:nvSpPr>
          <p:cNvPr id="4" name="TextBox 3"/>
          <p:cNvSpPr txBox="1"/>
          <p:nvPr/>
        </p:nvSpPr>
        <p:spPr>
          <a:xfrm>
            <a:off x="457200" y="621792"/>
            <a:ext cx="11274552" cy="292608"/>
          </a:xfrm>
          <a:prstGeom prst="rect">
            <a:avLst/>
          </a:prstGeom>
          <a:noFill/>
        </p:spPr>
        <p:txBody>
          <a:bodyPr wrap="square">
            <a:spAutoFit/>
          </a:bodyPr>
          <a:lstStyle/>
          <a:p>
            <a:pPr algn="l"/>
            <a:r>
              <a:rPr sz="1000" b="0" i="0">
                <a:solidFill>
                  <a:srgbClr val="7EAA95"/>
                </a:solidFill>
                <a:latin typeface="Aptos Display"/>
              </a:rPr>
              <a:t>no_ave no es la más abundante — Trogon viridis lidera · las minoritarias motivan class weights</a:t>
            </a:r>
          </a:p>
        </p:txBody>
      </p:sp>
      <p:sp>
        <p:nvSpPr>
          <p:cNvPr id="5" name="TextBox 4"/>
          <p:cNvSpPr txBox="1"/>
          <p:nvPr/>
        </p:nvSpPr>
        <p:spPr>
          <a:xfrm>
            <a:off x="457200" y="6537960"/>
            <a:ext cx="8229600" cy="274320"/>
          </a:xfrm>
          <a:prstGeom prst="rect">
            <a:avLst/>
          </a:prstGeom>
          <a:noFill/>
        </p:spPr>
        <p:txBody>
          <a:bodyPr wrap="square">
            <a:spAutoFit/>
          </a:bodyPr>
          <a:lstStyle/>
          <a:p>
            <a:pPr algn="l"/>
            <a:r>
              <a:rPr sz="800" b="0" i="0">
                <a:solidFill>
                  <a:srgbClr val="7EAA95"/>
                </a:solidFill>
                <a:latin typeface="Aptos Display"/>
              </a:rPr>
              <a:t>SelvaSonic-ML · Aprendizaje Automático · UNAL Medellín</a:t>
            </a:r>
          </a:p>
        </p:txBody>
      </p:sp>
      <p:sp>
        <p:nvSpPr>
          <p:cNvPr id="6" name="TextBox 5"/>
          <p:cNvSpPr txBox="1"/>
          <p:nvPr/>
        </p:nvSpPr>
        <p:spPr>
          <a:xfrm>
            <a:off x="11247120" y="6537960"/>
            <a:ext cx="484632" cy="274320"/>
          </a:xfrm>
          <a:prstGeom prst="rect">
            <a:avLst/>
          </a:prstGeom>
          <a:noFill/>
        </p:spPr>
        <p:txBody>
          <a:bodyPr wrap="square">
            <a:spAutoFit/>
          </a:bodyPr>
          <a:lstStyle/>
          <a:p>
            <a:pPr algn="r"/>
            <a:r>
              <a:rPr sz="800" b="0" i="0">
                <a:solidFill>
                  <a:srgbClr val="7EAA95"/>
                </a:solidFill>
                <a:latin typeface="Aptos Display"/>
              </a:rPr>
              <a:t>06</a:t>
            </a:r>
          </a:p>
        </p:txBody>
      </p:sp>
      <p:pic>
        <p:nvPicPr>
          <p:cNvPr id="7" name="Picture 6" descr="dist_clases.png"/>
          <p:cNvPicPr>
            <a:picLocks noChangeAspect="1"/>
          </p:cNvPicPr>
          <p:nvPr/>
        </p:nvPicPr>
        <p:blipFill>
          <a:blip r:embed="rId3"/>
          <a:stretch>
            <a:fillRect/>
          </a:stretch>
        </p:blipFill>
        <p:spPr>
          <a:xfrm>
            <a:off x="457200" y="987552"/>
            <a:ext cx="8046720" cy="4219329"/>
          </a:xfrm>
          <a:prstGeom prst="rect">
            <a:avLst/>
          </a:prstGeom>
        </p:spPr>
      </p:pic>
      <p:sp>
        <p:nvSpPr>
          <p:cNvPr id="8" name="Rectangle 7"/>
          <p:cNvSpPr/>
          <p:nvPr/>
        </p:nvSpPr>
        <p:spPr>
          <a:xfrm>
            <a:off x="8641080" y="987552"/>
            <a:ext cx="3090672" cy="5120640"/>
          </a:xfrm>
          <a:prstGeom prst="rect">
            <a:avLst/>
          </a:prstGeom>
          <a:solidFill>
            <a:srgbClr val="0B2B27"/>
          </a:solidFill>
          <a:ln w="7620">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1078992"/>
            <a:ext cx="2834640" cy="4937760"/>
          </a:xfrm>
          <a:prstGeom prst="rect">
            <a:avLst/>
          </a:prstGeom>
          <a:noFill/>
        </p:spPr>
        <p:txBody>
          <a:bodyPr wrap="square">
            <a:spAutoFit/>
          </a:bodyPr>
          <a:lstStyle/>
          <a:p>
            <a:pPr algn="l"/>
            <a:r>
              <a:rPr sz="1000" b="1">
                <a:solidFill>
                  <a:srgbClr val="21D4D4"/>
                </a:solidFill>
                <a:latin typeface="Aptos Display"/>
              </a:rPr>
              <a:t>Estadísticas clave</a:t>
            </a:r>
          </a:p>
          <a:p>
            <a:pPr algn="l"/>
            <a:r>
              <a:rPr sz="300" b="0">
                <a:solidFill>
                  <a:srgbClr val="B5D3C3"/>
                </a:solidFill>
                <a:latin typeface="Aptos Display"/>
              </a:rPr>
              <a:t> </a:t>
            </a:r>
          </a:p>
          <a:p>
            <a:pPr algn="l"/>
            <a:r>
              <a:rPr sz="900" b="1">
                <a:solidFill>
                  <a:srgbClr val="F4D35E"/>
                </a:solidFill>
                <a:latin typeface="Aptos Display"/>
              </a:rPr>
              <a:t>Total train:</a:t>
            </a:r>
          </a:p>
          <a:p>
            <a:pPr algn="l"/>
            <a:r>
              <a:rPr sz="1100" b="1">
                <a:solidFill>
                  <a:srgbClr val="EFFCF5"/>
                </a:solidFill>
                <a:latin typeface="Aptos Display"/>
              </a:rPr>
              <a:t>14,372 clips</a:t>
            </a:r>
          </a:p>
          <a:p>
            <a:pPr algn="l"/>
            <a:r>
              <a:rPr sz="300" b="0">
                <a:solidFill>
                  <a:srgbClr val="B5D3C3"/>
                </a:solidFill>
                <a:latin typeface="Aptos Display"/>
              </a:rPr>
              <a:t> </a:t>
            </a:r>
          </a:p>
          <a:p>
            <a:pPr algn="l"/>
            <a:r>
              <a:rPr sz="900" b="0">
                <a:solidFill>
                  <a:srgbClr val="B5D3C3"/>
                </a:solidFill>
                <a:latin typeface="Aptos Display"/>
              </a:rPr>
              <a:t>Clase más frecuente:</a:t>
            </a:r>
          </a:p>
          <a:p>
            <a:pPr algn="l"/>
            <a:r>
              <a:rPr sz="1000" b="1">
                <a:solidFill>
                  <a:srgbClr val="EFFCF5"/>
                </a:solidFill>
                <a:latin typeface="Aptos Display"/>
              </a:rPr>
              <a:t>Trogon viridis · 2,784</a:t>
            </a:r>
          </a:p>
          <a:p>
            <a:pPr algn="l"/>
            <a:r>
              <a:rPr sz="300" b="0">
                <a:solidFill>
                  <a:srgbClr val="B5D3C3"/>
                </a:solidFill>
                <a:latin typeface="Aptos Display"/>
              </a:rPr>
              <a:t> </a:t>
            </a:r>
          </a:p>
          <a:p>
            <a:pPr algn="l"/>
            <a:r>
              <a:rPr sz="900" b="0">
                <a:solidFill>
                  <a:srgbClr val="B5D3C3"/>
                </a:solidFill>
                <a:latin typeface="Aptos Display"/>
              </a:rPr>
              <a:t>Clase más rara:</a:t>
            </a:r>
          </a:p>
          <a:p>
            <a:pPr algn="l"/>
            <a:r>
              <a:rPr sz="1000" b="1">
                <a:solidFill>
                  <a:srgbClr val="FF5C7A"/>
                </a:solidFill>
                <a:latin typeface="Aptos Display"/>
              </a:rPr>
              <a:t>Chordeiles · 240</a:t>
            </a:r>
          </a:p>
          <a:p>
            <a:pPr algn="l"/>
            <a:r>
              <a:rPr sz="300" b="0">
                <a:solidFill>
                  <a:srgbClr val="B5D3C3"/>
                </a:solidFill>
                <a:latin typeface="Aptos Display"/>
              </a:rPr>
              <a:t> </a:t>
            </a:r>
          </a:p>
          <a:p>
            <a:pPr algn="l"/>
            <a:r>
              <a:rPr sz="900" b="0">
                <a:solidFill>
                  <a:srgbClr val="B5D3C3"/>
                </a:solidFill>
                <a:latin typeface="Aptos Display"/>
              </a:rPr>
              <a:t>Ratio max/min:</a:t>
            </a:r>
          </a:p>
          <a:p>
            <a:pPr algn="l"/>
            <a:r>
              <a:rPr sz="1000" b="1">
                <a:solidFill>
                  <a:srgbClr val="FF9F1C"/>
                </a:solidFill>
                <a:latin typeface="Aptos Display"/>
              </a:rPr>
              <a:t>11.6×  (Trogon / Chordeiles)</a:t>
            </a:r>
          </a:p>
          <a:p>
            <a:pPr algn="l"/>
            <a:r>
              <a:rPr sz="300" b="0">
                <a:solidFill>
                  <a:srgbClr val="B5D3C3"/>
                </a:solidFill>
                <a:latin typeface="Aptos Display"/>
              </a:rPr>
              <a:t> </a:t>
            </a:r>
          </a:p>
          <a:p>
            <a:pPr algn="l"/>
            <a:r>
              <a:rPr sz="900" b="0">
                <a:solidFill>
                  <a:srgbClr val="B5D3C3"/>
                </a:solidFill>
                <a:latin typeface="Aptos Display"/>
              </a:rPr>
              <a:t>Peso máximo:</a:t>
            </a:r>
          </a:p>
          <a:p>
            <a:pPr algn="l"/>
            <a:r>
              <a:rPr sz="1000" b="1">
                <a:solidFill>
                  <a:srgbClr val="21D4D4"/>
                </a:solidFill>
                <a:latin typeface="Aptos Display"/>
              </a:rPr>
              <a:t>5.44 (Chordeiles)</a:t>
            </a:r>
          </a:p>
          <a:p>
            <a:pPr algn="l"/>
            <a:r>
              <a:rPr sz="300" b="0">
                <a:solidFill>
                  <a:srgbClr val="B5D3C3"/>
                </a:solidFill>
                <a:latin typeface="Aptos Display"/>
              </a:rPr>
              <a:t> </a:t>
            </a:r>
          </a:p>
          <a:p>
            <a:pPr algn="l"/>
            <a:r>
              <a:rPr sz="900" b="1">
                <a:solidFill>
                  <a:srgbClr val="F4D35E"/>
                </a:solidFill>
                <a:latin typeface="Aptos Display"/>
              </a:rPr>
              <a:t>Decisión:</a:t>
            </a:r>
          </a:p>
          <a:p>
            <a:pPr algn="l"/>
            <a:r>
              <a:rPr sz="900" b="0">
                <a:solidFill>
                  <a:srgbClr val="B5D3C3"/>
                </a:solidFill>
                <a:latin typeface="Aptos Display"/>
              </a:rPr>
              <a:t>atacar con class weights en la loss antes de tunear arquitectura.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jungle_bg.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64592"/>
            <a:ext cx="11274552" cy="475488"/>
          </a:xfrm>
          <a:prstGeom prst="rect">
            <a:avLst/>
          </a:prstGeom>
          <a:noFill/>
        </p:spPr>
        <p:txBody>
          <a:bodyPr wrap="square">
            <a:spAutoFit/>
          </a:bodyPr>
          <a:lstStyle/>
          <a:p>
            <a:pPr algn="l"/>
            <a:r>
              <a:rPr sz="2100" b="1" i="0">
                <a:solidFill>
                  <a:srgbClr val="EFFCF5"/>
                </a:solidFill>
                <a:latin typeface="Aptos Display"/>
              </a:rPr>
              <a:t>6. Pipeline de preprocesamiento</a:t>
            </a:r>
          </a:p>
        </p:txBody>
      </p:sp>
      <p:sp>
        <p:nvSpPr>
          <p:cNvPr id="4" name="TextBox 3"/>
          <p:cNvSpPr txBox="1"/>
          <p:nvPr/>
        </p:nvSpPr>
        <p:spPr>
          <a:xfrm>
            <a:off x="457200" y="621792"/>
            <a:ext cx="11274552" cy="292608"/>
          </a:xfrm>
          <a:prstGeom prst="rect">
            <a:avLst/>
          </a:prstGeom>
          <a:noFill/>
        </p:spPr>
        <p:txBody>
          <a:bodyPr wrap="square">
            <a:spAutoFit/>
          </a:bodyPr>
          <a:lstStyle/>
          <a:p>
            <a:pPr algn="l"/>
            <a:r>
              <a:rPr sz="1000" b="0" i="0">
                <a:solidFill>
                  <a:srgbClr val="7EAA95"/>
                </a:solidFill>
                <a:latin typeface="Aptos Display"/>
              </a:rPr>
              <a:t>Carga → Segmentación → Mel-espectrograma → Normalización → Tensor</a:t>
            </a:r>
          </a:p>
        </p:txBody>
      </p:sp>
      <p:sp>
        <p:nvSpPr>
          <p:cNvPr id="5" name="TextBox 4"/>
          <p:cNvSpPr txBox="1"/>
          <p:nvPr/>
        </p:nvSpPr>
        <p:spPr>
          <a:xfrm>
            <a:off x="457200" y="6537960"/>
            <a:ext cx="8229600" cy="274320"/>
          </a:xfrm>
          <a:prstGeom prst="rect">
            <a:avLst/>
          </a:prstGeom>
          <a:noFill/>
        </p:spPr>
        <p:txBody>
          <a:bodyPr wrap="square">
            <a:spAutoFit/>
          </a:bodyPr>
          <a:lstStyle/>
          <a:p>
            <a:pPr algn="l"/>
            <a:r>
              <a:rPr sz="800" b="0" i="0">
                <a:solidFill>
                  <a:srgbClr val="7EAA95"/>
                </a:solidFill>
                <a:latin typeface="Aptos Display"/>
              </a:rPr>
              <a:t>SelvaSonic-ML · Aprendizaje Automático · UNAL Medellín</a:t>
            </a:r>
          </a:p>
        </p:txBody>
      </p:sp>
      <p:sp>
        <p:nvSpPr>
          <p:cNvPr id="6" name="TextBox 5"/>
          <p:cNvSpPr txBox="1"/>
          <p:nvPr/>
        </p:nvSpPr>
        <p:spPr>
          <a:xfrm>
            <a:off x="11247120" y="6537960"/>
            <a:ext cx="484632" cy="274320"/>
          </a:xfrm>
          <a:prstGeom prst="rect">
            <a:avLst/>
          </a:prstGeom>
          <a:noFill/>
        </p:spPr>
        <p:txBody>
          <a:bodyPr wrap="square">
            <a:spAutoFit/>
          </a:bodyPr>
          <a:lstStyle/>
          <a:p>
            <a:pPr algn="r"/>
            <a:r>
              <a:rPr sz="800" b="0" i="0">
                <a:solidFill>
                  <a:srgbClr val="7EAA95"/>
                </a:solidFill>
                <a:latin typeface="Aptos Display"/>
              </a:rPr>
              <a:t>07</a:t>
            </a:r>
          </a:p>
        </p:txBody>
      </p:sp>
      <p:sp>
        <p:nvSpPr>
          <p:cNvPr id="7" name="Rounded Rectangle 6"/>
          <p:cNvSpPr/>
          <p:nvPr/>
        </p:nvSpPr>
        <p:spPr>
          <a:xfrm>
            <a:off x="411480" y="1005840"/>
            <a:ext cx="2103120" cy="2057400"/>
          </a:xfrm>
          <a:prstGeom prst="roundRect">
            <a:avLst/>
          </a:prstGeom>
          <a:solidFill>
            <a:srgbClr val="0B2B27"/>
          </a:solidFill>
          <a:ln w="9525">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1920240" cy="320040"/>
          </a:xfrm>
          <a:prstGeom prst="rect">
            <a:avLst/>
          </a:prstGeom>
          <a:noFill/>
        </p:spPr>
        <p:txBody>
          <a:bodyPr wrap="square">
            <a:spAutoFit/>
          </a:bodyPr>
          <a:lstStyle/>
          <a:p>
            <a:pPr algn="ctr"/>
            <a:r>
              <a:rPr sz="1100" b="1" i="0">
                <a:solidFill>
                  <a:srgbClr val="21D4D4"/>
                </a:solidFill>
                <a:latin typeface="Aptos Display"/>
              </a:rPr>
              <a:t>Carga</a:t>
            </a:r>
          </a:p>
        </p:txBody>
      </p:sp>
      <p:sp>
        <p:nvSpPr>
          <p:cNvPr id="9" name="TextBox 8"/>
          <p:cNvSpPr txBox="1"/>
          <p:nvPr/>
        </p:nvSpPr>
        <p:spPr>
          <a:xfrm>
            <a:off x="502920" y="1444752"/>
            <a:ext cx="1920240" cy="1417320"/>
          </a:xfrm>
          <a:prstGeom prst="rect">
            <a:avLst/>
          </a:prstGeom>
          <a:noFill/>
        </p:spPr>
        <p:txBody>
          <a:bodyPr wrap="square">
            <a:spAutoFit/>
          </a:bodyPr>
          <a:lstStyle/>
          <a:p>
            <a:pPr algn="ctr"/>
            <a:r>
              <a:rPr sz="850" b="0" i="0">
                <a:solidFill>
                  <a:srgbClr val="B5D3C3"/>
                </a:solidFill>
                <a:latin typeface="Aptos Display"/>
              </a:rPr>
              <a:t>librosa
sr=22 050 Hz
mono</a:t>
            </a:r>
          </a:p>
        </p:txBody>
      </p:sp>
      <p:sp>
        <p:nvSpPr>
          <p:cNvPr id="10" name="TextBox 9"/>
          <p:cNvSpPr txBox="1"/>
          <p:nvPr/>
        </p:nvSpPr>
        <p:spPr>
          <a:xfrm>
            <a:off x="2514600" y="1828800"/>
            <a:ext cx="246888" cy="365760"/>
          </a:xfrm>
          <a:prstGeom prst="rect">
            <a:avLst/>
          </a:prstGeom>
          <a:noFill/>
        </p:spPr>
        <p:txBody>
          <a:bodyPr wrap="square">
            <a:spAutoFit/>
          </a:bodyPr>
          <a:lstStyle/>
          <a:p>
            <a:pPr algn="ctr"/>
            <a:r>
              <a:rPr sz="1600" b="0" i="0">
                <a:solidFill>
                  <a:srgbClr val="7EAA95"/>
                </a:solidFill>
                <a:latin typeface="Aptos Display"/>
              </a:rPr>
              <a:t>→</a:t>
            </a:r>
          </a:p>
        </p:txBody>
      </p:sp>
      <p:sp>
        <p:nvSpPr>
          <p:cNvPr id="11" name="Rounded Rectangle 10"/>
          <p:cNvSpPr/>
          <p:nvPr/>
        </p:nvSpPr>
        <p:spPr>
          <a:xfrm>
            <a:off x="2761488" y="1005840"/>
            <a:ext cx="2103120" cy="2057400"/>
          </a:xfrm>
          <a:prstGeom prst="roundRect">
            <a:avLst/>
          </a:prstGeom>
          <a:solidFill>
            <a:srgbClr val="0B2B27"/>
          </a:solidFill>
          <a:ln w="9525">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52928" y="1097280"/>
            <a:ext cx="1920240" cy="320040"/>
          </a:xfrm>
          <a:prstGeom prst="rect">
            <a:avLst/>
          </a:prstGeom>
          <a:noFill/>
        </p:spPr>
        <p:txBody>
          <a:bodyPr wrap="square">
            <a:spAutoFit/>
          </a:bodyPr>
          <a:lstStyle/>
          <a:p>
            <a:pPr algn="ctr"/>
            <a:r>
              <a:rPr sz="1100" b="1" i="0">
                <a:solidFill>
                  <a:srgbClr val="21D4D4"/>
                </a:solidFill>
                <a:latin typeface="Aptos Display"/>
              </a:rPr>
              <a:t>Segmentación</a:t>
            </a:r>
          </a:p>
        </p:txBody>
      </p:sp>
      <p:sp>
        <p:nvSpPr>
          <p:cNvPr id="13" name="TextBox 12"/>
          <p:cNvSpPr txBox="1"/>
          <p:nvPr/>
        </p:nvSpPr>
        <p:spPr>
          <a:xfrm>
            <a:off x="2852928" y="1444752"/>
            <a:ext cx="1920240" cy="1417320"/>
          </a:xfrm>
          <a:prstGeom prst="rect">
            <a:avLst/>
          </a:prstGeom>
          <a:noFill/>
        </p:spPr>
        <p:txBody>
          <a:bodyPr wrap="square">
            <a:spAutoFit/>
          </a:bodyPr>
          <a:lstStyle/>
          <a:p>
            <a:pPr algn="ctr"/>
            <a:r>
              <a:rPr sz="850" b="0" i="0">
                <a:solidFill>
                  <a:srgbClr val="B5D3C3"/>
                </a:solidFill>
                <a:latin typeface="Aptos Display"/>
              </a:rPr>
              <a:t>clips 5 s
solape 50 %
(solo train)</a:t>
            </a:r>
          </a:p>
        </p:txBody>
      </p:sp>
      <p:sp>
        <p:nvSpPr>
          <p:cNvPr id="14" name="TextBox 13"/>
          <p:cNvSpPr txBox="1"/>
          <p:nvPr/>
        </p:nvSpPr>
        <p:spPr>
          <a:xfrm>
            <a:off x="4864608" y="1828800"/>
            <a:ext cx="246888" cy="365760"/>
          </a:xfrm>
          <a:prstGeom prst="rect">
            <a:avLst/>
          </a:prstGeom>
          <a:noFill/>
        </p:spPr>
        <p:txBody>
          <a:bodyPr wrap="square">
            <a:spAutoFit/>
          </a:bodyPr>
          <a:lstStyle/>
          <a:p>
            <a:pPr algn="ctr"/>
            <a:r>
              <a:rPr sz="1600" b="0" i="0">
                <a:solidFill>
                  <a:srgbClr val="7EAA95"/>
                </a:solidFill>
                <a:latin typeface="Aptos Display"/>
              </a:rPr>
              <a:t>→</a:t>
            </a:r>
          </a:p>
        </p:txBody>
      </p:sp>
      <p:sp>
        <p:nvSpPr>
          <p:cNvPr id="15" name="Rounded Rectangle 14"/>
          <p:cNvSpPr/>
          <p:nvPr/>
        </p:nvSpPr>
        <p:spPr>
          <a:xfrm>
            <a:off x="5111496" y="1005840"/>
            <a:ext cx="2103120" cy="2057400"/>
          </a:xfrm>
          <a:prstGeom prst="roundRect">
            <a:avLst/>
          </a:prstGeom>
          <a:solidFill>
            <a:srgbClr val="0B2B27"/>
          </a:solidFill>
          <a:ln w="9525">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02936" y="1097280"/>
            <a:ext cx="1920240" cy="320040"/>
          </a:xfrm>
          <a:prstGeom prst="rect">
            <a:avLst/>
          </a:prstGeom>
          <a:noFill/>
        </p:spPr>
        <p:txBody>
          <a:bodyPr wrap="square">
            <a:spAutoFit/>
          </a:bodyPr>
          <a:lstStyle/>
          <a:p>
            <a:pPr algn="ctr"/>
            <a:r>
              <a:rPr sz="1100" b="1" i="0">
                <a:solidFill>
                  <a:srgbClr val="21D4D4"/>
                </a:solidFill>
                <a:latin typeface="Aptos Display"/>
              </a:rPr>
              <a:t>Mel FFT</a:t>
            </a:r>
          </a:p>
        </p:txBody>
      </p:sp>
      <p:sp>
        <p:nvSpPr>
          <p:cNvPr id="17" name="TextBox 16"/>
          <p:cNvSpPr txBox="1"/>
          <p:nvPr/>
        </p:nvSpPr>
        <p:spPr>
          <a:xfrm>
            <a:off x="5202936" y="1444752"/>
            <a:ext cx="1920240" cy="1417320"/>
          </a:xfrm>
          <a:prstGeom prst="rect">
            <a:avLst/>
          </a:prstGeom>
          <a:noFill/>
        </p:spPr>
        <p:txBody>
          <a:bodyPr wrap="square">
            <a:spAutoFit/>
          </a:bodyPr>
          <a:lstStyle/>
          <a:p>
            <a:pPr algn="ctr"/>
            <a:r>
              <a:rPr sz="850" b="0" i="0">
                <a:solidFill>
                  <a:srgbClr val="B5D3C3"/>
                </a:solidFill>
                <a:latin typeface="Aptos Display"/>
              </a:rPr>
              <a:t>n_fft=2 048
hop=512
n_mels=128</a:t>
            </a:r>
          </a:p>
        </p:txBody>
      </p:sp>
      <p:sp>
        <p:nvSpPr>
          <p:cNvPr id="18" name="TextBox 17"/>
          <p:cNvSpPr txBox="1"/>
          <p:nvPr/>
        </p:nvSpPr>
        <p:spPr>
          <a:xfrm>
            <a:off x="7214616" y="1828800"/>
            <a:ext cx="246888" cy="365760"/>
          </a:xfrm>
          <a:prstGeom prst="rect">
            <a:avLst/>
          </a:prstGeom>
          <a:noFill/>
        </p:spPr>
        <p:txBody>
          <a:bodyPr wrap="square">
            <a:spAutoFit/>
          </a:bodyPr>
          <a:lstStyle/>
          <a:p>
            <a:pPr algn="ctr"/>
            <a:r>
              <a:rPr sz="1600" b="0" i="0">
                <a:solidFill>
                  <a:srgbClr val="7EAA95"/>
                </a:solidFill>
                <a:latin typeface="Aptos Display"/>
              </a:rPr>
              <a:t>→</a:t>
            </a:r>
          </a:p>
        </p:txBody>
      </p:sp>
      <p:sp>
        <p:nvSpPr>
          <p:cNvPr id="19" name="Rounded Rectangle 18"/>
          <p:cNvSpPr/>
          <p:nvPr/>
        </p:nvSpPr>
        <p:spPr>
          <a:xfrm>
            <a:off x="7461503" y="1005840"/>
            <a:ext cx="2103120" cy="2057400"/>
          </a:xfrm>
          <a:prstGeom prst="roundRect">
            <a:avLst/>
          </a:prstGeom>
          <a:solidFill>
            <a:srgbClr val="0B2B27"/>
          </a:solidFill>
          <a:ln w="9525">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52943" y="1097280"/>
            <a:ext cx="1920240" cy="320040"/>
          </a:xfrm>
          <a:prstGeom prst="rect">
            <a:avLst/>
          </a:prstGeom>
          <a:noFill/>
        </p:spPr>
        <p:txBody>
          <a:bodyPr wrap="square">
            <a:spAutoFit/>
          </a:bodyPr>
          <a:lstStyle/>
          <a:p>
            <a:pPr algn="ctr"/>
            <a:r>
              <a:rPr sz="1100" b="1" i="0">
                <a:solidFill>
                  <a:srgbClr val="21D4D4"/>
                </a:solidFill>
                <a:latin typeface="Aptos Display"/>
              </a:rPr>
              <a:t>Filtros</a:t>
            </a:r>
          </a:p>
        </p:txBody>
      </p:sp>
      <p:sp>
        <p:nvSpPr>
          <p:cNvPr id="21" name="TextBox 20"/>
          <p:cNvSpPr txBox="1"/>
          <p:nvPr/>
        </p:nvSpPr>
        <p:spPr>
          <a:xfrm>
            <a:off x="7552943" y="1444752"/>
            <a:ext cx="1920240" cy="1417320"/>
          </a:xfrm>
          <a:prstGeom prst="rect">
            <a:avLst/>
          </a:prstGeom>
          <a:noFill/>
        </p:spPr>
        <p:txBody>
          <a:bodyPr wrap="square">
            <a:spAutoFit/>
          </a:bodyPr>
          <a:lstStyle/>
          <a:p>
            <a:pPr algn="ctr"/>
            <a:r>
              <a:rPr sz="850" b="0" i="0">
                <a:solidFill>
                  <a:srgbClr val="B5D3C3"/>
                </a:solidFill>
                <a:latin typeface="Aptos Display"/>
              </a:rPr>
              <a:t>fmin=50 Hz
fmax=11 025 Hz</a:t>
            </a:r>
          </a:p>
        </p:txBody>
      </p:sp>
      <p:sp>
        <p:nvSpPr>
          <p:cNvPr id="22" name="TextBox 21"/>
          <p:cNvSpPr txBox="1"/>
          <p:nvPr/>
        </p:nvSpPr>
        <p:spPr>
          <a:xfrm>
            <a:off x="9564623" y="1828800"/>
            <a:ext cx="246888" cy="365760"/>
          </a:xfrm>
          <a:prstGeom prst="rect">
            <a:avLst/>
          </a:prstGeom>
          <a:noFill/>
        </p:spPr>
        <p:txBody>
          <a:bodyPr wrap="square">
            <a:spAutoFit/>
          </a:bodyPr>
          <a:lstStyle/>
          <a:p>
            <a:pPr algn="ctr"/>
            <a:r>
              <a:rPr sz="1600" b="0" i="0">
                <a:solidFill>
                  <a:srgbClr val="7EAA95"/>
                </a:solidFill>
                <a:latin typeface="Aptos Display"/>
              </a:rPr>
              <a:t>→</a:t>
            </a:r>
          </a:p>
        </p:txBody>
      </p:sp>
      <p:sp>
        <p:nvSpPr>
          <p:cNvPr id="23" name="Rounded Rectangle 22"/>
          <p:cNvSpPr/>
          <p:nvPr/>
        </p:nvSpPr>
        <p:spPr>
          <a:xfrm>
            <a:off x="9811511" y="1005840"/>
            <a:ext cx="2103120" cy="2057400"/>
          </a:xfrm>
          <a:prstGeom prst="roundRect">
            <a:avLst/>
          </a:prstGeom>
          <a:solidFill>
            <a:srgbClr val="0B2B27"/>
          </a:solidFill>
          <a:ln w="9525">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02951" y="1097280"/>
            <a:ext cx="1920240" cy="320040"/>
          </a:xfrm>
          <a:prstGeom prst="rect">
            <a:avLst/>
          </a:prstGeom>
          <a:noFill/>
        </p:spPr>
        <p:txBody>
          <a:bodyPr wrap="square">
            <a:spAutoFit/>
          </a:bodyPr>
          <a:lstStyle/>
          <a:p>
            <a:pPr algn="ctr"/>
            <a:r>
              <a:rPr sz="1100" b="1" i="0">
                <a:solidFill>
                  <a:srgbClr val="21D4D4"/>
                </a:solidFill>
                <a:latin typeface="Aptos Display"/>
              </a:rPr>
              <a:t>Tensor</a:t>
            </a:r>
          </a:p>
        </p:txBody>
      </p:sp>
      <p:sp>
        <p:nvSpPr>
          <p:cNvPr id="25" name="TextBox 24"/>
          <p:cNvSpPr txBox="1"/>
          <p:nvPr/>
        </p:nvSpPr>
        <p:spPr>
          <a:xfrm>
            <a:off x="9902951" y="1444752"/>
            <a:ext cx="1920240" cy="1417320"/>
          </a:xfrm>
          <a:prstGeom prst="rect">
            <a:avLst/>
          </a:prstGeom>
          <a:noFill/>
        </p:spPr>
        <p:txBody>
          <a:bodyPr wrap="square">
            <a:spAutoFit/>
          </a:bodyPr>
          <a:lstStyle/>
          <a:p>
            <a:pPr algn="ctr"/>
            <a:r>
              <a:rPr sz="850" b="0" i="0">
                <a:solidFill>
                  <a:srgbClr val="B5D3C3"/>
                </a:solidFill>
                <a:latin typeface="Aptos Display"/>
              </a:rPr>
              <a:t>dB norm.
shape: [1,128,~216]</a:t>
            </a:r>
          </a:p>
        </p:txBody>
      </p:sp>
      <p:sp>
        <p:nvSpPr>
          <p:cNvPr id="26" name="Rectangle 25"/>
          <p:cNvSpPr/>
          <p:nvPr/>
        </p:nvSpPr>
        <p:spPr>
          <a:xfrm>
            <a:off x="457200" y="3246120"/>
            <a:ext cx="11274552" cy="320040"/>
          </a:xfrm>
          <a:prstGeom prst="rect">
            <a:avLst/>
          </a:prstGeom>
          <a:solidFill>
            <a:srgbClr val="082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3291840"/>
            <a:ext cx="10972800" cy="256032"/>
          </a:xfrm>
          <a:prstGeom prst="rect">
            <a:avLst/>
          </a:prstGeom>
          <a:noFill/>
        </p:spPr>
        <p:txBody>
          <a:bodyPr wrap="square">
            <a:spAutoFit/>
          </a:bodyPr>
          <a:lstStyle/>
          <a:p>
            <a:pPr algn="l"/>
            <a:r>
              <a:rPr sz="900" b="1" i="0">
                <a:solidFill>
                  <a:srgbClr val="F4D35E"/>
                </a:solidFill>
                <a:latin typeface="Aptos Display"/>
              </a:rPr>
              <a:t>Hiperparámetros del pipeline (src/config.py — fuente única de verdad)</a:t>
            </a:r>
          </a:p>
        </p:txBody>
      </p:sp>
      <p:graphicFrame>
        <p:nvGraphicFramePr>
          <p:cNvPr id="28" name="Table 27"/>
          <p:cNvGraphicFramePr>
            <a:graphicFrameLocks noGrp="1"/>
          </p:cNvGraphicFramePr>
          <p:nvPr/>
        </p:nvGraphicFramePr>
        <p:xfrm>
          <a:off x="457200" y="3593592"/>
          <a:ext cx="11274551" cy="2743200"/>
        </p:xfrm>
        <a:graphic>
          <a:graphicData uri="http://schemas.openxmlformats.org/drawingml/2006/table">
            <a:tbl>
              <a:tblPr firstRow="1" bandRow="1">
                <a:tableStyleId>{5C22544A-7EE6-4342-B048-85BDC9FD1C3A}</a:tableStyleId>
              </a:tblPr>
              <a:tblGrid>
                <a:gridCol w="2029419"/>
                <a:gridCol w="1578437"/>
                <a:gridCol w="7666695"/>
              </a:tblGrid>
              <a:tr h="391885">
                <a:tc>
                  <a:txBody>
                    <a:bodyPr wrap="square"/>
                    <a:lstStyle/>
                    <a:p>
                      <a:pPr algn="ctr"/>
                      <a:r>
                        <a:rPr sz="850" b="1">
                          <a:solidFill>
                            <a:srgbClr val="21D4D4"/>
                          </a:solidFill>
                          <a:latin typeface="Aptos Display"/>
                        </a:rPr>
                        <a:t>Parámetro</a:t>
                      </a:r>
                    </a:p>
                  </a:txBody>
                  <a:tcPr>
                    <a:solidFill>
                      <a:srgbClr val="0B2B27"/>
                    </a:solidFill>
                  </a:tcPr>
                </a:tc>
                <a:tc>
                  <a:txBody>
                    <a:bodyPr wrap="square"/>
                    <a:lstStyle/>
                    <a:p>
                      <a:pPr algn="ctr"/>
                      <a:r>
                        <a:rPr sz="850" b="1">
                          <a:solidFill>
                            <a:srgbClr val="21D4D4"/>
                          </a:solidFill>
                          <a:latin typeface="Aptos Display"/>
                        </a:rPr>
                        <a:t>Valor</a:t>
                      </a:r>
                    </a:p>
                  </a:txBody>
                  <a:tcPr>
                    <a:solidFill>
                      <a:srgbClr val="0B2B27"/>
                    </a:solidFill>
                  </a:tcPr>
                </a:tc>
                <a:tc>
                  <a:txBody>
                    <a:bodyPr wrap="square"/>
                    <a:lstStyle/>
                    <a:p>
                      <a:pPr algn="ctr"/>
                      <a:r>
                        <a:rPr sz="850" b="1">
                          <a:solidFill>
                            <a:srgbClr val="21D4D4"/>
                          </a:solidFill>
                          <a:latin typeface="Aptos Display"/>
                        </a:rPr>
                        <a:t>Justificación</a:t>
                      </a:r>
                    </a:p>
                  </a:txBody>
                  <a:tcPr>
                    <a:solidFill>
                      <a:srgbClr val="0B2B27"/>
                    </a:solidFill>
                  </a:tcPr>
                </a:tc>
              </a:tr>
              <a:tr h="391885">
                <a:tc>
                  <a:txBody>
                    <a:bodyPr wrap="square"/>
                    <a:lstStyle/>
                    <a:p>
                      <a:pPr algn="ctr"/>
                      <a:r>
                        <a:rPr sz="850" b="0">
                          <a:solidFill>
                            <a:srgbClr val="B5D3C3"/>
                          </a:solidFill>
                          <a:latin typeface="Aptos Display"/>
                        </a:rPr>
                        <a:t>SAMPLE_RATE</a:t>
                      </a:r>
                    </a:p>
                  </a:txBody>
                  <a:tcPr>
                    <a:solidFill>
                      <a:srgbClr val="0F302B"/>
                    </a:solidFill>
                  </a:tcPr>
                </a:tc>
                <a:tc>
                  <a:txBody>
                    <a:bodyPr wrap="square"/>
                    <a:lstStyle/>
                    <a:p>
                      <a:pPr algn="ctr"/>
                      <a:r>
                        <a:rPr sz="850" b="0">
                          <a:solidFill>
                            <a:srgbClr val="B5D3C3"/>
                          </a:solidFill>
                          <a:latin typeface="Aptos Display"/>
                        </a:rPr>
                        <a:t>22 050 Hz</a:t>
                      </a:r>
                    </a:p>
                  </a:txBody>
                  <a:tcPr>
                    <a:solidFill>
                      <a:srgbClr val="0F302B"/>
                    </a:solidFill>
                  </a:tcPr>
                </a:tc>
                <a:tc>
                  <a:txBody>
                    <a:bodyPr wrap="square"/>
                    <a:lstStyle/>
                    <a:p>
                      <a:pPr algn="ctr"/>
                      <a:r>
                        <a:rPr sz="850" b="0">
                          <a:solidFill>
                            <a:srgbClr val="B5D3C3"/>
                          </a:solidFill>
                          <a:latin typeface="Aptos Display"/>
                        </a:rPr>
                        <a:t>Nyquist cubre hasta 11 025 Hz &gt; rango aves (500 Hz–10 kHz)</a:t>
                      </a:r>
                    </a:p>
                  </a:txBody>
                  <a:tcPr>
                    <a:solidFill>
                      <a:srgbClr val="0F302B"/>
                    </a:solidFill>
                  </a:tcPr>
                </a:tc>
              </a:tr>
              <a:tr h="391885">
                <a:tc>
                  <a:txBody>
                    <a:bodyPr wrap="square"/>
                    <a:lstStyle/>
                    <a:p>
                      <a:pPr algn="ctr"/>
                      <a:r>
                        <a:rPr sz="850" b="0">
                          <a:solidFill>
                            <a:srgbClr val="B5D3C3"/>
                          </a:solidFill>
                          <a:latin typeface="Aptos Display"/>
                        </a:rPr>
                        <a:t>CLIP_DURATION</a:t>
                      </a:r>
                    </a:p>
                  </a:txBody>
                  <a:tcPr>
                    <a:solidFill>
                      <a:srgbClr val="00100C"/>
                    </a:solidFill>
                  </a:tcPr>
                </a:tc>
                <a:tc>
                  <a:txBody>
                    <a:bodyPr wrap="square"/>
                    <a:lstStyle/>
                    <a:p>
                      <a:pPr algn="ctr"/>
                      <a:r>
                        <a:rPr sz="850" b="0">
                          <a:solidFill>
                            <a:srgbClr val="B5D3C3"/>
                          </a:solidFill>
                          <a:latin typeface="Aptos Display"/>
                        </a:rPr>
                        <a:t>5.0 s</a:t>
                      </a:r>
                    </a:p>
                  </a:txBody>
                  <a:tcPr>
                    <a:solidFill>
                      <a:srgbClr val="00100C"/>
                    </a:solidFill>
                  </a:tcPr>
                </a:tc>
                <a:tc>
                  <a:txBody>
                    <a:bodyPr wrap="square"/>
                    <a:lstStyle/>
                    <a:p>
                      <a:pPr algn="ctr"/>
                      <a:r>
                        <a:rPr sz="850" b="0">
                          <a:solidFill>
                            <a:srgbClr val="B5D3C3"/>
                          </a:solidFill>
                          <a:latin typeface="Aptos Display"/>
                        </a:rPr>
                        <a:t>Estándar en BirdCLEF/BirdNET; captura cantos completos</a:t>
                      </a:r>
                    </a:p>
                  </a:txBody>
                  <a:tcPr>
                    <a:solidFill>
                      <a:srgbClr val="00100C"/>
                    </a:solidFill>
                  </a:tcPr>
                </a:tc>
              </a:tr>
              <a:tr h="391885">
                <a:tc>
                  <a:txBody>
                    <a:bodyPr wrap="square"/>
                    <a:lstStyle/>
                    <a:p>
                      <a:pPr algn="ctr"/>
                      <a:r>
                        <a:rPr sz="850" b="0">
                          <a:solidFill>
                            <a:srgbClr val="B5D3C3"/>
                          </a:solidFill>
                          <a:latin typeface="Aptos Display"/>
                        </a:rPr>
                        <a:t>N_FFT</a:t>
                      </a:r>
                    </a:p>
                  </a:txBody>
                  <a:tcPr>
                    <a:solidFill>
                      <a:srgbClr val="0F302B"/>
                    </a:solidFill>
                  </a:tcPr>
                </a:tc>
                <a:tc>
                  <a:txBody>
                    <a:bodyPr wrap="square"/>
                    <a:lstStyle/>
                    <a:p>
                      <a:pPr algn="ctr"/>
                      <a:r>
                        <a:rPr sz="850" b="0">
                          <a:solidFill>
                            <a:srgbClr val="B5D3C3"/>
                          </a:solidFill>
                          <a:latin typeface="Aptos Display"/>
                        </a:rPr>
                        <a:t>2 048</a:t>
                      </a:r>
                    </a:p>
                  </a:txBody>
                  <a:tcPr>
                    <a:solidFill>
                      <a:srgbClr val="0F302B"/>
                    </a:solidFill>
                  </a:tcPr>
                </a:tc>
                <a:tc>
                  <a:txBody>
                    <a:bodyPr wrap="square"/>
                    <a:lstStyle/>
                    <a:p>
                      <a:pPr algn="ctr"/>
                      <a:r>
                        <a:rPr sz="850" b="0">
                          <a:solidFill>
                            <a:srgbClr val="B5D3C3"/>
                          </a:solidFill>
                          <a:latin typeface="Aptos Display"/>
                        </a:rPr>
                        <a:t>Δf≈10.8 Hz/bin — suficiente para distinguir tonos de aves</a:t>
                      </a:r>
                    </a:p>
                  </a:txBody>
                  <a:tcPr>
                    <a:solidFill>
                      <a:srgbClr val="0F302B"/>
                    </a:solidFill>
                  </a:tcPr>
                </a:tc>
              </a:tr>
              <a:tr h="391885">
                <a:tc>
                  <a:txBody>
                    <a:bodyPr wrap="square"/>
                    <a:lstStyle/>
                    <a:p>
                      <a:pPr algn="ctr"/>
                      <a:r>
                        <a:rPr sz="850" b="0">
                          <a:solidFill>
                            <a:srgbClr val="B5D3C3"/>
                          </a:solidFill>
                          <a:latin typeface="Aptos Display"/>
                        </a:rPr>
                        <a:t>HOP_LENGTH</a:t>
                      </a:r>
                    </a:p>
                  </a:txBody>
                  <a:tcPr>
                    <a:solidFill>
                      <a:srgbClr val="00100C"/>
                    </a:solidFill>
                  </a:tcPr>
                </a:tc>
                <a:tc>
                  <a:txBody>
                    <a:bodyPr wrap="square"/>
                    <a:lstStyle/>
                    <a:p>
                      <a:pPr algn="ctr"/>
                      <a:r>
                        <a:rPr sz="850" b="0">
                          <a:solidFill>
                            <a:srgbClr val="B5D3C3"/>
                          </a:solidFill>
                          <a:latin typeface="Aptos Display"/>
                        </a:rPr>
                        <a:t>512</a:t>
                      </a:r>
                    </a:p>
                  </a:txBody>
                  <a:tcPr>
                    <a:solidFill>
                      <a:srgbClr val="00100C"/>
                    </a:solidFill>
                  </a:tcPr>
                </a:tc>
                <a:tc>
                  <a:txBody>
                    <a:bodyPr wrap="square"/>
                    <a:lstStyle/>
                    <a:p>
                      <a:pPr algn="ctr"/>
                      <a:r>
                        <a:rPr sz="850" b="0">
                          <a:solidFill>
                            <a:srgbClr val="B5D3C3"/>
                          </a:solidFill>
                          <a:latin typeface="Aptos Display"/>
                        </a:rPr>
                        <a:t>Δt≈23 ms/frame, overlap 75 % — captura trinos rápidos</a:t>
                      </a:r>
                    </a:p>
                  </a:txBody>
                  <a:tcPr>
                    <a:solidFill>
                      <a:srgbClr val="00100C"/>
                    </a:solidFill>
                  </a:tcPr>
                </a:tc>
              </a:tr>
              <a:tr h="391885">
                <a:tc>
                  <a:txBody>
                    <a:bodyPr wrap="square"/>
                    <a:lstStyle/>
                    <a:p>
                      <a:pPr algn="ctr"/>
                      <a:r>
                        <a:rPr sz="850" b="0">
                          <a:solidFill>
                            <a:srgbClr val="B5D3C3"/>
                          </a:solidFill>
                          <a:latin typeface="Aptos Display"/>
                        </a:rPr>
                        <a:t>N_MELS</a:t>
                      </a:r>
                    </a:p>
                  </a:txBody>
                  <a:tcPr>
                    <a:solidFill>
                      <a:srgbClr val="0F302B"/>
                    </a:solidFill>
                  </a:tcPr>
                </a:tc>
                <a:tc>
                  <a:txBody>
                    <a:bodyPr wrap="square"/>
                    <a:lstStyle/>
                    <a:p>
                      <a:pPr algn="ctr"/>
                      <a:r>
                        <a:rPr sz="850" b="0">
                          <a:solidFill>
                            <a:srgbClr val="B5D3C3"/>
                          </a:solidFill>
                          <a:latin typeface="Aptos Display"/>
                        </a:rPr>
                        <a:t>128</a:t>
                      </a:r>
                    </a:p>
                  </a:txBody>
                  <a:tcPr>
                    <a:solidFill>
                      <a:srgbClr val="0F302B"/>
                    </a:solidFill>
                  </a:tcPr>
                </a:tc>
                <a:tc>
                  <a:txBody>
                    <a:bodyPr wrap="square"/>
                    <a:lstStyle/>
                    <a:p>
                      <a:pPr algn="ctr"/>
                      <a:r>
                        <a:rPr sz="850" b="0">
                          <a:solidFill>
                            <a:srgbClr val="B5D3C3"/>
                          </a:solidFill>
                          <a:latin typeface="Aptos Display"/>
                        </a:rPr>
                        <a:t>Estándar YAMNet/PANNs; equilibra detalle vs. cómputo</a:t>
                      </a:r>
                    </a:p>
                  </a:txBody>
                  <a:tcPr>
                    <a:solidFill>
                      <a:srgbClr val="0F302B"/>
                    </a:solidFill>
                  </a:tcPr>
                </a:tc>
              </a:tr>
              <a:tr h="391890">
                <a:tc>
                  <a:txBody>
                    <a:bodyPr wrap="square"/>
                    <a:lstStyle/>
                    <a:p>
                      <a:pPr algn="ctr"/>
                      <a:r>
                        <a:rPr sz="850" b="0">
                          <a:solidFill>
                            <a:srgbClr val="B5D3C3"/>
                          </a:solidFill>
                          <a:latin typeface="Aptos Display"/>
                        </a:rPr>
                        <a:t>CLIP_OVERLAP</a:t>
                      </a:r>
                    </a:p>
                  </a:txBody>
                  <a:tcPr>
                    <a:solidFill>
                      <a:srgbClr val="00100C"/>
                    </a:solidFill>
                  </a:tcPr>
                </a:tc>
                <a:tc>
                  <a:txBody>
                    <a:bodyPr wrap="square"/>
                    <a:lstStyle/>
                    <a:p>
                      <a:pPr algn="ctr"/>
                      <a:r>
                        <a:rPr sz="850" b="0">
                          <a:solidFill>
                            <a:srgbClr val="B5D3C3"/>
                          </a:solidFill>
                          <a:latin typeface="Aptos Display"/>
                        </a:rPr>
                        <a:t>0.5 (solo train)</a:t>
                      </a:r>
                    </a:p>
                  </a:txBody>
                  <a:tcPr>
                    <a:solidFill>
                      <a:srgbClr val="00100C"/>
                    </a:solidFill>
                  </a:tcPr>
                </a:tc>
                <a:tc>
                  <a:txBody>
                    <a:bodyPr wrap="square"/>
                    <a:lstStyle/>
                    <a:p>
                      <a:pPr algn="ctr"/>
                      <a:r>
                        <a:rPr sz="850" b="0">
                          <a:solidFill>
                            <a:srgbClr val="B5D3C3"/>
                          </a:solidFill>
                          <a:latin typeface="Aptos Display"/>
                        </a:rPr>
                        <a:t>Data augmentation temporal honesto — no en val/test</a:t>
                      </a:r>
                    </a:p>
                  </a:txBody>
                  <a:tcPr>
                    <a:solidFill>
                      <a:srgbClr val="00100C"/>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jungle_bg.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64592"/>
            <a:ext cx="11274552" cy="475488"/>
          </a:xfrm>
          <a:prstGeom prst="rect">
            <a:avLst/>
          </a:prstGeom>
          <a:noFill/>
        </p:spPr>
        <p:txBody>
          <a:bodyPr wrap="square">
            <a:spAutoFit/>
          </a:bodyPr>
          <a:lstStyle/>
          <a:p>
            <a:pPr algn="l"/>
            <a:r>
              <a:rPr sz="2100" b="1" i="0">
                <a:solidFill>
                  <a:srgbClr val="EFFCF5"/>
                </a:solidFill>
                <a:latin typeface="Aptos Display"/>
              </a:rPr>
              <a:t>6b. Del audio crudo al Mel-espectrograma</a:t>
            </a:r>
          </a:p>
        </p:txBody>
      </p:sp>
      <p:sp>
        <p:nvSpPr>
          <p:cNvPr id="4" name="TextBox 3"/>
          <p:cNvSpPr txBox="1"/>
          <p:nvPr/>
        </p:nvSpPr>
        <p:spPr>
          <a:xfrm>
            <a:off x="457200" y="621792"/>
            <a:ext cx="11274552" cy="292608"/>
          </a:xfrm>
          <a:prstGeom prst="rect">
            <a:avLst/>
          </a:prstGeom>
          <a:noFill/>
        </p:spPr>
        <p:txBody>
          <a:bodyPr wrap="square">
            <a:spAutoFit/>
          </a:bodyPr>
          <a:lstStyle/>
          <a:p>
            <a:pPr algn="l"/>
            <a:r>
              <a:rPr sz="1000" b="0" i="0">
                <a:solidFill>
                  <a:srgbClr val="7EAA95"/>
                </a:solidFill>
                <a:latin typeface="Aptos Display"/>
              </a:rPr>
              <a:t>Cada cuadro tiempo-frecuencia recibe color según energía en dB</a:t>
            </a:r>
          </a:p>
        </p:txBody>
      </p:sp>
      <p:sp>
        <p:nvSpPr>
          <p:cNvPr id="5" name="TextBox 4"/>
          <p:cNvSpPr txBox="1"/>
          <p:nvPr/>
        </p:nvSpPr>
        <p:spPr>
          <a:xfrm>
            <a:off x="457200" y="6537960"/>
            <a:ext cx="8229600" cy="274320"/>
          </a:xfrm>
          <a:prstGeom prst="rect">
            <a:avLst/>
          </a:prstGeom>
          <a:noFill/>
        </p:spPr>
        <p:txBody>
          <a:bodyPr wrap="square">
            <a:spAutoFit/>
          </a:bodyPr>
          <a:lstStyle/>
          <a:p>
            <a:pPr algn="l"/>
            <a:r>
              <a:rPr sz="800" b="0" i="0">
                <a:solidFill>
                  <a:srgbClr val="7EAA95"/>
                </a:solidFill>
                <a:latin typeface="Aptos Display"/>
              </a:rPr>
              <a:t>SelvaSonic-ML · Aprendizaje Automático · UNAL Medellín</a:t>
            </a:r>
          </a:p>
        </p:txBody>
      </p:sp>
      <p:sp>
        <p:nvSpPr>
          <p:cNvPr id="6" name="TextBox 5"/>
          <p:cNvSpPr txBox="1"/>
          <p:nvPr/>
        </p:nvSpPr>
        <p:spPr>
          <a:xfrm>
            <a:off x="11247120" y="6537960"/>
            <a:ext cx="484632" cy="274320"/>
          </a:xfrm>
          <a:prstGeom prst="rect">
            <a:avLst/>
          </a:prstGeom>
          <a:noFill/>
        </p:spPr>
        <p:txBody>
          <a:bodyPr wrap="square">
            <a:spAutoFit/>
          </a:bodyPr>
          <a:lstStyle/>
          <a:p>
            <a:pPr algn="r"/>
            <a:r>
              <a:rPr sz="800" b="0" i="0">
                <a:solidFill>
                  <a:srgbClr val="7EAA95"/>
                </a:solidFill>
                <a:latin typeface="Aptos Display"/>
              </a:rPr>
              <a:t>08</a:t>
            </a:r>
          </a:p>
        </p:txBody>
      </p:sp>
      <p:pic>
        <p:nvPicPr>
          <p:cNvPr id="7" name="Picture 6" descr="mel_ejemplo.png"/>
          <p:cNvPicPr>
            <a:picLocks noChangeAspect="1"/>
          </p:cNvPicPr>
          <p:nvPr/>
        </p:nvPicPr>
        <p:blipFill>
          <a:blip r:embed="rId3"/>
          <a:stretch>
            <a:fillRect/>
          </a:stretch>
        </p:blipFill>
        <p:spPr>
          <a:xfrm>
            <a:off x="457200" y="987552"/>
            <a:ext cx="11274552" cy="4350112"/>
          </a:xfrm>
          <a:prstGeom prst="rect">
            <a:avLst/>
          </a:prstGeom>
        </p:spPr>
      </p:pic>
      <p:sp>
        <p:nvSpPr>
          <p:cNvPr id="8" name="Rectangle 7"/>
          <p:cNvSpPr/>
          <p:nvPr/>
        </p:nvSpPr>
        <p:spPr>
          <a:xfrm>
            <a:off x="457200" y="5303520"/>
            <a:ext cx="11274552" cy="960120"/>
          </a:xfrm>
          <a:prstGeom prst="rect">
            <a:avLst/>
          </a:prstGeom>
          <a:solidFill>
            <a:srgbClr val="0F3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5349240"/>
            <a:ext cx="10972800" cy="868680"/>
          </a:xfrm>
          <a:prstGeom prst="rect">
            <a:avLst/>
          </a:prstGeom>
          <a:noFill/>
        </p:spPr>
        <p:txBody>
          <a:bodyPr wrap="square">
            <a:spAutoFit/>
          </a:bodyPr>
          <a:lstStyle/>
          <a:p>
            <a:pPr algn="l"/>
            <a:r>
              <a:rPr sz="1000" b="1">
                <a:solidFill>
                  <a:srgbClr val="21D4D4"/>
                </a:solidFill>
                <a:latin typeface="Aptos Display"/>
              </a:rPr>
              <a:t>Lectura del espectrograma:</a:t>
            </a:r>
          </a:p>
          <a:p>
            <a:pPr algn="l"/>
            <a:r>
              <a:rPr sz="950" b="0">
                <a:solidFill>
                  <a:srgbClr val="B5D3C3"/>
                </a:solidFill>
                <a:latin typeface="Aptos Display"/>
              </a:rPr>
              <a:t>Eje X = tiempo (s)  ·  Eje Y = frecuencia (escala Mel)  ·  Color (magma) = energía en dB relativo al pico (rojo = alta energía).  Las CNN aprenden filtros que detectan patrones espectrales como el silbo descendente de Crypturellus o el graznido pulsado de Ramphastos.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jungle_bg.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64592"/>
            <a:ext cx="11274552" cy="475488"/>
          </a:xfrm>
          <a:prstGeom prst="rect">
            <a:avLst/>
          </a:prstGeom>
          <a:noFill/>
        </p:spPr>
        <p:txBody>
          <a:bodyPr wrap="square">
            <a:spAutoFit/>
          </a:bodyPr>
          <a:lstStyle/>
          <a:p>
            <a:pPr algn="l"/>
            <a:r>
              <a:rPr sz="2100" b="1" i="0">
                <a:solidFill>
                  <a:srgbClr val="EFFCF5"/>
                </a:solidFill>
                <a:latin typeface="Aptos Display"/>
              </a:rPr>
              <a:t>7. Augmentation y control experimental</a:t>
            </a:r>
          </a:p>
        </p:txBody>
      </p:sp>
      <p:sp>
        <p:nvSpPr>
          <p:cNvPr id="4" name="TextBox 3"/>
          <p:cNvSpPr txBox="1"/>
          <p:nvPr/>
        </p:nvSpPr>
        <p:spPr>
          <a:xfrm>
            <a:off x="457200" y="621792"/>
            <a:ext cx="11274552" cy="292608"/>
          </a:xfrm>
          <a:prstGeom prst="rect">
            <a:avLst/>
          </a:prstGeom>
          <a:noFill/>
        </p:spPr>
        <p:txBody>
          <a:bodyPr wrap="square">
            <a:spAutoFit/>
          </a:bodyPr>
          <a:lstStyle/>
          <a:p>
            <a:pPr algn="l"/>
            <a:r>
              <a:rPr sz="1000" b="0" i="0">
                <a:solidFill>
                  <a:srgbClr val="7EAA95"/>
                </a:solidFill>
                <a:latin typeface="Aptos Display"/>
              </a:rPr>
              <a:t>Solo en TRAIN — nunca en val/test para evitar data leakage</a:t>
            </a:r>
          </a:p>
        </p:txBody>
      </p:sp>
      <p:sp>
        <p:nvSpPr>
          <p:cNvPr id="5" name="TextBox 4"/>
          <p:cNvSpPr txBox="1"/>
          <p:nvPr/>
        </p:nvSpPr>
        <p:spPr>
          <a:xfrm>
            <a:off x="457200" y="6537960"/>
            <a:ext cx="8229600" cy="274320"/>
          </a:xfrm>
          <a:prstGeom prst="rect">
            <a:avLst/>
          </a:prstGeom>
          <a:noFill/>
        </p:spPr>
        <p:txBody>
          <a:bodyPr wrap="square">
            <a:spAutoFit/>
          </a:bodyPr>
          <a:lstStyle/>
          <a:p>
            <a:pPr algn="l"/>
            <a:r>
              <a:rPr sz="800" b="0" i="0">
                <a:solidFill>
                  <a:srgbClr val="7EAA95"/>
                </a:solidFill>
                <a:latin typeface="Aptos Display"/>
              </a:rPr>
              <a:t>SelvaSonic-ML · Aprendizaje Automático · UNAL Medellín</a:t>
            </a:r>
          </a:p>
        </p:txBody>
      </p:sp>
      <p:sp>
        <p:nvSpPr>
          <p:cNvPr id="6" name="TextBox 5"/>
          <p:cNvSpPr txBox="1"/>
          <p:nvPr/>
        </p:nvSpPr>
        <p:spPr>
          <a:xfrm>
            <a:off x="11247120" y="6537960"/>
            <a:ext cx="484632" cy="274320"/>
          </a:xfrm>
          <a:prstGeom prst="rect">
            <a:avLst/>
          </a:prstGeom>
          <a:noFill/>
        </p:spPr>
        <p:txBody>
          <a:bodyPr wrap="square">
            <a:spAutoFit/>
          </a:bodyPr>
          <a:lstStyle/>
          <a:p>
            <a:pPr algn="r"/>
            <a:r>
              <a:rPr sz="800" b="0" i="0">
                <a:solidFill>
                  <a:srgbClr val="7EAA95"/>
                </a:solidFill>
                <a:latin typeface="Aptos Display"/>
              </a:rPr>
              <a:t>09</a:t>
            </a:r>
          </a:p>
        </p:txBody>
      </p:sp>
      <p:sp>
        <p:nvSpPr>
          <p:cNvPr id="7" name="Rounded Rectangle 6"/>
          <p:cNvSpPr/>
          <p:nvPr/>
        </p:nvSpPr>
        <p:spPr>
          <a:xfrm>
            <a:off x="457200" y="1005840"/>
            <a:ext cx="3657600" cy="3246120"/>
          </a:xfrm>
          <a:prstGeom prst="roundRect">
            <a:avLst/>
          </a:prstGeom>
          <a:solidFill>
            <a:srgbClr val="0B2B27"/>
          </a:solidFill>
          <a:ln w="9525">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078992"/>
            <a:ext cx="3383280" cy="320040"/>
          </a:xfrm>
          <a:prstGeom prst="rect">
            <a:avLst/>
          </a:prstGeom>
          <a:noFill/>
        </p:spPr>
        <p:txBody>
          <a:bodyPr wrap="square">
            <a:spAutoFit/>
          </a:bodyPr>
          <a:lstStyle/>
          <a:p>
            <a:pPr algn="l"/>
            <a:r>
              <a:rPr sz="1200" b="1" i="0">
                <a:solidFill>
                  <a:srgbClr val="21D4D4"/>
                </a:solidFill>
                <a:latin typeface="Aptos Display"/>
              </a:rPr>
              <a:t>Time Stretch</a:t>
            </a:r>
          </a:p>
        </p:txBody>
      </p:sp>
      <p:sp>
        <p:nvSpPr>
          <p:cNvPr id="9" name="TextBox 8"/>
          <p:cNvSpPr txBox="1"/>
          <p:nvPr/>
        </p:nvSpPr>
        <p:spPr>
          <a:xfrm>
            <a:off x="594360" y="1417320"/>
            <a:ext cx="3383280" cy="274320"/>
          </a:xfrm>
          <a:prstGeom prst="rect">
            <a:avLst/>
          </a:prstGeom>
          <a:noFill/>
        </p:spPr>
        <p:txBody>
          <a:bodyPr wrap="square">
            <a:spAutoFit/>
          </a:bodyPr>
          <a:lstStyle/>
          <a:p>
            <a:pPr algn="l"/>
            <a:r>
              <a:rPr sz="1000" b="0" i="0">
                <a:solidFill>
                  <a:srgbClr val="EFFCF5"/>
                </a:solidFill>
                <a:latin typeface="Aptos Display"/>
              </a:rPr>
              <a:t>rate ∈ [0.8, 1.25]</a:t>
            </a:r>
          </a:p>
        </p:txBody>
      </p:sp>
      <p:sp>
        <p:nvSpPr>
          <p:cNvPr id="10" name="TextBox 9"/>
          <p:cNvSpPr txBox="1"/>
          <p:nvPr/>
        </p:nvSpPr>
        <p:spPr>
          <a:xfrm>
            <a:off x="594360" y="1691640"/>
            <a:ext cx="3383280" cy="256032"/>
          </a:xfrm>
          <a:prstGeom prst="rect">
            <a:avLst/>
          </a:prstGeom>
          <a:noFill/>
        </p:spPr>
        <p:txBody>
          <a:bodyPr wrap="square">
            <a:spAutoFit/>
          </a:bodyPr>
          <a:lstStyle/>
          <a:p>
            <a:pPr algn="l"/>
            <a:r>
              <a:rPr sz="900" b="0" i="0">
                <a:solidFill>
                  <a:srgbClr val="7EAA95"/>
                </a:solidFill>
                <a:latin typeface="Aptos Display"/>
              </a:rPr>
              <a:t>P=0.50</a:t>
            </a:r>
          </a:p>
        </p:txBody>
      </p:sp>
      <p:sp>
        <p:nvSpPr>
          <p:cNvPr id="11" name="TextBox 10"/>
          <p:cNvSpPr txBox="1"/>
          <p:nvPr/>
        </p:nvSpPr>
        <p:spPr>
          <a:xfrm>
            <a:off x="594360" y="2011680"/>
            <a:ext cx="3383280" cy="2011680"/>
          </a:xfrm>
          <a:prstGeom prst="rect">
            <a:avLst/>
          </a:prstGeom>
          <a:noFill/>
        </p:spPr>
        <p:txBody>
          <a:bodyPr wrap="square">
            <a:spAutoFit/>
          </a:bodyPr>
          <a:lstStyle/>
          <a:p>
            <a:pPr algn="l"/>
            <a:r>
              <a:rPr sz="900" b="0" i="0">
                <a:solidFill>
                  <a:srgbClr val="B5D3C3"/>
                </a:solidFill>
                <a:latin typeface="Aptos Display"/>
              </a:rPr>
              <a:t>Simula aves cantando a velocidades distintas (excitación, fatiga). ±25 % sin artefactos del phase vocoder.</a:t>
            </a:r>
          </a:p>
        </p:txBody>
      </p:sp>
      <p:sp>
        <p:nvSpPr>
          <p:cNvPr id="12" name="Rounded Rectangle 11"/>
          <p:cNvSpPr/>
          <p:nvPr/>
        </p:nvSpPr>
        <p:spPr>
          <a:xfrm>
            <a:off x="4297680" y="1005840"/>
            <a:ext cx="3657600" cy="3246120"/>
          </a:xfrm>
          <a:prstGeom prst="roundRect">
            <a:avLst/>
          </a:prstGeom>
          <a:solidFill>
            <a:srgbClr val="0B2B27"/>
          </a:solidFill>
          <a:ln w="9525">
            <a:solidFill>
              <a:srgbClr val="F4D3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1078992"/>
            <a:ext cx="3383280" cy="320040"/>
          </a:xfrm>
          <a:prstGeom prst="rect">
            <a:avLst/>
          </a:prstGeom>
          <a:noFill/>
        </p:spPr>
        <p:txBody>
          <a:bodyPr wrap="square">
            <a:spAutoFit/>
          </a:bodyPr>
          <a:lstStyle/>
          <a:p>
            <a:pPr algn="l"/>
            <a:r>
              <a:rPr sz="1200" b="1" i="0">
                <a:solidFill>
                  <a:srgbClr val="F4D35E"/>
                </a:solidFill>
                <a:latin typeface="Aptos Display"/>
              </a:rPr>
              <a:t>Pitch Shift</a:t>
            </a:r>
          </a:p>
        </p:txBody>
      </p:sp>
      <p:sp>
        <p:nvSpPr>
          <p:cNvPr id="14" name="TextBox 13"/>
          <p:cNvSpPr txBox="1"/>
          <p:nvPr/>
        </p:nvSpPr>
        <p:spPr>
          <a:xfrm>
            <a:off x="4434840" y="1417320"/>
            <a:ext cx="3383280" cy="274320"/>
          </a:xfrm>
          <a:prstGeom prst="rect">
            <a:avLst/>
          </a:prstGeom>
          <a:noFill/>
        </p:spPr>
        <p:txBody>
          <a:bodyPr wrap="square">
            <a:spAutoFit/>
          </a:bodyPr>
          <a:lstStyle/>
          <a:p>
            <a:pPr algn="l"/>
            <a:r>
              <a:rPr sz="1000" b="0" i="0">
                <a:solidFill>
                  <a:srgbClr val="EFFCF5"/>
                </a:solidFill>
                <a:latin typeface="Aptos Display"/>
              </a:rPr>
              <a:t>±2 semitonos</a:t>
            </a:r>
          </a:p>
        </p:txBody>
      </p:sp>
      <p:sp>
        <p:nvSpPr>
          <p:cNvPr id="15" name="TextBox 14"/>
          <p:cNvSpPr txBox="1"/>
          <p:nvPr/>
        </p:nvSpPr>
        <p:spPr>
          <a:xfrm>
            <a:off x="4434840" y="1691640"/>
            <a:ext cx="3383280" cy="256032"/>
          </a:xfrm>
          <a:prstGeom prst="rect">
            <a:avLst/>
          </a:prstGeom>
          <a:noFill/>
        </p:spPr>
        <p:txBody>
          <a:bodyPr wrap="square">
            <a:spAutoFit/>
          </a:bodyPr>
          <a:lstStyle/>
          <a:p>
            <a:pPr algn="l"/>
            <a:r>
              <a:rPr sz="900" b="0" i="0">
                <a:solidFill>
                  <a:srgbClr val="7EAA95"/>
                </a:solidFill>
                <a:latin typeface="Aptos Display"/>
              </a:rPr>
              <a:t>P=0.50</a:t>
            </a:r>
          </a:p>
        </p:txBody>
      </p:sp>
      <p:sp>
        <p:nvSpPr>
          <p:cNvPr id="16" name="TextBox 15"/>
          <p:cNvSpPr txBox="1"/>
          <p:nvPr/>
        </p:nvSpPr>
        <p:spPr>
          <a:xfrm>
            <a:off x="4434840" y="2011680"/>
            <a:ext cx="3383280" cy="2011680"/>
          </a:xfrm>
          <a:prstGeom prst="rect">
            <a:avLst/>
          </a:prstGeom>
          <a:noFill/>
        </p:spPr>
        <p:txBody>
          <a:bodyPr wrap="square">
            <a:spAutoFit/>
          </a:bodyPr>
          <a:lstStyle/>
          <a:p>
            <a:pPr algn="l"/>
            <a:r>
              <a:rPr sz="900" b="0" i="0">
                <a:solidFill>
                  <a:srgbClr val="B5D3C3"/>
                </a:solidFill>
                <a:latin typeface="Aptos Display"/>
              </a:rPr>
              <a:t>Cubre variación natural entre individuos (machos, hembras, juveniles). f' = f × 2^(n/12); ±2 semitonos → [0.89×, 1.12×].</a:t>
            </a:r>
          </a:p>
        </p:txBody>
      </p:sp>
      <p:sp>
        <p:nvSpPr>
          <p:cNvPr id="17" name="Rounded Rectangle 16"/>
          <p:cNvSpPr/>
          <p:nvPr/>
        </p:nvSpPr>
        <p:spPr>
          <a:xfrm>
            <a:off x="8138160" y="1005840"/>
            <a:ext cx="3657600" cy="3246120"/>
          </a:xfrm>
          <a:prstGeom prst="roundRect">
            <a:avLst/>
          </a:prstGeom>
          <a:solidFill>
            <a:srgbClr val="0B2B27"/>
          </a:solidFill>
          <a:ln w="9525">
            <a:solidFill>
              <a:srgbClr val="33D1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1078992"/>
            <a:ext cx="3383280" cy="320040"/>
          </a:xfrm>
          <a:prstGeom prst="rect">
            <a:avLst/>
          </a:prstGeom>
          <a:noFill/>
        </p:spPr>
        <p:txBody>
          <a:bodyPr wrap="square">
            <a:spAutoFit/>
          </a:bodyPr>
          <a:lstStyle/>
          <a:p>
            <a:pPr algn="l"/>
            <a:r>
              <a:rPr sz="1200" b="1" i="0">
                <a:solidFill>
                  <a:srgbClr val="33D17A"/>
                </a:solidFill>
                <a:latin typeface="Aptos Display"/>
              </a:rPr>
              <a:t>Add Noise</a:t>
            </a:r>
          </a:p>
        </p:txBody>
      </p:sp>
      <p:sp>
        <p:nvSpPr>
          <p:cNvPr id="19" name="TextBox 18"/>
          <p:cNvSpPr txBox="1"/>
          <p:nvPr/>
        </p:nvSpPr>
        <p:spPr>
          <a:xfrm>
            <a:off x="8275320" y="1417320"/>
            <a:ext cx="3383280" cy="274320"/>
          </a:xfrm>
          <a:prstGeom prst="rect">
            <a:avLst/>
          </a:prstGeom>
          <a:noFill/>
        </p:spPr>
        <p:txBody>
          <a:bodyPr wrap="square">
            <a:spAutoFit/>
          </a:bodyPr>
          <a:lstStyle/>
          <a:p>
            <a:pPr algn="l"/>
            <a:r>
              <a:rPr sz="1000" b="0" i="0">
                <a:solidFill>
                  <a:srgbClr val="EFFCF5"/>
                </a:solidFill>
                <a:latin typeface="Aptos Display"/>
              </a:rPr>
              <a:t>SNR ∈ [10, 30] dB</a:t>
            </a:r>
          </a:p>
        </p:txBody>
      </p:sp>
      <p:sp>
        <p:nvSpPr>
          <p:cNvPr id="20" name="TextBox 19"/>
          <p:cNvSpPr txBox="1"/>
          <p:nvPr/>
        </p:nvSpPr>
        <p:spPr>
          <a:xfrm>
            <a:off x="8275320" y="1691640"/>
            <a:ext cx="3383280" cy="256032"/>
          </a:xfrm>
          <a:prstGeom prst="rect">
            <a:avLst/>
          </a:prstGeom>
          <a:noFill/>
        </p:spPr>
        <p:txBody>
          <a:bodyPr wrap="square">
            <a:spAutoFit/>
          </a:bodyPr>
          <a:lstStyle/>
          <a:p>
            <a:pPr algn="l"/>
            <a:r>
              <a:rPr sz="900" b="0" i="0">
                <a:solidFill>
                  <a:srgbClr val="7EAA95"/>
                </a:solidFill>
                <a:latin typeface="Aptos Display"/>
              </a:rPr>
              <a:t>P=0.70</a:t>
            </a:r>
          </a:p>
        </p:txBody>
      </p:sp>
      <p:sp>
        <p:nvSpPr>
          <p:cNvPr id="21" name="TextBox 20"/>
          <p:cNvSpPr txBox="1"/>
          <p:nvPr/>
        </p:nvSpPr>
        <p:spPr>
          <a:xfrm>
            <a:off x="8275320" y="2011680"/>
            <a:ext cx="3383280" cy="2011680"/>
          </a:xfrm>
          <a:prstGeom prst="rect">
            <a:avLst/>
          </a:prstGeom>
          <a:noFill/>
        </p:spPr>
        <p:txBody>
          <a:bodyPr wrap="square">
            <a:spAutoFit/>
          </a:bodyPr>
          <a:lstStyle/>
          <a:p>
            <a:pPr algn="l"/>
            <a:r>
              <a:rPr sz="900" b="0" i="0">
                <a:solidFill>
                  <a:srgbClr val="B5D3C3"/>
                </a:solidFill>
                <a:latin typeface="Aptos Display"/>
              </a:rPr>
              <a:t>Simula condiciones de campo. SNR=30 dB silencioso, SNR=10 dB lluvia/ambiente. Más alto P porque es la condición más realista.</a:t>
            </a:r>
          </a:p>
        </p:txBody>
      </p:sp>
      <p:sp>
        <p:nvSpPr>
          <p:cNvPr id="22" name="Rectangle 21"/>
          <p:cNvSpPr/>
          <p:nvPr/>
        </p:nvSpPr>
        <p:spPr>
          <a:xfrm>
            <a:off x="457200" y="4407408"/>
            <a:ext cx="11274552" cy="1005840"/>
          </a:xfrm>
          <a:prstGeom prst="rect">
            <a:avLst/>
          </a:prstGeom>
          <a:solidFill>
            <a:srgbClr val="0F3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480560"/>
            <a:ext cx="10972800" cy="868680"/>
          </a:xfrm>
          <a:prstGeom prst="rect">
            <a:avLst/>
          </a:prstGeom>
          <a:noFill/>
        </p:spPr>
        <p:txBody>
          <a:bodyPr wrap="square">
            <a:spAutoFit/>
          </a:bodyPr>
          <a:lstStyle/>
          <a:p>
            <a:pPr algn="l"/>
            <a:r>
              <a:rPr sz="1000" b="1">
                <a:solidFill>
                  <a:srgbClr val="F4D35E"/>
                </a:solidFill>
                <a:latin typeface="Aptos Display"/>
              </a:rPr>
              <a:t>Principios del control experimental:</a:t>
            </a:r>
          </a:p>
          <a:p>
            <a:pPr algn="l"/>
            <a:r>
              <a:rPr sz="950" b="0">
                <a:solidFill>
                  <a:srgbClr val="B5D3C3"/>
                </a:solidFill>
                <a:latin typeface="Aptos Display"/>
              </a:rPr>
              <a:t>·  Augmentation SOLO en train splits — val y test usan audio crudo sin modificar.  ·  La augmentation es temporal: cada epoch el mini-batch puede ver versiones distintas del mismo audio.  ·  Short Audio Strategy = 'wrap' (loop circular) en lugar de zero-padding — evita que el modelo aprenda 'borde de silencio' como feature artefacto.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jungle_bg.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64592"/>
            <a:ext cx="11274552" cy="475488"/>
          </a:xfrm>
          <a:prstGeom prst="rect">
            <a:avLst/>
          </a:prstGeom>
          <a:noFill/>
        </p:spPr>
        <p:txBody>
          <a:bodyPr wrap="square">
            <a:spAutoFit/>
          </a:bodyPr>
          <a:lstStyle/>
          <a:p>
            <a:pPr algn="l"/>
            <a:r>
              <a:rPr sz="2100" b="1" i="0">
                <a:solidFill>
                  <a:srgbClr val="EFFCF5"/>
                </a:solidFill>
                <a:latin typeface="Aptos Display"/>
              </a:rPr>
              <a:t>8a. Arquitectura 1: Baseline CNN</a:t>
            </a:r>
          </a:p>
        </p:txBody>
      </p:sp>
      <p:sp>
        <p:nvSpPr>
          <p:cNvPr id="4" name="TextBox 3"/>
          <p:cNvSpPr txBox="1"/>
          <p:nvPr/>
        </p:nvSpPr>
        <p:spPr>
          <a:xfrm>
            <a:off x="457200" y="621792"/>
            <a:ext cx="11274552" cy="292608"/>
          </a:xfrm>
          <a:prstGeom prst="rect">
            <a:avLst/>
          </a:prstGeom>
          <a:noFill/>
        </p:spPr>
        <p:txBody>
          <a:bodyPr wrap="square">
            <a:spAutoFit/>
          </a:bodyPr>
          <a:lstStyle/>
          <a:p>
            <a:pPr algn="l"/>
            <a:r>
              <a:rPr sz="1000" b="0" i="0">
                <a:solidFill>
                  <a:srgbClr val="7EAA95"/>
                </a:solidFill>
                <a:latin typeface="Aptos Display"/>
              </a:rPr>
              <a:t>Punto de partida de la progresión metodológica</a:t>
            </a:r>
          </a:p>
        </p:txBody>
      </p:sp>
      <p:sp>
        <p:nvSpPr>
          <p:cNvPr id="5" name="TextBox 4"/>
          <p:cNvSpPr txBox="1"/>
          <p:nvPr/>
        </p:nvSpPr>
        <p:spPr>
          <a:xfrm>
            <a:off x="457200" y="6537960"/>
            <a:ext cx="8229600" cy="274320"/>
          </a:xfrm>
          <a:prstGeom prst="rect">
            <a:avLst/>
          </a:prstGeom>
          <a:noFill/>
        </p:spPr>
        <p:txBody>
          <a:bodyPr wrap="square">
            <a:spAutoFit/>
          </a:bodyPr>
          <a:lstStyle/>
          <a:p>
            <a:pPr algn="l"/>
            <a:r>
              <a:rPr sz="800" b="0" i="0">
                <a:solidFill>
                  <a:srgbClr val="7EAA95"/>
                </a:solidFill>
                <a:latin typeface="Aptos Display"/>
              </a:rPr>
              <a:t>SelvaSonic-ML · Aprendizaje Automático · UNAL Medellín</a:t>
            </a:r>
          </a:p>
        </p:txBody>
      </p:sp>
      <p:sp>
        <p:nvSpPr>
          <p:cNvPr id="6" name="TextBox 5"/>
          <p:cNvSpPr txBox="1"/>
          <p:nvPr/>
        </p:nvSpPr>
        <p:spPr>
          <a:xfrm>
            <a:off x="11247120" y="6537960"/>
            <a:ext cx="484632" cy="274320"/>
          </a:xfrm>
          <a:prstGeom prst="rect">
            <a:avLst/>
          </a:prstGeom>
          <a:noFill/>
        </p:spPr>
        <p:txBody>
          <a:bodyPr wrap="square">
            <a:spAutoFit/>
          </a:bodyPr>
          <a:lstStyle/>
          <a:p>
            <a:pPr algn="r"/>
            <a:r>
              <a:rPr sz="800" b="0" i="0">
                <a:solidFill>
                  <a:srgbClr val="7EAA95"/>
                </a:solidFill>
                <a:latin typeface="Aptos Display"/>
              </a:rPr>
              <a:t>10</a:t>
            </a:r>
          </a:p>
        </p:txBody>
      </p:sp>
      <p:sp>
        <p:nvSpPr>
          <p:cNvPr id="7" name="Rectangle 6"/>
          <p:cNvSpPr/>
          <p:nvPr/>
        </p:nvSpPr>
        <p:spPr>
          <a:xfrm>
            <a:off x="411480" y="1005840"/>
            <a:ext cx="2103120" cy="2286000"/>
          </a:xfrm>
          <a:prstGeom prst="rect">
            <a:avLst/>
          </a:prstGeom>
          <a:solidFill>
            <a:srgbClr val="0B2B27"/>
          </a:solidFill>
          <a:ln w="9525">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78992"/>
            <a:ext cx="1920240" cy="320040"/>
          </a:xfrm>
          <a:prstGeom prst="rect">
            <a:avLst/>
          </a:prstGeom>
          <a:noFill/>
        </p:spPr>
        <p:txBody>
          <a:bodyPr wrap="square">
            <a:spAutoFit/>
          </a:bodyPr>
          <a:lstStyle/>
          <a:p>
            <a:pPr algn="ctr"/>
            <a:r>
              <a:rPr sz="1000" b="1" i="0">
                <a:solidFill>
                  <a:srgbClr val="21D4D4"/>
                </a:solidFill>
                <a:latin typeface="Aptos Display"/>
              </a:rPr>
              <a:t>Input</a:t>
            </a:r>
          </a:p>
        </p:txBody>
      </p:sp>
      <p:sp>
        <p:nvSpPr>
          <p:cNvPr id="9" name="TextBox 8"/>
          <p:cNvSpPr txBox="1"/>
          <p:nvPr/>
        </p:nvSpPr>
        <p:spPr>
          <a:xfrm>
            <a:off x="502920" y="1417320"/>
            <a:ext cx="1920240" cy="274320"/>
          </a:xfrm>
          <a:prstGeom prst="rect">
            <a:avLst/>
          </a:prstGeom>
          <a:noFill/>
        </p:spPr>
        <p:txBody>
          <a:bodyPr wrap="square">
            <a:spAutoFit/>
          </a:bodyPr>
          <a:lstStyle/>
          <a:p>
            <a:pPr algn="ctr"/>
            <a:r>
              <a:rPr sz="950" b="0" i="0">
                <a:solidFill>
                  <a:srgbClr val="EFFCF5"/>
                </a:solidFill>
                <a:latin typeface="Aptos Display"/>
              </a:rPr>
              <a:t>[B, 1, 128, 216]</a:t>
            </a:r>
          </a:p>
        </p:txBody>
      </p:sp>
      <p:sp>
        <p:nvSpPr>
          <p:cNvPr id="10" name="TextBox 9"/>
          <p:cNvSpPr txBox="1"/>
          <p:nvPr/>
        </p:nvSpPr>
        <p:spPr>
          <a:xfrm>
            <a:off x="502920" y="1719072"/>
            <a:ext cx="1920240" cy="1371600"/>
          </a:xfrm>
          <a:prstGeom prst="rect">
            <a:avLst/>
          </a:prstGeom>
          <a:noFill/>
        </p:spPr>
        <p:txBody>
          <a:bodyPr wrap="square">
            <a:spAutoFit/>
          </a:bodyPr>
          <a:lstStyle/>
          <a:p>
            <a:pPr algn="ctr"/>
            <a:r>
              <a:rPr sz="850" b="0" i="0">
                <a:solidFill>
                  <a:srgbClr val="B5D3C3"/>
                </a:solidFill>
                <a:latin typeface="Aptos Display"/>
              </a:rPr>
              <a:t>Mel-espectrograma
normalizado</a:t>
            </a:r>
          </a:p>
        </p:txBody>
      </p:sp>
      <p:sp>
        <p:nvSpPr>
          <p:cNvPr id="11" name="TextBox 10"/>
          <p:cNvSpPr txBox="1"/>
          <p:nvPr/>
        </p:nvSpPr>
        <p:spPr>
          <a:xfrm>
            <a:off x="2514600" y="1965960"/>
            <a:ext cx="246888" cy="365760"/>
          </a:xfrm>
          <a:prstGeom prst="rect">
            <a:avLst/>
          </a:prstGeom>
          <a:noFill/>
        </p:spPr>
        <p:txBody>
          <a:bodyPr wrap="square">
            <a:spAutoFit/>
          </a:bodyPr>
          <a:lstStyle/>
          <a:p>
            <a:pPr algn="ctr"/>
            <a:r>
              <a:rPr sz="1600" b="0" i="0">
                <a:solidFill>
                  <a:srgbClr val="7EAA95"/>
                </a:solidFill>
                <a:latin typeface="Aptos Display"/>
              </a:rPr>
              <a:t>→</a:t>
            </a:r>
          </a:p>
        </p:txBody>
      </p:sp>
      <p:sp>
        <p:nvSpPr>
          <p:cNvPr id="12" name="Rectangle 11"/>
          <p:cNvSpPr/>
          <p:nvPr/>
        </p:nvSpPr>
        <p:spPr>
          <a:xfrm>
            <a:off x="2761488" y="1005840"/>
            <a:ext cx="2103120" cy="2286000"/>
          </a:xfrm>
          <a:prstGeom prst="rect">
            <a:avLst/>
          </a:prstGeom>
          <a:solidFill>
            <a:srgbClr val="0B2B27"/>
          </a:solidFill>
          <a:ln w="9525">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2928" y="1078992"/>
            <a:ext cx="1920240" cy="320040"/>
          </a:xfrm>
          <a:prstGeom prst="rect">
            <a:avLst/>
          </a:prstGeom>
          <a:noFill/>
        </p:spPr>
        <p:txBody>
          <a:bodyPr wrap="square">
            <a:spAutoFit/>
          </a:bodyPr>
          <a:lstStyle/>
          <a:p>
            <a:pPr algn="ctr"/>
            <a:r>
              <a:rPr sz="1000" b="1" i="0">
                <a:solidFill>
                  <a:srgbClr val="21D4D4"/>
                </a:solidFill>
                <a:latin typeface="Aptos Display"/>
              </a:rPr>
              <a:t>Conv Block ×4</a:t>
            </a:r>
          </a:p>
        </p:txBody>
      </p:sp>
      <p:sp>
        <p:nvSpPr>
          <p:cNvPr id="14" name="TextBox 13"/>
          <p:cNvSpPr txBox="1"/>
          <p:nvPr/>
        </p:nvSpPr>
        <p:spPr>
          <a:xfrm>
            <a:off x="2852928" y="1417320"/>
            <a:ext cx="1920240" cy="274320"/>
          </a:xfrm>
          <a:prstGeom prst="rect">
            <a:avLst/>
          </a:prstGeom>
          <a:noFill/>
        </p:spPr>
        <p:txBody>
          <a:bodyPr wrap="square">
            <a:spAutoFit/>
          </a:bodyPr>
          <a:lstStyle/>
          <a:p>
            <a:pPr algn="ctr"/>
            <a:r>
              <a:rPr sz="950" b="0" i="0">
                <a:solidFill>
                  <a:srgbClr val="EFFCF5"/>
                </a:solidFill>
                <a:latin typeface="Aptos Display"/>
              </a:rPr>
              <a:t>32→64→128→256</a:t>
            </a:r>
          </a:p>
        </p:txBody>
      </p:sp>
      <p:sp>
        <p:nvSpPr>
          <p:cNvPr id="15" name="TextBox 14"/>
          <p:cNvSpPr txBox="1"/>
          <p:nvPr/>
        </p:nvSpPr>
        <p:spPr>
          <a:xfrm>
            <a:off x="2852928" y="1719072"/>
            <a:ext cx="1920240" cy="1371600"/>
          </a:xfrm>
          <a:prstGeom prst="rect">
            <a:avLst/>
          </a:prstGeom>
          <a:noFill/>
        </p:spPr>
        <p:txBody>
          <a:bodyPr wrap="square">
            <a:spAutoFit/>
          </a:bodyPr>
          <a:lstStyle/>
          <a:p>
            <a:pPr algn="ctr"/>
            <a:r>
              <a:rPr sz="850" b="0" i="0">
                <a:solidFill>
                  <a:srgbClr val="B5D3C3"/>
                </a:solidFill>
                <a:latin typeface="Aptos Display"/>
              </a:rPr>
              <a:t>BN + ReLU + MaxPool
cada bloque</a:t>
            </a:r>
          </a:p>
        </p:txBody>
      </p:sp>
      <p:sp>
        <p:nvSpPr>
          <p:cNvPr id="16" name="TextBox 15"/>
          <p:cNvSpPr txBox="1"/>
          <p:nvPr/>
        </p:nvSpPr>
        <p:spPr>
          <a:xfrm>
            <a:off x="4864608" y="1965960"/>
            <a:ext cx="246888" cy="365760"/>
          </a:xfrm>
          <a:prstGeom prst="rect">
            <a:avLst/>
          </a:prstGeom>
          <a:noFill/>
        </p:spPr>
        <p:txBody>
          <a:bodyPr wrap="square">
            <a:spAutoFit/>
          </a:bodyPr>
          <a:lstStyle/>
          <a:p>
            <a:pPr algn="ctr"/>
            <a:r>
              <a:rPr sz="1600" b="0" i="0">
                <a:solidFill>
                  <a:srgbClr val="7EAA95"/>
                </a:solidFill>
                <a:latin typeface="Aptos Display"/>
              </a:rPr>
              <a:t>→</a:t>
            </a:r>
          </a:p>
        </p:txBody>
      </p:sp>
      <p:sp>
        <p:nvSpPr>
          <p:cNvPr id="17" name="Rectangle 16"/>
          <p:cNvSpPr/>
          <p:nvPr/>
        </p:nvSpPr>
        <p:spPr>
          <a:xfrm>
            <a:off x="5111496" y="1005840"/>
            <a:ext cx="2103120" cy="2286000"/>
          </a:xfrm>
          <a:prstGeom prst="rect">
            <a:avLst/>
          </a:prstGeom>
          <a:solidFill>
            <a:srgbClr val="0B2B27"/>
          </a:solidFill>
          <a:ln w="9525">
            <a:solidFill>
              <a:srgbClr val="33D1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1078992"/>
            <a:ext cx="1920240" cy="320040"/>
          </a:xfrm>
          <a:prstGeom prst="rect">
            <a:avLst/>
          </a:prstGeom>
          <a:noFill/>
        </p:spPr>
        <p:txBody>
          <a:bodyPr wrap="square">
            <a:spAutoFit/>
          </a:bodyPr>
          <a:lstStyle/>
          <a:p>
            <a:pPr algn="ctr"/>
            <a:r>
              <a:rPr sz="1000" b="1" i="0">
                <a:solidFill>
                  <a:srgbClr val="33D17A"/>
                </a:solidFill>
                <a:latin typeface="Aptos Display"/>
              </a:rPr>
              <a:t>Global Avg Pool</a:t>
            </a:r>
          </a:p>
        </p:txBody>
      </p:sp>
      <p:sp>
        <p:nvSpPr>
          <p:cNvPr id="19" name="TextBox 18"/>
          <p:cNvSpPr txBox="1"/>
          <p:nvPr/>
        </p:nvSpPr>
        <p:spPr>
          <a:xfrm>
            <a:off x="5202936" y="1417320"/>
            <a:ext cx="1920240" cy="274320"/>
          </a:xfrm>
          <a:prstGeom prst="rect">
            <a:avLst/>
          </a:prstGeom>
          <a:noFill/>
        </p:spPr>
        <p:txBody>
          <a:bodyPr wrap="square">
            <a:spAutoFit/>
          </a:bodyPr>
          <a:lstStyle/>
          <a:p>
            <a:pPr algn="ctr"/>
            <a:r>
              <a:rPr sz="950" b="0" i="0">
                <a:solidFill>
                  <a:srgbClr val="EFFCF5"/>
                </a:solidFill>
                <a:latin typeface="Aptos Display"/>
              </a:rPr>
              <a:t>[B, 256]</a:t>
            </a:r>
          </a:p>
        </p:txBody>
      </p:sp>
      <p:sp>
        <p:nvSpPr>
          <p:cNvPr id="20" name="TextBox 19"/>
          <p:cNvSpPr txBox="1"/>
          <p:nvPr/>
        </p:nvSpPr>
        <p:spPr>
          <a:xfrm>
            <a:off x="5202936" y="1719072"/>
            <a:ext cx="1920240" cy="1371600"/>
          </a:xfrm>
          <a:prstGeom prst="rect">
            <a:avLst/>
          </a:prstGeom>
          <a:noFill/>
        </p:spPr>
        <p:txBody>
          <a:bodyPr wrap="square">
            <a:spAutoFit/>
          </a:bodyPr>
          <a:lstStyle/>
          <a:p>
            <a:pPr algn="ctr"/>
            <a:r>
              <a:rPr sz="850" b="0" i="0">
                <a:solidFill>
                  <a:srgbClr val="B5D3C3"/>
                </a:solidFill>
                <a:latin typeface="Aptos Display"/>
              </a:rPr>
              <a:t>Colapsa dimensiones
tempo-spectrales</a:t>
            </a:r>
          </a:p>
        </p:txBody>
      </p:sp>
      <p:sp>
        <p:nvSpPr>
          <p:cNvPr id="21" name="TextBox 20"/>
          <p:cNvSpPr txBox="1"/>
          <p:nvPr/>
        </p:nvSpPr>
        <p:spPr>
          <a:xfrm>
            <a:off x="7214616" y="1965960"/>
            <a:ext cx="246888" cy="365760"/>
          </a:xfrm>
          <a:prstGeom prst="rect">
            <a:avLst/>
          </a:prstGeom>
          <a:noFill/>
        </p:spPr>
        <p:txBody>
          <a:bodyPr wrap="square">
            <a:spAutoFit/>
          </a:bodyPr>
          <a:lstStyle/>
          <a:p>
            <a:pPr algn="ctr"/>
            <a:r>
              <a:rPr sz="1600" b="0" i="0">
                <a:solidFill>
                  <a:srgbClr val="7EAA95"/>
                </a:solidFill>
                <a:latin typeface="Aptos Display"/>
              </a:rPr>
              <a:t>→</a:t>
            </a:r>
          </a:p>
        </p:txBody>
      </p:sp>
      <p:sp>
        <p:nvSpPr>
          <p:cNvPr id="22" name="Rectangle 21"/>
          <p:cNvSpPr/>
          <p:nvPr/>
        </p:nvSpPr>
        <p:spPr>
          <a:xfrm>
            <a:off x="7461503" y="1005840"/>
            <a:ext cx="2103120" cy="2286000"/>
          </a:xfrm>
          <a:prstGeom prst="rect">
            <a:avLst/>
          </a:prstGeom>
          <a:solidFill>
            <a:srgbClr val="0B2B27"/>
          </a:solidFill>
          <a:ln w="9525">
            <a:solidFill>
              <a:srgbClr val="F4D3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52943" y="1078992"/>
            <a:ext cx="1920240" cy="320040"/>
          </a:xfrm>
          <a:prstGeom prst="rect">
            <a:avLst/>
          </a:prstGeom>
          <a:noFill/>
        </p:spPr>
        <p:txBody>
          <a:bodyPr wrap="square">
            <a:spAutoFit/>
          </a:bodyPr>
          <a:lstStyle/>
          <a:p>
            <a:pPr algn="ctr"/>
            <a:r>
              <a:rPr sz="1000" b="1" i="0">
                <a:solidFill>
                  <a:srgbClr val="F4D35E"/>
                </a:solidFill>
                <a:latin typeface="Aptos Display"/>
              </a:rPr>
              <a:t>FC + Dropout</a:t>
            </a:r>
          </a:p>
        </p:txBody>
      </p:sp>
      <p:sp>
        <p:nvSpPr>
          <p:cNvPr id="24" name="TextBox 23"/>
          <p:cNvSpPr txBox="1"/>
          <p:nvPr/>
        </p:nvSpPr>
        <p:spPr>
          <a:xfrm>
            <a:off x="7552943" y="1417320"/>
            <a:ext cx="1920240" cy="274320"/>
          </a:xfrm>
          <a:prstGeom prst="rect">
            <a:avLst/>
          </a:prstGeom>
          <a:noFill/>
        </p:spPr>
        <p:txBody>
          <a:bodyPr wrap="square">
            <a:spAutoFit/>
          </a:bodyPr>
          <a:lstStyle/>
          <a:p>
            <a:pPr algn="ctr"/>
            <a:r>
              <a:rPr sz="950" b="0" i="0">
                <a:solidFill>
                  <a:srgbClr val="EFFCF5"/>
                </a:solidFill>
                <a:latin typeface="Aptos Display"/>
              </a:rPr>
              <a:t>256 → 128</a:t>
            </a:r>
          </a:p>
        </p:txBody>
      </p:sp>
      <p:sp>
        <p:nvSpPr>
          <p:cNvPr id="25" name="TextBox 24"/>
          <p:cNvSpPr txBox="1"/>
          <p:nvPr/>
        </p:nvSpPr>
        <p:spPr>
          <a:xfrm>
            <a:off x="7552943" y="1719072"/>
            <a:ext cx="1920240" cy="1371600"/>
          </a:xfrm>
          <a:prstGeom prst="rect">
            <a:avLst/>
          </a:prstGeom>
          <a:noFill/>
        </p:spPr>
        <p:txBody>
          <a:bodyPr wrap="square">
            <a:spAutoFit/>
          </a:bodyPr>
          <a:lstStyle/>
          <a:p>
            <a:pPr algn="ctr"/>
            <a:r>
              <a:rPr sz="850" b="0" i="0">
                <a:solidFill>
                  <a:srgbClr val="B5D3C3"/>
                </a:solidFill>
                <a:latin typeface="Aptos Display"/>
              </a:rPr>
              <a:t>Dropout 0.3
activación ReLU</a:t>
            </a:r>
          </a:p>
        </p:txBody>
      </p:sp>
      <p:sp>
        <p:nvSpPr>
          <p:cNvPr id="26" name="TextBox 25"/>
          <p:cNvSpPr txBox="1"/>
          <p:nvPr/>
        </p:nvSpPr>
        <p:spPr>
          <a:xfrm>
            <a:off x="9564623" y="1965960"/>
            <a:ext cx="246888" cy="365760"/>
          </a:xfrm>
          <a:prstGeom prst="rect">
            <a:avLst/>
          </a:prstGeom>
          <a:noFill/>
        </p:spPr>
        <p:txBody>
          <a:bodyPr wrap="square">
            <a:spAutoFit/>
          </a:bodyPr>
          <a:lstStyle/>
          <a:p>
            <a:pPr algn="ctr"/>
            <a:r>
              <a:rPr sz="1600" b="0" i="0">
                <a:solidFill>
                  <a:srgbClr val="7EAA95"/>
                </a:solidFill>
                <a:latin typeface="Aptos Display"/>
              </a:rPr>
              <a:t>→</a:t>
            </a:r>
          </a:p>
        </p:txBody>
      </p:sp>
      <p:sp>
        <p:nvSpPr>
          <p:cNvPr id="27" name="Rectangle 26"/>
          <p:cNvSpPr/>
          <p:nvPr/>
        </p:nvSpPr>
        <p:spPr>
          <a:xfrm>
            <a:off x="9811511" y="1005840"/>
            <a:ext cx="2103120" cy="2286000"/>
          </a:xfrm>
          <a:prstGeom prst="rect">
            <a:avLst/>
          </a:prstGeom>
          <a:solidFill>
            <a:srgbClr val="0B2B27"/>
          </a:solidFill>
          <a:ln w="9525">
            <a:solidFill>
              <a:srgbClr val="FF9F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02951" y="1078992"/>
            <a:ext cx="1920240" cy="320040"/>
          </a:xfrm>
          <a:prstGeom prst="rect">
            <a:avLst/>
          </a:prstGeom>
          <a:noFill/>
        </p:spPr>
        <p:txBody>
          <a:bodyPr wrap="square">
            <a:spAutoFit/>
          </a:bodyPr>
          <a:lstStyle/>
          <a:p>
            <a:pPr algn="ctr"/>
            <a:r>
              <a:rPr sz="1000" b="1" i="0">
                <a:solidFill>
                  <a:srgbClr val="FF9F1C"/>
                </a:solidFill>
                <a:latin typeface="Aptos Display"/>
              </a:rPr>
              <a:t>Classifier</a:t>
            </a:r>
          </a:p>
        </p:txBody>
      </p:sp>
      <p:sp>
        <p:nvSpPr>
          <p:cNvPr id="29" name="TextBox 28"/>
          <p:cNvSpPr txBox="1"/>
          <p:nvPr/>
        </p:nvSpPr>
        <p:spPr>
          <a:xfrm>
            <a:off x="9902951" y="1417320"/>
            <a:ext cx="1920240" cy="274320"/>
          </a:xfrm>
          <a:prstGeom prst="rect">
            <a:avLst/>
          </a:prstGeom>
          <a:noFill/>
        </p:spPr>
        <p:txBody>
          <a:bodyPr wrap="square">
            <a:spAutoFit/>
          </a:bodyPr>
          <a:lstStyle/>
          <a:p>
            <a:pPr algn="ctr"/>
            <a:r>
              <a:rPr sz="950" b="0" i="0">
                <a:solidFill>
                  <a:srgbClr val="EFFCF5"/>
                </a:solidFill>
                <a:latin typeface="Aptos Display"/>
              </a:rPr>
              <a:t>128 → 11</a:t>
            </a:r>
          </a:p>
        </p:txBody>
      </p:sp>
      <p:sp>
        <p:nvSpPr>
          <p:cNvPr id="30" name="TextBox 29"/>
          <p:cNvSpPr txBox="1"/>
          <p:nvPr/>
        </p:nvSpPr>
        <p:spPr>
          <a:xfrm>
            <a:off x="9902951" y="1719072"/>
            <a:ext cx="1920240" cy="1371600"/>
          </a:xfrm>
          <a:prstGeom prst="rect">
            <a:avLst/>
          </a:prstGeom>
          <a:noFill/>
        </p:spPr>
        <p:txBody>
          <a:bodyPr wrap="square">
            <a:spAutoFit/>
          </a:bodyPr>
          <a:lstStyle/>
          <a:p>
            <a:pPr algn="ctr"/>
            <a:r>
              <a:rPr sz="850" b="0" i="0">
                <a:solidFill>
                  <a:srgbClr val="B5D3C3"/>
                </a:solidFill>
                <a:latin typeface="Aptos Display"/>
              </a:rPr>
              <a:t>LogSoftmax
11 clases</a:t>
            </a:r>
          </a:p>
        </p:txBody>
      </p:sp>
      <p:sp>
        <p:nvSpPr>
          <p:cNvPr id="31" name="Rectangle 30"/>
          <p:cNvSpPr/>
          <p:nvPr/>
        </p:nvSpPr>
        <p:spPr>
          <a:xfrm>
            <a:off x="457200" y="3456432"/>
            <a:ext cx="11274552" cy="1005840"/>
          </a:xfrm>
          <a:prstGeom prst="rect">
            <a:avLst/>
          </a:prstGeom>
          <a:solidFill>
            <a:srgbClr val="082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3538728"/>
            <a:ext cx="2743200" cy="411480"/>
          </a:xfrm>
          <a:prstGeom prst="rect">
            <a:avLst/>
          </a:prstGeom>
          <a:noFill/>
        </p:spPr>
        <p:txBody>
          <a:bodyPr wrap="square">
            <a:spAutoFit/>
          </a:bodyPr>
          <a:lstStyle/>
          <a:p>
            <a:pPr algn="l"/>
            <a:r>
              <a:rPr sz="2800" b="1" i="0">
                <a:solidFill>
                  <a:srgbClr val="21D4D4"/>
                </a:solidFill>
                <a:latin typeface="Aptos Display"/>
              </a:rPr>
              <a:t>422,635</a:t>
            </a:r>
          </a:p>
        </p:txBody>
      </p:sp>
      <p:sp>
        <p:nvSpPr>
          <p:cNvPr id="33" name="TextBox 32"/>
          <p:cNvSpPr txBox="1"/>
          <p:nvPr/>
        </p:nvSpPr>
        <p:spPr>
          <a:xfrm>
            <a:off x="548640" y="3977639"/>
            <a:ext cx="2743200" cy="256032"/>
          </a:xfrm>
          <a:prstGeom prst="rect">
            <a:avLst/>
          </a:prstGeom>
          <a:noFill/>
        </p:spPr>
        <p:txBody>
          <a:bodyPr wrap="square">
            <a:spAutoFit/>
          </a:bodyPr>
          <a:lstStyle/>
          <a:p>
            <a:pPr algn="l"/>
            <a:r>
              <a:rPr sz="850" b="0" i="0">
                <a:solidFill>
                  <a:srgbClr val="7EAA95"/>
                </a:solidFill>
                <a:latin typeface="Aptos Display"/>
              </a:rPr>
              <a:t>parámetros totales</a:t>
            </a:r>
          </a:p>
        </p:txBody>
      </p:sp>
      <p:sp>
        <p:nvSpPr>
          <p:cNvPr id="34" name="TextBox 33"/>
          <p:cNvSpPr txBox="1"/>
          <p:nvPr/>
        </p:nvSpPr>
        <p:spPr>
          <a:xfrm>
            <a:off x="3355848" y="3538728"/>
            <a:ext cx="2743200" cy="411480"/>
          </a:xfrm>
          <a:prstGeom prst="rect">
            <a:avLst/>
          </a:prstGeom>
          <a:noFill/>
        </p:spPr>
        <p:txBody>
          <a:bodyPr wrap="square">
            <a:spAutoFit/>
          </a:bodyPr>
          <a:lstStyle/>
          <a:p>
            <a:pPr algn="l"/>
            <a:r>
              <a:rPr sz="2800" b="1" i="0">
                <a:solidFill>
                  <a:srgbClr val="33D17A"/>
                </a:solidFill>
                <a:latin typeface="Aptos Display"/>
              </a:rPr>
              <a:t>27 / 30</a:t>
            </a:r>
          </a:p>
        </p:txBody>
      </p:sp>
      <p:sp>
        <p:nvSpPr>
          <p:cNvPr id="35" name="TextBox 34"/>
          <p:cNvSpPr txBox="1"/>
          <p:nvPr/>
        </p:nvSpPr>
        <p:spPr>
          <a:xfrm>
            <a:off x="3355848" y="3977639"/>
            <a:ext cx="2743200" cy="256032"/>
          </a:xfrm>
          <a:prstGeom prst="rect">
            <a:avLst/>
          </a:prstGeom>
          <a:noFill/>
        </p:spPr>
        <p:txBody>
          <a:bodyPr wrap="square">
            <a:spAutoFit/>
          </a:bodyPr>
          <a:lstStyle/>
          <a:p>
            <a:pPr algn="l"/>
            <a:r>
              <a:rPr sz="850" b="0" i="0">
                <a:solidFill>
                  <a:srgbClr val="7EAA95"/>
                </a:solidFill>
                <a:latin typeface="Aptos Display"/>
              </a:rPr>
              <a:t>epochs (early stop.)</a:t>
            </a:r>
          </a:p>
        </p:txBody>
      </p:sp>
      <p:sp>
        <p:nvSpPr>
          <p:cNvPr id="36" name="TextBox 35"/>
          <p:cNvSpPr txBox="1"/>
          <p:nvPr/>
        </p:nvSpPr>
        <p:spPr>
          <a:xfrm>
            <a:off x="6163055" y="3538728"/>
            <a:ext cx="2743200" cy="411480"/>
          </a:xfrm>
          <a:prstGeom prst="rect">
            <a:avLst/>
          </a:prstGeom>
          <a:noFill/>
        </p:spPr>
        <p:txBody>
          <a:bodyPr wrap="square">
            <a:spAutoFit/>
          </a:bodyPr>
          <a:lstStyle/>
          <a:p>
            <a:pPr algn="l"/>
            <a:r>
              <a:rPr sz="2800" b="1" i="0">
                <a:solidFill>
                  <a:srgbClr val="F4D35E"/>
                </a:solidFill>
                <a:latin typeface="Aptos Display"/>
              </a:rPr>
              <a:t>0.6322</a:t>
            </a:r>
          </a:p>
        </p:txBody>
      </p:sp>
      <p:sp>
        <p:nvSpPr>
          <p:cNvPr id="37" name="TextBox 36"/>
          <p:cNvSpPr txBox="1"/>
          <p:nvPr/>
        </p:nvSpPr>
        <p:spPr>
          <a:xfrm>
            <a:off x="6163055" y="3977639"/>
            <a:ext cx="2743200" cy="256032"/>
          </a:xfrm>
          <a:prstGeom prst="rect">
            <a:avLst/>
          </a:prstGeom>
          <a:noFill/>
        </p:spPr>
        <p:txBody>
          <a:bodyPr wrap="square">
            <a:spAutoFit/>
          </a:bodyPr>
          <a:lstStyle/>
          <a:p>
            <a:pPr algn="l"/>
            <a:r>
              <a:rPr sz="850" b="0" i="0">
                <a:solidFill>
                  <a:srgbClr val="7EAA95"/>
                </a:solidFill>
                <a:latin typeface="Aptos Display"/>
              </a:rPr>
              <a:t>test accuracy</a:t>
            </a:r>
          </a:p>
        </p:txBody>
      </p:sp>
      <p:sp>
        <p:nvSpPr>
          <p:cNvPr id="38" name="TextBox 37"/>
          <p:cNvSpPr txBox="1"/>
          <p:nvPr/>
        </p:nvSpPr>
        <p:spPr>
          <a:xfrm>
            <a:off x="8970263" y="3538728"/>
            <a:ext cx="2743200" cy="411480"/>
          </a:xfrm>
          <a:prstGeom prst="rect">
            <a:avLst/>
          </a:prstGeom>
          <a:noFill/>
        </p:spPr>
        <p:txBody>
          <a:bodyPr wrap="square">
            <a:spAutoFit/>
          </a:bodyPr>
          <a:lstStyle/>
          <a:p>
            <a:pPr algn="l"/>
            <a:r>
              <a:rPr sz="2800" b="1" i="0">
                <a:solidFill>
                  <a:srgbClr val="FF9F1C"/>
                </a:solidFill>
                <a:latin typeface="Aptos Display"/>
              </a:rPr>
              <a:t>0.5088</a:t>
            </a:r>
          </a:p>
        </p:txBody>
      </p:sp>
      <p:sp>
        <p:nvSpPr>
          <p:cNvPr id="39" name="TextBox 38"/>
          <p:cNvSpPr txBox="1"/>
          <p:nvPr/>
        </p:nvSpPr>
        <p:spPr>
          <a:xfrm>
            <a:off x="8970263" y="3977639"/>
            <a:ext cx="2743200" cy="256032"/>
          </a:xfrm>
          <a:prstGeom prst="rect">
            <a:avLst/>
          </a:prstGeom>
          <a:noFill/>
        </p:spPr>
        <p:txBody>
          <a:bodyPr wrap="square">
            <a:spAutoFit/>
          </a:bodyPr>
          <a:lstStyle/>
          <a:p>
            <a:pPr algn="l"/>
            <a:r>
              <a:rPr sz="850" b="0" i="0">
                <a:solidFill>
                  <a:srgbClr val="7EAA95"/>
                </a:solidFill>
                <a:latin typeface="Aptos Display"/>
              </a:rPr>
              <a:t>macro F1</a:t>
            </a:r>
          </a:p>
        </p:txBody>
      </p:sp>
      <p:sp>
        <p:nvSpPr>
          <p:cNvPr id="40" name="Rectangle 39"/>
          <p:cNvSpPr/>
          <p:nvPr/>
        </p:nvSpPr>
        <p:spPr>
          <a:xfrm>
            <a:off x="457200" y="4617720"/>
            <a:ext cx="11274552" cy="1371600"/>
          </a:xfrm>
          <a:prstGeom prst="rect">
            <a:avLst/>
          </a:prstGeom>
          <a:solidFill>
            <a:srgbClr val="0B2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4360" y="4681728"/>
            <a:ext cx="10972800" cy="1234440"/>
          </a:xfrm>
          <a:prstGeom prst="rect">
            <a:avLst/>
          </a:prstGeom>
          <a:noFill/>
        </p:spPr>
        <p:txBody>
          <a:bodyPr wrap="square">
            <a:spAutoFit/>
          </a:bodyPr>
          <a:lstStyle/>
          <a:p>
            <a:pPr algn="l"/>
            <a:r>
              <a:rPr sz="1000" b="1">
                <a:solidFill>
                  <a:srgbClr val="21D4D4"/>
                </a:solidFill>
                <a:latin typeface="Aptos Display"/>
              </a:rPr>
              <a:t>Decisiones de diseño:</a:t>
            </a:r>
          </a:p>
          <a:p>
            <a:pPr algn="l"/>
            <a:r>
              <a:rPr sz="950" b="0">
                <a:solidFill>
                  <a:srgbClr val="B5D3C3"/>
                </a:solidFill>
                <a:latin typeface="Aptos Display"/>
              </a:rPr>
              <a:t>·  Progresión geométrica de filtros 32→256 (estándar desde VGGNet): cada bloque aprende representaciones más abstractas.  ·  Global Average Pooling en lugar de Flatten: elimina dependencia de la dimensión temporal de entrada.  ·  Dropout 0.3 conservador: dataset pequeño, valores &gt; 0.5 degradarían el flujo de gradientes.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jungle_bg.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64592"/>
            <a:ext cx="11274552" cy="475488"/>
          </a:xfrm>
          <a:prstGeom prst="rect">
            <a:avLst/>
          </a:prstGeom>
          <a:noFill/>
        </p:spPr>
        <p:txBody>
          <a:bodyPr wrap="square">
            <a:spAutoFit/>
          </a:bodyPr>
          <a:lstStyle/>
          <a:p>
            <a:pPr algn="l"/>
            <a:r>
              <a:rPr sz="2100" b="1" i="0">
                <a:solidFill>
                  <a:srgbClr val="EFFCF5"/>
                </a:solidFill>
                <a:latin typeface="Aptos Display"/>
              </a:rPr>
              <a:t>8b. Arquitectura 2: + Multi-Head Self-Attention</a:t>
            </a:r>
          </a:p>
        </p:txBody>
      </p:sp>
      <p:sp>
        <p:nvSpPr>
          <p:cNvPr id="4" name="TextBox 3"/>
          <p:cNvSpPr txBox="1"/>
          <p:nvPr/>
        </p:nvSpPr>
        <p:spPr>
          <a:xfrm>
            <a:off x="457200" y="621792"/>
            <a:ext cx="11274552" cy="292608"/>
          </a:xfrm>
          <a:prstGeom prst="rect">
            <a:avLst/>
          </a:prstGeom>
          <a:noFill/>
        </p:spPr>
        <p:txBody>
          <a:bodyPr wrap="square">
            <a:spAutoFit/>
          </a:bodyPr>
          <a:lstStyle/>
          <a:p>
            <a:pPr algn="l"/>
            <a:r>
              <a:rPr sz="1000" b="0" i="0">
                <a:solidFill>
                  <a:srgbClr val="7EAA95"/>
                </a:solidFill>
                <a:latin typeface="Aptos Display"/>
              </a:rPr>
              <a:t>Cambio único respecto al baseline: insertar MHSA después del feature extractor</a:t>
            </a:r>
          </a:p>
        </p:txBody>
      </p:sp>
      <p:sp>
        <p:nvSpPr>
          <p:cNvPr id="5" name="TextBox 4"/>
          <p:cNvSpPr txBox="1"/>
          <p:nvPr/>
        </p:nvSpPr>
        <p:spPr>
          <a:xfrm>
            <a:off x="457200" y="6537960"/>
            <a:ext cx="8229600" cy="274320"/>
          </a:xfrm>
          <a:prstGeom prst="rect">
            <a:avLst/>
          </a:prstGeom>
          <a:noFill/>
        </p:spPr>
        <p:txBody>
          <a:bodyPr wrap="square">
            <a:spAutoFit/>
          </a:bodyPr>
          <a:lstStyle/>
          <a:p>
            <a:pPr algn="l"/>
            <a:r>
              <a:rPr sz="800" b="0" i="0">
                <a:solidFill>
                  <a:srgbClr val="7EAA95"/>
                </a:solidFill>
                <a:latin typeface="Aptos Display"/>
              </a:rPr>
              <a:t>SelvaSonic-ML · Aprendizaje Automático · UNAL Medellín</a:t>
            </a:r>
          </a:p>
        </p:txBody>
      </p:sp>
      <p:sp>
        <p:nvSpPr>
          <p:cNvPr id="6" name="TextBox 5"/>
          <p:cNvSpPr txBox="1"/>
          <p:nvPr/>
        </p:nvSpPr>
        <p:spPr>
          <a:xfrm>
            <a:off x="11247120" y="6537960"/>
            <a:ext cx="484632" cy="274320"/>
          </a:xfrm>
          <a:prstGeom prst="rect">
            <a:avLst/>
          </a:prstGeom>
          <a:noFill/>
        </p:spPr>
        <p:txBody>
          <a:bodyPr wrap="square">
            <a:spAutoFit/>
          </a:bodyPr>
          <a:lstStyle/>
          <a:p>
            <a:pPr algn="r"/>
            <a:r>
              <a:rPr sz="800" b="0" i="0">
                <a:solidFill>
                  <a:srgbClr val="7EAA95"/>
                </a:solidFill>
                <a:latin typeface="Aptos Display"/>
              </a:rPr>
              <a:t>11</a:t>
            </a:r>
          </a:p>
        </p:txBody>
      </p:sp>
      <p:sp>
        <p:nvSpPr>
          <p:cNvPr id="7" name="Rectangle 6"/>
          <p:cNvSpPr/>
          <p:nvPr/>
        </p:nvSpPr>
        <p:spPr>
          <a:xfrm>
            <a:off x="411480" y="1005840"/>
            <a:ext cx="2103120" cy="2286000"/>
          </a:xfrm>
          <a:prstGeom prst="rect">
            <a:avLst/>
          </a:prstGeom>
          <a:solidFill>
            <a:srgbClr val="0B2B27"/>
          </a:solidFill>
          <a:ln w="9525">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78992"/>
            <a:ext cx="1920240" cy="320040"/>
          </a:xfrm>
          <a:prstGeom prst="rect">
            <a:avLst/>
          </a:prstGeom>
          <a:noFill/>
        </p:spPr>
        <p:txBody>
          <a:bodyPr wrap="square">
            <a:spAutoFit/>
          </a:bodyPr>
          <a:lstStyle/>
          <a:p>
            <a:pPr algn="ctr"/>
            <a:r>
              <a:rPr sz="1000" b="1" i="0">
                <a:solidFill>
                  <a:srgbClr val="21D4D4"/>
                </a:solidFill>
                <a:latin typeface="Aptos Display"/>
              </a:rPr>
              <a:t>Conv Block ×4</a:t>
            </a:r>
          </a:p>
        </p:txBody>
      </p:sp>
      <p:sp>
        <p:nvSpPr>
          <p:cNvPr id="9" name="TextBox 8"/>
          <p:cNvSpPr txBox="1"/>
          <p:nvPr/>
        </p:nvSpPr>
        <p:spPr>
          <a:xfrm>
            <a:off x="502920" y="1417320"/>
            <a:ext cx="1920240" cy="274320"/>
          </a:xfrm>
          <a:prstGeom prst="rect">
            <a:avLst/>
          </a:prstGeom>
          <a:noFill/>
        </p:spPr>
        <p:txBody>
          <a:bodyPr wrap="square">
            <a:spAutoFit/>
          </a:bodyPr>
          <a:lstStyle/>
          <a:p>
            <a:pPr algn="ctr"/>
            <a:r>
              <a:rPr sz="950" b="0" i="0">
                <a:solidFill>
                  <a:srgbClr val="EFFCF5"/>
                </a:solidFill>
                <a:latin typeface="Aptos Display"/>
              </a:rPr>
              <a:t>32→64→128→256</a:t>
            </a:r>
          </a:p>
        </p:txBody>
      </p:sp>
      <p:sp>
        <p:nvSpPr>
          <p:cNvPr id="10" name="TextBox 9"/>
          <p:cNvSpPr txBox="1"/>
          <p:nvPr/>
        </p:nvSpPr>
        <p:spPr>
          <a:xfrm>
            <a:off x="502920" y="1719072"/>
            <a:ext cx="1920240" cy="1371600"/>
          </a:xfrm>
          <a:prstGeom prst="rect">
            <a:avLst/>
          </a:prstGeom>
          <a:noFill/>
        </p:spPr>
        <p:txBody>
          <a:bodyPr wrap="square">
            <a:spAutoFit/>
          </a:bodyPr>
          <a:lstStyle/>
          <a:p>
            <a:pPr algn="ctr"/>
            <a:r>
              <a:rPr sz="850" b="0" i="0">
                <a:solidFill>
                  <a:srgbClr val="B5D3C3"/>
                </a:solidFill>
                <a:latin typeface="Aptos Display"/>
              </a:rPr>
              <a:t>Idéntico al baseline</a:t>
            </a:r>
          </a:p>
        </p:txBody>
      </p:sp>
      <p:sp>
        <p:nvSpPr>
          <p:cNvPr id="11" name="TextBox 10"/>
          <p:cNvSpPr txBox="1"/>
          <p:nvPr/>
        </p:nvSpPr>
        <p:spPr>
          <a:xfrm>
            <a:off x="2514600" y="1965960"/>
            <a:ext cx="246888" cy="365760"/>
          </a:xfrm>
          <a:prstGeom prst="rect">
            <a:avLst/>
          </a:prstGeom>
          <a:noFill/>
        </p:spPr>
        <p:txBody>
          <a:bodyPr wrap="square">
            <a:spAutoFit/>
          </a:bodyPr>
          <a:lstStyle/>
          <a:p>
            <a:pPr algn="ctr"/>
            <a:r>
              <a:rPr sz="1600" b="0" i="0">
                <a:solidFill>
                  <a:srgbClr val="7EAA95"/>
                </a:solidFill>
                <a:latin typeface="Aptos Display"/>
              </a:rPr>
              <a:t>→</a:t>
            </a:r>
          </a:p>
        </p:txBody>
      </p:sp>
      <p:sp>
        <p:nvSpPr>
          <p:cNvPr id="12" name="Rectangle 11"/>
          <p:cNvSpPr/>
          <p:nvPr/>
        </p:nvSpPr>
        <p:spPr>
          <a:xfrm>
            <a:off x="2761488" y="1005840"/>
            <a:ext cx="2103120" cy="2286000"/>
          </a:xfrm>
          <a:prstGeom prst="rect">
            <a:avLst/>
          </a:prstGeom>
          <a:solidFill>
            <a:srgbClr val="0B2B27"/>
          </a:solidFill>
          <a:ln w="9525">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2928" y="1078992"/>
            <a:ext cx="1920240" cy="320040"/>
          </a:xfrm>
          <a:prstGeom prst="rect">
            <a:avLst/>
          </a:prstGeom>
          <a:noFill/>
        </p:spPr>
        <p:txBody>
          <a:bodyPr wrap="square">
            <a:spAutoFit/>
          </a:bodyPr>
          <a:lstStyle/>
          <a:p>
            <a:pPr algn="ctr"/>
            <a:r>
              <a:rPr sz="1000" b="1" i="0">
                <a:solidFill>
                  <a:srgbClr val="21D4D4"/>
                </a:solidFill>
                <a:latin typeface="Aptos Display"/>
              </a:rPr>
              <a:t>Reshape</a:t>
            </a:r>
          </a:p>
        </p:txBody>
      </p:sp>
      <p:sp>
        <p:nvSpPr>
          <p:cNvPr id="14" name="TextBox 13"/>
          <p:cNvSpPr txBox="1"/>
          <p:nvPr/>
        </p:nvSpPr>
        <p:spPr>
          <a:xfrm>
            <a:off x="2852928" y="1417320"/>
            <a:ext cx="1920240" cy="274320"/>
          </a:xfrm>
          <a:prstGeom prst="rect">
            <a:avLst/>
          </a:prstGeom>
          <a:noFill/>
        </p:spPr>
        <p:txBody>
          <a:bodyPr wrap="square">
            <a:spAutoFit/>
          </a:bodyPr>
          <a:lstStyle/>
          <a:p>
            <a:pPr algn="ctr"/>
            <a:r>
              <a:rPr sz="950" b="0" i="0">
                <a:solidFill>
                  <a:srgbClr val="EFFCF5"/>
                </a:solidFill>
                <a:latin typeface="Aptos Display"/>
              </a:rPr>
              <a:t>[B, 256, T]</a:t>
            </a:r>
          </a:p>
        </p:txBody>
      </p:sp>
      <p:sp>
        <p:nvSpPr>
          <p:cNvPr id="15" name="TextBox 14"/>
          <p:cNvSpPr txBox="1"/>
          <p:nvPr/>
        </p:nvSpPr>
        <p:spPr>
          <a:xfrm>
            <a:off x="2852928" y="1719072"/>
            <a:ext cx="1920240" cy="1371600"/>
          </a:xfrm>
          <a:prstGeom prst="rect">
            <a:avLst/>
          </a:prstGeom>
          <a:noFill/>
        </p:spPr>
        <p:txBody>
          <a:bodyPr wrap="square">
            <a:spAutoFit/>
          </a:bodyPr>
          <a:lstStyle/>
          <a:p>
            <a:pPr algn="ctr"/>
            <a:r>
              <a:rPr sz="850" b="0" i="0">
                <a:solidFill>
                  <a:srgbClr val="B5D3C3"/>
                </a:solidFill>
                <a:latin typeface="Aptos Display"/>
              </a:rPr>
              <a:t>tokens de frecuencia
por frame temporal</a:t>
            </a:r>
          </a:p>
        </p:txBody>
      </p:sp>
      <p:sp>
        <p:nvSpPr>
          <p:cNvPr id="16" name="TextBox 15"/>
          <p:cNvSpPr txBox="1"/>
          <p:nvPr/>
        </p:nvSpPr>
        <p:spPr>
          <a:xfrm>
            <a:off x="4864608" y="1965960"/>
            <a:ext cx="246888" cy="365760"/>
          </a:xfrm>
          <a:prstGeom prst="rect">
            <a:avLst/>
          </a:prstGeom>
          <a:noFill/>
        </p:spPr>
        <p:txBody>
          <a:bodyPr wrap="square">
            <a:spAutoFit/>
          </a:bodyPr>
          <a:lstStyle/>
          <a:p>
            <a:pPr algn="ctr"/>
            <a:r>
              <a:rPr sz="1600" b="0" i="0">
                <a:solidFill>
                  <a:srgbClr val="7EAA95"/>
                </a:solidFill>
                <a:latin typeface="Aptos Display"/>
              </a:rPr>
              <a:t>→</a:t>
            </a:r>
          </a:p>
        </p:txBody>
      </p:sp>
      <p:sp>
        <p:nvSpPr>
          <p:cNvPr id="17" name="Rectangle 16"/>
          <p:cNvSpPr/>
          <p:nvPr/>
        </p:nvSpPr>
        <p:spPr>
          <a:xfrm>
            <a:off x="5111496" y="1005840"/>
            <a:ext cx="2103120" cy="2286000"/>
          </a:xfrm>
          <a:prstGeom prst="rect">
            <a:avLst/>
          </a:prstGeom>
          <a:solidFill>
            <a:srgbClr val="0B2B27"/>
          </a:solidFill>
          <a:ln w="9525">
            <a:solidFill>
              <a:srgbClr val="FF5C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1078992"/>
            <a:ext cx="1920240" cy="320040"/>
          </a:xfrm>
          <a:prstGeom prst="rect">
            <a:avLst/>
          </a:prstGeom>
          <a:noFill/>
        </p:spPr>
        <p:txBody>
          <a:bodyPr wrap="square">
            <a:spAutoFit/>
          </a:bodyPr>
          <a:lstStyle/>
          <a:p>
            <a:pPr algn="ctr"/>
            <a:r>
              <a:rPr sz="1000" b="1" i="0">
                <a:solidFill>
                  <a:srgbClr val="FF5C7A"/>
                </a:solidFill>
                <a:latin typeface="Aptos Display"/>
              </a:rPr>
              <a:t>MHSA</a:t>
            </a:r>
          </a:p>
        </p:txBody>
      </p:sp>
      <p:sp>
        <p:nvSpPr>
          <p:cNvPr id="19" name="TextBox 18"/>
          <p:cNvSpPr txBox="1"/>
          <p:nvPr/>
        </p:nvSpPr>
        <p:spPr>
          <a:xfrm>
            <a:off x="5202936" y="1417320"/>
            <a:ext cx="1920240" cy="274320"/>
          </a:xfrm>
          <a:prstGeom prst="rect">
            <a:avLst/>
          </a:prstGeom>
          <a:noFill/>
        </p:spPr>
        <p:txBody>
          <a:bodyPr wrap="square">
            <a:spAutoFit/>
          </a:bodyPr>
          <a:lstStyle/>
          <a:p>
            <a:pPr algn="ctr"/>
            <a:r>
              <a:rPr sz="950" b="0" i="0">
                <a:solidFill>
                  <a:srgbClr val="EFFCF5"/>
                </a:solidFill>
                <a:latin typeface="Aptos Display"/>
              </a:rPr>
              <a:t>4 heads
d_head=64</a:t>
            </a:r>
          </a:p>
        </p:txBody>
      </p:sp>
      <p:sp>
        <p:nvSpPr>
          <p:cNvPr id="20" name="TextBox 19"/>
          <p:cNvSpPr txBox="1"/>
          <p:nvPr/>
        </p:nvSpPr>
        <p:spPr>
          <a:xfrm>
            <a:off x="5202936" y="1719072"/>
            <a:ext cx="1920240" cy="1371600"/>
          </a:xfrm>
          <a:prstGeom prst="rect">
            <a:avLst/>
          </a:prstGeom>
          <a:noFill/>
        </p:spPr>
        <p:txBody>
          <a:bodyPr wrap="square">
            <a:spAutoFit/>
          </a:bodyPr>
          <a:lstStyle/>
          <a:p>
            <a:pPr algn="ctr"/>
            <a:r>
              <a:rPr sz="850" b="0" i="0">
                <a:solidFill>
                  <a:srgbClr val="B5D3C3"/>
                </a:solidFill>
                <a:latin typeface="Aptos Display"/>
              </a:rPr>
              <a:t>Multi-Head Self-Attention
+ Layer Norm
+ Dropout 0.1</a:t>
            </a:r>
          </a:p>
        </p:txBody>
      </p:sp>
      <p:sp>
        <p:nvSpPr>
          <p:cNvPr id="21" name="TextBox 20"/>
          <p:cNvSpPr txBox="1"/>
          <p:nvPr/>
        </p:nvSpPr>
        <p:spPr>
          <a:xfrm>
            <a:off x="7214616" y="1965960"/>
            <a:ext cx="246888" cy="365760"/>
          </a:xfrm>
          <a:prstGeom prst="rect">
            <a:avLst/>
          </a:prstGeom>
          <a:noFill/>
        </p:spPr>
        <p:txBody>
          <a:bodyPr wrap="square">
            <a:spAutoFit/>
          </a:bodyPr>
          <a:lstStyle/>
          <a:p>
            <a:pPr algn="ctr"/>
            <a:r>
              <a:rPr sz="1600" b="0" i="0">
                <a:solidFill>
                  <a:srgbClr val="7EAA95"/>
                </a:solidFill>
                <a:latin typeface="Aptos Display"/>
              </a:rPr>
              <a:t>→</a:t>
            </a:r>
          </a:p>
        </p:txBody>
      </p:sp>
      <p:sp>
        <p:nvSpPr>
          <p:cNvPr id="22" name="Rectangle 21"/>
          <p:cNvSpPr/>
          <p:nvPr/>
        </p:nvSpPr>
        <p:spPr>
          <a:xfrm>
            <a:off x="7461503" y="1005840"/>
            <a:ext cx="2103120" cy="2286000"/>
          </a:xfrm>
          <a:prstGeom prst="rect">
            <a:avLst/>
          </a:prstGeom>
          <a:solidFill>
            <a:srgbClr val="0B2B27"/>
          </a:solidFill>
          <a:ln w="9525">
            <a:solidFill>
              <a:srgbClr val="33D1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52943" y="1078992"/>
            <a:ext cx="1920240" cy="320040"/>
          </a:xfrm>
          <a:prstGeom prst="rect">
            <a:avLst/>
          </a:prstGeom>
          <a:noFill/>
        </p:spPr>
        <p:txBody>
          <a:bodyPr wrap="square">
            <a:spAutoFit/>
          </a:bodyPr>
          <a:lstStyle/>
          <a:p>
            <a:pPr algn="ctr"/>
            <a:r>
              <a:rPr sz="1000" b="1" i="0">
                <a:solidFill>
                  <a:srgbClr val="33D17A"/>
                </a:solidFill>
                <a:latin typeface="Aptos Display"/>
              </a:rPr>
              <a:t>Mean Pool</a:t>
            </a:r>
          </a:p>
        </p:txBody>
      </p:sp>
      <p:sp>
        <p:nvSpPr>
          <p:cNvPr id="24" name="TextBox 23"/>
          <p:cNvSpPr txBox="1"/>
          <p:nvPr/>
        </p:nvSpPr>
        <p:spPr>
          <a:xfrm>
            <a:off x="7552943" y="1417320"/>
            <a:ext cx="1920240" cy="274320"/>
          </a:xfrm>
          <a:prstGeom prst="rect">
            <a:avLst/>
          </a:prstGeom>
          <a:noFill/>
        </p:spPr>
        <p:txBody>
          <a:bodyPr wrap="square">
            <a:spAutoFit/>
          </a:bodyPr>
          <a:lstStyle/>
          <a:p>
            <a:pPr algn="ctr"/>
            <a:r>
              <a:rPr sz="950" b="0" i="0">
                <a:solidFill>
                  <a:srgbClr val="EFFCF5"/>
                </a:solidFill>
                <a:latin typeface="Aptos Display"/>
              </a:rPr>
              <a:t>[B, 256]</a:t>
            </a:r>
          </a:p>
        </p:txBody>
      </p:sp>
      <p:sp>
        <p:nvSpPr>
          <p:cNvPr id="25" name="TextBox 24"/>
          <p:cNvSpPr txBox="1"/>
          <p:nvPr/>
        </p:nvSpPr>
        <p:spPr>
          <a:xfrm>
            <a:off x="7552943" y="1719072"/>
            <a:ext cx="1920240" cy="1371600"/>
          </a:xfrm>
          <a:prstGeom prst="rect">
            <a:avLst/>
          </a:prstGeom>
          <a:noFill/>
        </p:spPr>
        <p:txBody>
          <a:bodyPr wrap="square">
            <a:spAutoFit/>
          </a:bodyPr>
          <a:lstStyle/>
          <a:p>
            <a:pPr algn="ctr"/>
            <a:r>
              <a:rPr sz="850" b="0" i="0">
                <a:solidFill>
                  <a:srgbClr val="B5D3C3"/>
                </a:solidFill>
                <a:latin typeface="Aptos Display"/>
              </a:rPr>
              <a:t>Promedia sobre
tokens de atención</a:t>
            </a:r>
          </a:p>
        </p:txBody>
      </p:sp>
      <p:sp>
        <p:nvSpPr>
          <p:cNvPr id="26" name="TextBox 25"/>
          <p:cNvSpPr txBox="1"/>
          <p:nvPr/>
        </p:nvSpPr>
        <p:spPr>
          <a:xfrm>
            <a:off x="9564623" y="1965960"/>
            <a:ext cx="246888" cy="365760"/>
          </a:xfrm>
          <a:prstGeom prst="rect">
            <a:avLst/>
          </a:prstGeom>
          <a:noFill/>
        </p:spPr>
        <p:txBody>
          <a:bodyPr wrap="square">
            <a:spAutoFit/>
          </a:bodyPr>
          <a:lstStyle/>
          <a:p>
            <a:pPr algn="ctr"/>
            <a:r>
              <a:rPr sz="1600" b="0" i="0">
                <a:solidFill>
                  <a:srgbClr val="7EAA95"/>
                </a:solidFill>
                <a:latin typeface="Aptos Display"/>
              </a:rPr>
              <a:t>→</a:t>
            </a:r>
          </a:p>
        </p:txBody>
      </p:sp>
      <p:sp>
        <p:nvSpPr>
          <p:cNvPr id="27" name="Rectangle 26"/>
          <p:cNvSpPr/>
          <p:nvPr/>
        </p:nvSpPr>
        <p:spPr>
          <a:xfrm>
            <a:off x="9811511" y="1005840"/>
            <a:ext cx="2103120" cy="2286000"/>
          </a:xfrm>
          <a:prstGeom prst="rect">
            <a:avLst/>
          </a:prstGeom>
          <a:solidFill>
            <a:srgbClr val="0B2B27"/>
          </a:solidFill>
          <a:ln w="9525">
            <a:solidFill>
              <a:srgbClr val="F4D3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02951" y="1078992"/>
            <a:ext cx="1920240" cy="320040"/>
          </a:xfrm>
          <a:prstGeom prst="rect">
            <a:avLst/>
          </a:prstGeom>
          <a:noFill/>
        </p:spPr>
        <p:txBody>
          <a:bodyPr wrap="square">
            <a:spAutoFit/>
          </a:bodyPr>
          <a:lstStyle/>
          <a:p>
            <a:pPr algn="ctr"/>
            <a:r>
              <a:rPr sz="1000" b="1" i="0">
                <a:solidFill>
                  <a:srgbClr val="F4D35E"/>
                </a:solidFill>
                <a:latin typeface="Aptos Display"/>
              </a:rPr>
              <a:t>FC + Softmax</a:t>
            </a:r>
          </a:p>
        </p:txBody>
      </p:sp>
      <p:sp>
        <p:nvSpPr>
          <p:cNvPr id="29" name="TextBox 28"/>
          <p:cNvSpPr txBox="1"/>
          <p:nvPr/>
        </p:nvSpPr>
        <p:spPr>
          <a:xfrm>
            <a:off x="9902951" y="1417320"/>
            <a:ext cx="1920240" cy="274320"/>
          </a:xfrm>
          <a:prstGeom prst="rect">
            <a:avLst/>
          </a:prstGeom>
          <a:noFill/>
        </p:spPr>
        <p:txBody>
          <a:bodyPr wrap="square">
            <a:spAutoFit/>
          </a:bodyPr>
          <a:lstStyle/>
          <a:p>
            <a:pPr algn="ctr"/>
            <a:r>
              <a:rPr sz="950" b="0" i="0">
                <a:solidFill>
                  <a:srgbClr val="EFFCF5"/>
                </a:solidFill>
                <a:latin typeface="Aptos Display"/>
              </a:rPr>
              <a:t>256→128→11</a:t>
            </a:r>
          </a:p>
        </p:txBody>
      </p:sp>
      <p:sp>
        <p:nvSpPr>
          <p:cNvPr id="30" name="TextBox 29"/>
          <p:cNvSpPr txBox="1"/>
          <p:nvPr/>
        </p:nvSpPr>
        <p:spPr>
          <a:xfrm>
            <a:off x="9902951" y="1719072"/>
            <a:ext cx="1920240" cy="1371600"/>
          </a:xfrm>
          <a:prstGeom prst="rect">
            <a:avLst/>
          </a:prstGeom>
          <a:noFill/>
        </p:spPr>
        <p:txBody>
          <a:bodyPr wrap="square">
            <a:spAutoFit/>
          </a:bodyPr>
          <a:lstStyle/>
          <a:p>
            <a:pPr algn="ctr"/>
            <a:r>
              <a:rPr sz="850" b="0" i="0">
                <a:solidFill>
                  <a:srgbClr val="B5D3C3"/>
                </a:solidFill>
                <a:latin typeface="Aptos Display"/>
              </a:rPr>
              <a:t>Dropout 0.3
idéntico al baseline</a:t>
            </a:r>
          </a:p>
        </p:txBody>
      </p:sp>
      <p:sp>
        <p:nvSpPr>
          <p:cNvPr id="31" name="Rectangle 30"/>
          <p:cNvSpPr/>
          <p:nvPr/>
        </p:nvSpPr>
        <p:spPr>
          <a:xfrm>
            <a:off x="457200" y="3456432"/>
            <a:ext cx="11274552" cy="1005840"/>
          </a:xfrm>
          <a:prstGeom prst="rect">
            <a:avLst/>
          </a:prstGeom>
          <a:solidFill>
            <a:srgbClr val="082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3538728"/>
            <a:ext cx="2743200" cy="411480"/>
          </a:xfrm>
          <a:prstGeom prst="rect">
            <a:avLst/>
          </a:prstGeom>
          <a:noFill/>
        </p:spPr>
        <p:txBody>
          <a:bodyPr wrap="square">
            <a:spAutoFit/>
          </a:bodyPr>
          <a:lstStyle/>
          <a:p>
            <a:pPr algn="l"/>
            <a:r>
              <a:rPr sz="2800" b="1" i="0">
                <a:solidFill>
                  <a:srgbClr val="21D4D4"/>
                </a:solidFill>
                <a:latin typeface="Aptos Display"/>
              </a:rPr>
              <a:t>714,987</a:t>
            </a:r>
          </a:p>
        </p:txBody>
      </p:sp>
      <p:sp>
        <p:nvSpPr>
          <p:cNvPr id="33" name="TextBox 32"/>
          <p:cNvSpPr txBox="1"/>
          <p:nvPr/>
        </p:nvSpPr>
        <p:spPr>
          <a:xfrm>
            <a:off x="548640" y="3977639"/>
            <a:ext cx="2743200" cy="256032"/>
          </a:xfrm>
          <a:prstGeom prst="rect">
            <a:avLst/>
          </a:prstGeom>
          <a:noFill/>
        </p:spPr>
        <p:txBody>
          <a:bodyPr wrap="square">
            <a:spAutoFit/>
          </a:bodyPr>
          <a:lstStyle/>
          <a:p>
            <a:pPr algn="l"/>
            <a:r>
              <a:rPr sz="850" b="0" i="0">
                <a:solidFill>
                  <a:srgbClr val="7EAA95"/>
                </a:solidFill>
                <a:latin typeface="Aptos Display"/>
              </a:rPr>
              <a:t>parámetros (+69 %)</a:t>
            </a:r>
          </a:p>
        </p:txBody>
      </p:sp>
      <p:sp>
        <p:nvSpPr>
          <p:cNvPr id="34" name="TextBox 33"/>
          <p:cNvSpPr txBox="1"/>
          <p:nvPr/>
        </p:nvSpPr>
        <p:spPr>
          <a:xfrm>
            <a:off x="3355848" y="3538728"/>
            <a:ext cx="2743200" cy="411480"/>
          </a:xfrm>
          <a:prstGeom prst="rect">
            <a:avLst/>
          </a:prstGeom>
          <a:noFill/>
        </p:spPr>
        <p:txBody>
          <a:bodyPr wrap="square">
            <a:spAutoFit/>
          </a:bodyPr>
          <a:lstStyle/>
          <a:p>
            <a:pPr algn="l"/>
            <a:r>
              <a:rPr sz="2800" b="1" i="0">
                <a:solidFill>
                  <a:srgbClr val="33D17A"/>
                </a:solidFill>
                <a:latin typeface="Aptos Display"/>
              </a:rPr>
              <a:t>17 / 30</a:t>
            </a:r>
          </a:p>
        </p:txBody>
      </p:sp>
      <p:sp>
        <p:nvSpPr>
          <p:cNvPr id="35" name="TextBox 34"/>
          <p:cNvSpPr txBox="1"/>
          <p:nvPr/>
        </p:nvSpPr>
        <p:spPr>
          <a:xfrm>
            <a:off x="3355848" y="3977639"/>
            <a:ext cx="2743200" cy="256032"/>
          </a:xfrm>
          <a:prstGeom prst="rect">
            <a:avLst/>
          </a:prstGeom>
          <a:noFill/>
        </p:spPr>
        <p:txBody>
          <a:bodyPr wrap="square">
            <a:spAutoFit/>
          </a:bodyPr>
          <a:lstStyle/>
          <a:p>
            <a:pPr algn="l"/>
            <a:r>
              <a:rPr sz="850" b="0" i="0">
                <a:solidFill>
                  <a:srgbClr val="7EAA95"/>
                </a:solidFill>
                <a:latin typeface="Aptos Display"/>
              </a:rPr>
              <a:t>epochs (converge antes)</a:t>
            </a:r>
          </a:p>
        </p:txBody>
      </p:sp>
      <p:sp>
        <p:nvSpPr>
          <p:cNvPr id="36" name="TextBox 35"/>
          <p:cNvSpPr txBox="1"/>
          <p:nvPr/>
        </p:nvSpPr>
        <p:spPr>
          <a:xfrm>
            <a:off x="6163055" y="3538728"/>
            <a:ext cx="2743200" cy="411480"/>
          </a:xfrm>
          <a:prstGeom prst="rect">
            <a:avLst/>
          </a:prstGeom>
          <a:noFill/>
        </p:spPr>
        <p:txBody>
          <a:bodyPr wrap="square">
            <a:spAutoFit/>
          </a:bodyPr>
          <a:lstStyle/>
          <a:p>
            <a:pPr algn="l"/>
            <a:r>
              <a:rPr sz="2800" b="1" i="0">
                <a:solidFill>
                  <a:srgbClr val="F4D35E"/>
                </a:solidFill>
                <a:latin typeface="Aptos Display"/>
              </a:rPr>
              <a:t>0.6873</a:t>
            </a:r>
          </a:p>
        </p:txBody>
      </p:sp>
      <p:sp>
        <p:nvSpPr>
          <p:cNvPr id="37" name="TextBox 36"/>
          <p:cNvSpPr txBox="1"/>
          <p:nvPr/>
        </p:nvSpPr>
        <p:spPr>
          <a:xfrm>
            <a:off x="6163055" y="3977639"/>
            <a:ext cx="2743200" cy="256032"/>
          </a:xfrm>
          <a:prstGeom prst="rect">
            <a:avLst/>
          </a:prstGeom>
          <a:noFill/>
        </p:spPr>
        <p:txBody>
          <a:bodyPr wrap="square">
            <a:spAutoFit/>
          </a:bodyPr>
          <a:lstStyle/>
          <a:p>
            <a:pPr algn="l"/>
            <a:r>
              <a:rPr sz="850" b="0" i="0">
                <a:solidFill>
                  <a:srgbClr val="7EAA95"/>
                </a:solidFill>
                <a:latin typeface="Aptos Display"/>
              </a:rPr>
              <a:t>test accuracy (+5.5 pp)</a:t>
            </a:r>
          </a:p>
        </p:txBody>
      </p:sp>
      <p:sp>
        <p:nvSpPr>
          <p:cNvPr id="38" name="TextBox 37"/>
          <p:cNvSpPr txBox="1"/>
          <p:nvPr/>
        </p:nvSpPr>
        <p:spPr>
          <a:xfrm>
            <a:off x="8970263" y="3538728"/>
            <a:ext cx="2743200" cy="411480"/>
          </a:xfrm>
          <a:prstGeom prst="rect">
            <a:avLst/>
          </a:prstGeom>
          <a:noFill/>
        </p:spPr>
        <p:txBody>
          <a:bodyPr wrap="square">
            <a:spAutoFit/>
          </a:bodyPr>
          <a:lstStyle/>
          <a:p>
            <a:pPr algn="l"/>
            <a:r>
              <a:rPr sz="2800" b="1" i="0">
                <a:solidFill>
                  <a:srgbClr val="FF9F1C"/>
                </a:solidFill>
                <a:latin typeface="Aptos Display"/>
              </a:rPr>
              <a:t>0.5989</a:t>
            </a:r>
          </a:p>
        </p:txBody>
      </p:sp>
      <p:sp>
        <p:nvSpPr>
          <p:cNvPr id="39" name="TextBox 38"/>
          <p:cNvSpPr txBox="1"/>
          <p:nvPr/>
        </p:nvSpPr>
        <p:spPr>
          <a:xfrm>
            <a:off x="8970263" y="3977639"/>
            <a:ext cx="2743200" cy="256032"/>
          </a:xfrm>
          <a:prstGeom prst="rect">
            <a:avLst/>
          </a:prstGeom>
          <a:noFill/>
        </p:spPr>
        <p:txBody>
          <a:bodyPr wrap="square">
            <a:spAutoFit/>
          </a:bodyPr>
          <a:lstStyle/>
          <a:p>
            <a:pPr algn="l"/>
            <a:r>
              <a:rPr sz="850" b="0" i="0">
                <a:solidFill>
                  <a:srgbClr val="7EAA95"/>
                </a:solidFill>
                <a:latin typeface="Aptos Display"/>
              </a:rPr>
              <a:t>macro F1 (+9.0 pp)</a:t>
            </a:r>
          </a:p>
        </p:txBody>
      </p:sp>
      <p:sp>
        <p:nvSpPr>
          <p:cNvPr id="40" name="Rectangle 39"/>
          <p:cNvSpPr/>
          <p:nvPr/>
        </p:nvSpPr>
        <p:spPr>
          <a:xfrm>
            <a:off x="457200" y="4617720"/>
            <a:ext cx="11274552" cy="1371600"/>
          </a:xfrm>
          <a:prstGeom prst="rect">
            <a:avLst/>
          </a:prstGeom>
          <a:solidFill>
            <a:srgbClr val="0B2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4360" y="4681728"/>
            <a:ext cx="10972800" cy="1234440"/>
          </a:xfrm>
          <a:prstGeom prst="rect">
            <a:avLst/>
          </a:prstGeom>
          <a:noFill/>
        </p:spPr>
        <p:txBody>
          <a:bodyPr wrap="square">
            <a:spAutoFit/>
          </a:bodyPr>
          <a:lstStyle/>
          <a:p>
            <a:pPr algn="l"/>
            <a:r>
              <a:rPr sz="1000" b="1">
                <a:solidFill>
                  <a:srgbClr val="21D4D4"/>
                </a:solidFill>
                <a:latin typeface="Aptos Display"/>
              </a:rPr>
              <a:t>Por qué MHSA mejora:</a:t>
            </a:r>
          </a:p>
          <a:p>
            <a:pPr algn="l"/>
            <a:r>
              <a:rPr sz="950" b="0">
                <a:solidFill>
                  <a:srgbClr val="B5D3C3"/>
                </a:solidFill>
                <a:latin typeface="Aptos Display"/>
              </a:rPr>
              <a:t>El MHSA permite que cada frame temporal 'consulte' todos los demás frames y pondere cuáles son más relevantes para la clasificación. Esto es especialmente útil en vocalizaciones con estructura temporal (trinos, series de notas) donde la posición relativa importa.  Converge en 17 épocas vs 27 del baseline, sugiriendo que la atención encuentra patrones discriminativos más eficientemente.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jungle_bg.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64592"/>
            <a:ext cx="11274552" cy="475488"/>
          </a:xfrm>
          <a:prstGeom prst="rect">
            <a:avLst/>
          </a:prstGeom>
          <a:noFill/>
        </p:spPr>
        <p:txBody>
          <a:bodyPr wrap="square">
            <a:spAutoFit/>
          </a:bodyPr>
          <a:lstStyle/>
          <a:p>
            <a:pPr algn="l"/>
            <a:r>
              <a:rPr sz="2100" b="1" i="0">
                <a:solidFill>
                  <a:srgbClr val="EFFCF5"/>
                </a:solidFill>
                <a:latin typeface="Aptos Display"/>
              </a:rPr>
              <a:t>9. Modelo final v2: atacando el desbalance con class weights</a:t>
            </a:r>
          </a:p>
        </p:txBody>
      </p:sp>
      <p:sp>
        <p:nvSpPr>
          <p:cNvPr id="4" name="TextBox 3"/>
          <p:cNvSpPr txBox="1"/>
          <p:nvPr/>
        </p:nvSpPr>
        <p:spPr>
          <a:xfrm>
            <a:off x="457200" y="621792"/>
            <a:ext cx="11274552" cy="292608"/>
          </a:xfrm>
          <a:prstGeom prst="rect">
            <a:avLst/>
          </a:prstGeom>
          <a:noFill/>
        </p:spPr>
        <p:txBody>
          <a:bodyPr wrap="square">
            <a:spAutoFit/>
          </a:bodyPr>
          <a:lstStyle/>
          <a:p>
            <a:pPr algn="l"/>
            <a:r>
              <a:rPr sz="1000" b="0" i="0">
                <a:solidFill>
                  <a:srgbClr val="7EAA95"/>
                </a:solidFill>
                <a:latin typeface="Aptos Display"/>
              </a:rPr>
              <a:t>Misma arquitectura que v1 · mismo label smoothing α=0.1 · cambia SOLO una cosa: los pesos</a:t>
            </a:r>
          </a:p>
        </p:txBody>
      </p:sp>
      <p:sp>
        <p:nvSpPr>
          <p:cNvPr id="5" name="TextBox 4"/>
          <p:cNvSpPr txBox="1"/>
          <p:nvPr/>
        </p:nvSpPr>
        <p:spPr>
          <a:xfrm>
            <a:off x="457200" y="6537960"/>
            <a:ext cx="8229600" cy="274320"/>
          </a:xfrm>
          <a:prstGeom prst="rect">
            <a:avLst/>
          </a:prstGeom>
          <a:noFill/>
        </p:spPr>
        <p:txBody>
          <a:bodyPr wrap="square">
            <a:spAutoFit/>
          </a:bodyPr>
          <a:lstStyle/>
          <a:p>
            <a:pPr algn="l"/>
            <a:r>
              <a:rPr sz="800" b="0" i="0">
                <a:solidFill>
                  <a:srgbClr val="7EAA95"/>
                </a:solidFill>
                <a:latin typeface="Aptos Display"/>
              </a:rPr>
              <a:t>SelvaSonic-ML · Aprendizaje Automático · UNAL Medellín</a:t>
            </a:r>
          </a:p>
        </p:txBody>
      </p:sp>
      <p:sp>
        <p:nvSpPr>
          <p:cNvPr id="6" name="TextBox 5"/>
          <p:cNvSpPr txBox="1"/>
          <p:nvPr/>
        </p:nvSpPr>
        <p:spPr>
          <a:xfrm>
            <a:off x="11247120" y="6537960"/>
            <a:ext cx="484632" cy="274320"/>
          </a:xfrm>
          <a:prstGeom prst="rect">
            <a:avLst/>
          </a:prstGeom>
          <a:noFill/>
        </p:spPr>
        <p:txBody>
          <a:bodyPr wrap="square">
            <a:spAutoFit/>
          </a:bodyPr>
          <a:lstStyle/>
          <a:p>
            <a:pPr algn="r"/>
            <a:r>
              <a:rPr sz="800" b="0" i="0">
                <a:solidFill>
                  <a:srgbClr val="7EAA95"/>
                </a:solidFill>
                <a:latin typeface="Aptos Display"/>
              </a:rPr>
              <a:t>12</a:t>
            </a:r>
          </a:p>
        </p:txBody>
      </p:sp>
      <p:sp>
        <p:nvSpPr>
          <p:cNvPr id="7" name="Rectangle 6"/>
          <p:cNvSpPr/>
          <p:nvPr/>
        </p:nvSpPr>
        <p:spPr>
          <a:xfrm>
            <a:off x="457200" y="987552"/>
            <a:ext cx="6400800" cy="2606040"/>
          </a:xfrm>
          <a:prstGeom prst="rect">
            <a:avLst/>
          </a:prstGeom>
          <a:solidFill>
            <a:srgbClr val="0F3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051560"/>
            <a:ext cx="6126480" cy="292608"/>
          </a:xfrm>
          <a:prstGeom prst="rect">
            <a:avLst/>
          </a:prstGeom>
          <a:noFill/>
        </p:spPr>
        <p:txBody>
          <a:bodyPr wrap="square">
            <a:spAutoFit/>
          </a:bodyPr>
          <a:lstStyle/>
          <a:p>
            <a:pPr algn="l"/>
            <a:r>
              <a:rPr sz="1000" b="1" i="0">
                <a:solidFill>
                  <a:srgbClr val="21D4D4"/>
                </a:solidFill>
                <a:latin typeface="Aptos Display"/>
              </a:rPr>
              <a:t>Fórmula de class weights:</a:t>
            </a:r>
          </a:p>
        </p:txBody>
      </p:sp>
      <p:sp>
        <p:nvSpPr>
          <p:cNvPr id="9" name="Rectangle 8"/>
          <p:cNvSpPr/>
          <p:nvPr/>
        </p:nvSpPr>
        <p:spPr>
          <a:xfrm>
            <a:off x="594360" y="1371600"/>
            <a:ext cx="6126480" cy="731520"/>
          </a:xfrm>
          <a:prstGeom prst="rect">
            <a:avLst/>
          </a:prstGeom>
          <a:solidFill>
            <a:srgbClr val="00100C"/>
          </a:solidFill>
          <a:ln w="5080">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63040"/>
            <a:ext cx="5943600" cy="502920"/>
          </a:xfrm>
          <a:prstGeom prst="rect">
            <a:avLst/>
          </a:prstGeom>
          <a:noFill/>
        </p:spPr>
        <p:txBody>
          <a:bodyPr wrap="square">
            <a:spAutoFit/>
          </a:bodyPr>
          <a:lstStyle/>
          <a:p>
            <a:pPr algn="ctr"/>
            <a:r>
              <a:rPr sz="1800" b="1" i="0">
                <a:solidFill>
                  <a:srgbClr val="EFFCF5"/>
                </a:solidFill>
                <a:latin typeface="Aptos Display"/>
              </a:rPr>
              <a:t>w_c  =  N_total  /  (K  ×  N_c)</a:t>
            </a:r>
          </a:p>
        </p:txBody>
      </p:sp>
      <p:sp>
        <p:nvSpPr>
          <p:cNvPr id="11" name="TextBox 10"/>
          <p:cNvSpPr txBox="1"/>
          <p:nvPr/>
        </p:nvSpPr>
        <p:spPr>
          <a:xfrm>
            <a:off x="594360" y="2130552"/>
            <a:ext cx="6126480" cy="2286000"/>
          </a:xfrm>
          <a:prstGeom prst="rect">
            <a:avLst/>
          </a:prstGeom>
          <a:noFill/>
        </p:spPr>
        <p:txBody>
          <a:bodyPr wrap="square">
            <a:spAutoFit/>
          </a:bodyPr>
          <a:lstStyle/>
          <a:p>
            <a:pPr algn="l"/>
            <a:r>
              <a:rPr sz="900" b="1">
                <a:solidFill>
                  <a:srgbClr val="7EAA95"/>
                </a:solidFill>
                <a:latin typeface="Aptos Display"/>
              </a:rPr>
              <a:t>Donde:</a:t>
            </a:r>
          </a:p>
          <a:p>
            <a:pPr algn="l"/>
            <a:r>
              <a:rPr sz="950" b="0">
                <a:solidFill>
                  <a:srgbClr val="B5D3C3"/>
                </a:solidFill>
                <a:latin typeface="Aptos Display"/>
              </a:rPr>
              <a:t>N_total = 14,372  (total clips de entrenamiento)</a:t>
            </a:r>
          </a:p>
          <a:p>
            <a:pPr algn="l"/>
            <a:r>
              <a:rPr sz="950" b="0">
                <a:solidFill>
                  <a:srgbClr val="B5D3C3"/>
                </a:solidFill>
                <a:latin typeface="Aptos Display"/>
              </a:rPr>
              <a:t>K = 11  (número de clases)</a:t>
            </a:r>
          </a:p>
          <a:p>
            <a:pPr algn="l"/>
            <a:r>
              <a:rPr sz="950" b="0">
                <a:solidFill>
                  <a:srgbClr val="B5D3C3"/>
                </a:solidFill>
                <a:latin typeface="Aptos Display"/>
              </a:rPr>
              <a:t>N_c = clips de la clase c en train</a:t>
            </a:r>
          </a:p>
          <a:p>
            <a:pPr algn="l"/>
            <a:r>
              <a:rPr sz="300" b="0">
                <a:solidFill>
                  <a:srgbClr val="B5D3C3"/>
                </a:solidFill>
                <a:latin typeface="Aptos Display"/>
              </a:rPr>
              <a:t> </a:t>
            </a:r>
          </a:p>
          <a:p>
            <a:pPr algn="l"/>
            <a:r>
              <a:rPr sz="950" b="0">
                <a:solidFill>
                  <a:srgbClr val="F4D35E"/>
                </a:solidFill>
                <a:latin typeface="Aptos Display"/>
              </a:rPr>
              <a:t>Aplicado como: CrossEntropyLoss(weight=w, label_smoothing=0.1)</a:t>
            </a:r>
          </a:p>
          <a:p>
            <a:pPr algn="l"/>
            <a:r>
              <a:rPr sz="300" b="0">
                <a:solidFill>
                  <a:srgbClr val="B5D3C3"/>
                </a:solidFill>
                <a:latin typeface="Aptos Display"/>
              </a:rPr>
              <a:t> </a:t>
            </a:r>
          </a:p>
          <a:p>
            <a:pPr algn="l"/>
            <a:r>
              <a:rPr sz="950" b="0">
                <a:solidFill>
                  <a:srgbClr val="B5D3C3"/>
                </a:solidFill>
                <a:latin typeface="Aptos Display"/>
              </a:rPr>
              <a:t>Efecto: un error en Chordeiles (peso 5.44) penaliza 11.6× más</a:t>
            </a:r>
          </a:p>
          <a:p>
            <a:pPr algn="l"/>
            <a:r>
              <a:rPr sz="950" b="0">
                <a:solidFill>
                  <a:srgbClr val="B5D3C3"/>
                </a:solidFill>
                <a:latin typeface="Aptos Display"/>
              </a:rPr>
              <a:t>que un error en Trogon viridis (peso 0.47).</a:t>
            </a:r>
          </a:p>
        </p:txBody>
      </p:sp>
      <p:sp>
        <p:nvSpPr>
          <p:cNvPr id="12" name="Rectangle 11"/>
          <p:cNvSpPr/>
          <p:nvPr/>
        </p:nvSpPr>
        <p:spPr>
          <a:xfrm>
            <a:off x="6995160" y="987552"/>
            <a:ext cx="4736592" cy="2606040"/>
          </a:xfrm>
          <a:prstGeom prst="rect">
            <a:avLst/>
          </a:prstGeom>
          <a:solidFill>
            <a:srgbClr val="0B2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0" y="1051560"/>
            <a:ext cx="4480560" cy="292608"/>
          </a:xfrm>
          <a:prstGeom prst="rect">
            <a:avLst/>
          </a:prstGeom>
          <a:noFill/>
        </p:spPr>
        <p:txBody>
          <a:bodyPr wrap="square">
            <a:spAutoFit/>
          </a:bodyPr>
          <a:lstStyle/>
          <a:p>
            <a:pPr algn="l"/>
            <a:r>
              <a:rPr sz="950" b="1" i="0">
                <a:solidFill>
                  <a:srgbClr val="21D4D4"/>
                </a:solidFill>
                <a:latin typeface="Aptos Display"/>
              </a:rPr>
              <a:t>Pesos reales (data/class_weights.pt)</a:t>
            </a:r>
          </a:p>
        </p:txBody>
      </p:sp>
      <p:graphicFrame>
        <p:nvGraphicFramePr>
          <p:cNvPr id="14" name="Table 13"/>
          <p:cNvGraphicFramePr>
            <a:graphicFrameLocks noGrp="1"/>
          </p:cNvGraphicFramePr>
          <p:nvPr/>
        </p:nvGraphicFramePr>
        <p:xfrm>
          <a:off x="7068312" y="1371600"/>
          <a:ext cx="4526280" cy="2148840"/>
        </p:xfrm>
        <a:graphic>
          <a:graphicData uri="http://schemas.openxmlformats.org/drawingml/2006/table">
            <a:tbl>
              <a:tblPr firstRow="1" bandRow="1">
                <a:tableStyleId>{5C22544A-7EE6-4342-B048-85BDC9FD1C3A}</a:tableStyleId>
              </a:tblPr>
              <a:tblGrid>
                <a:gridCol w="2036826"/>
                <a:gridCol w="1357884"/>
                <a:gridCol w="1131570"/>
              </a:tblGrid>
              <a:tr h="358140">
                <a:tc>
                  <a:txBody>
                    <a:bodyPr wrap="square"/>
                    <a:lstStyle/>
                    <a:p>
                      <a:pPr algn="ctr"/>
                      <a:r>
                        <a:rPr sz="800" b="1">
                          <a:solidFill>
                            <a:srgbClr val="21D4D4"/>
                          </a:solidFill>
                          <a:latin typeface="Aptos Display"/>
                        </a:rPr>
                        <a:t>Clase</a:t>
                      </a:r>
                    </a:p>
                  </a:txBody>
                  <a:tcPr>
                    <a:solidFill>
                      <a:srgbClr val="082C2C"/>
                    </a:solidFill>
                  </a:tcPr>
                </a:tc>
                <a:tc>
                  <a:txBody>
                    <a:bodyPr wrap="square"/>
                    <a:lstStyle/>
                    <a:p>
                      <a:pPr algn="ctr"/>
                      <a:r>
                        <a:rPr sz="800" b="1">
                          <a:solidFill>
                            <a:srgbClr val="21D4D4"/>
                          </a:solidFill>
                          <a:latin typeface="Aptos Display"/>
                        </a:rPr>
                        <a:t>N_train</a:t>
                      </a:r>
                    </a:p>
                  </a:txBody>
                  <a:tcPr>
                    <a:solidFill>
                      <a:srgbClr val="082C2C"/>
                    </a:solidFill>
                  </a:tcPr>
                </a:tc>
                <a:tc>
                  <a:txBody>
                    <a:bodyPr wrap="square"/>
                    <a:lstStyle/>
                    <a:p>
                      <a:pPr algn="ctr"/>
                      <a:r>
                        <a:rPr sz="800" b="1">
                          <a:solidFill>
                            <a:srgbClr val="21D4D4"/>
                          </a:solidFill>
                          <a:latin typeface="Aptos Display"/>
                        </a:rPr>
                        <a:t>Peso</a:t>
                      </a:r>
                    </a:p>
                  </a:txBody>
                  <a:tcPr>
                    <a:solidFill>
                      <a:srgbClr val="082C2C"/>
                    </a:solidFill>
                  </a:tcPr>
                </a:tc>
              </a:tr>
              <a:tr h="358140">
                <a:tc>
                  <a:txBody>
                    <a:bodyPr wrap="square"/>
                    <a:lstStyle/>
                    <a:p>
                      <a:pPr algn="ctr"/>
                      <a:r>
                        <a:rPr sz="850" b="0">
                          <a:solidFill>
                            <a:srgbClr val="B5D3C3"/>
                          </a:solidFill>
                          <a:latin typeface="Aptos Display"/>
                        </a:rPr>
                        <a:t>Trogon viridis</a:t>
                      </a:r>
                    </a:p>
                  </a:txBody>
                  <a:tcPr>
                    <a:solidFill>
                      <a:srgbClr val="082C2C"/>
                    </a:solidFill>
                  </a:tcPr>
                </a:tc>
                <a:tc>
                  <a:txBody>
                    <a:bodyPr wrap="square"/>
                    <a:lstStyle/>
                    <a:p>
                      <a:pPr algn="ctr"/>
                      <a:r>
                        <a:rPr sz="850" b="0">
                          <a:solidFill>
                            <a:srgbClr val="B5D3C3"/>
                          </a:solidFill>
                          <a:latin typeface="Aptos Display"/>
                        </a:rPr>
                        <a:t>2,784</a:t>
                      </a:r>
                    </a:p>
                  </a:txBody>
                  <a:tcPr>
                    <a:solidFill>
                      <a:srgbClr val="082C2C"/>
                    </a:solidFill>
                  </a:tcPr>
                </a:tc>
                <a:tc>
                  <a:txBody>
                    <a:bodyPr wrap="square"/>
                    <a:lstStyle/>
                    <a:p>
                      <a:pPr algn="ctr"/>
                      <a:r>
                        <a:rPr sz="850" b="1">
                          <a:solidFill>
                            <a:srgbClr val="00100C"/>
                          </a:solidFill>
                          <a:latin typeface="Aptos Display"/>
                        </a:rPr>
                        <a:t>0.4693 ⬇ mín</a:t>
                      </a:r>
                    </a:p>
                  </a:txBody>
                  <a:tcPr>
                    <a:solidFill>
                      <a:srgbClr val="21D4D4"/>
                    </a:solidFill>
                  </a:tcPr>
                </a:tc>
              </a:tr>
              <a:tr h="358140">
                <a:tc>
                  <a:txBody>
                    <a:bodyPr wrap="square"/>
                    <a:lstStyle/>
                    <a:p>
                      <a:pPr algn="ctr"/>
                      <a:r>
                        <a:rPr sz="850" b="0">
                          <a:solidFill>
                            <a:srgbClr val="B5D3C3"/>
                          </a:solidFill>
                          <a:latin typeface="Aptos Display"/>
                        </a:rPr>
                        <a:t>Crypturellus cin.</a:t>
                      </a:r>
                    </a:p>
                  </a:txBody>
                  <a:tcPr>
                    <a:solidFill>
                      <a:srgbClr val="0B2B27"/>
                    </a:solidFill>
                  </a:tcPr>
                </a:tc>
                <a:tc>
                  <a:txBody>
                    <a:bodyPr wrap="square"/>
                    <a:lstStyle/>
                    <a:p>
                      <a:pPr algn="ctr"/>
                      <a:r>
                        <a:rPr sz="850" b="0">
                          <a:solidFill>
                            <a:srgbClr val="B5D3C3"/>
                          </a:solidFill>
                          <a:latin typeface="Aptos Display"/>
                        </a:rPr>
                        <a:t>2,656</a:t>
                      </a:r>
                    </a:p>
                  </a:txBody>
                  <a:tcPr>
                    <a:solidFill>
                      <a:srgbClr val="0B2B27"/>
                    </a:solidFill>
                  </a:tcPr>
                </a:tc>
                <a:tc>
                  <a:txBody>
                    <a:bodyPr wrap="square"/>
                    <a:lstStyle/>
                    <a:p>
                      <a:pPr algn="ctr"/>
                      <a:r>
                        <a:rPr sz="850" b="1">
                          <a:solidFill>
                            <a:srgbClr val="00100C"/>
                          </a:solidFill>
                          <a:latin typeface="Aptos Display"/>
                        </a:rPr>
                        <a:t>0.4919</a:t>
                      </a:r>
                    </a:p>
                  </a:txBody>
                  <a:tcPr>
                    <a:solidFill>
                      <a:srgbClr val="21D4D4"/>
                    </a:solidFill>
                  </a:tcPr>
                </a:tc>
              </a:tr>
              <a:tr h="358140">
                <a:tc>
                  <a:txBody>
                    <a:bodyPr wrap="square"/>
                    <a:lstStyle/>
                    <a:p>
                      <a:pPr algn="ctr"/>
                      <a:r>
                        <a:rPr sz="850" b="0">
                          <a:solidFill>
                            <a:srgbClr val="B5D3C3"/>
                          </a:solidFill>
                          <a:latin typeface="Aptos Display"/>
                        </a:rPr>
                        <a:t>no_ave</a:t>
                      </a:r>
                    </a:p>
                  </a:txBody>
                  <a:tcPr>
                    <a:solidFill>
                      <a:srgbClr val="082C2C"/>
                    </a:solidFill>
                  </a:tcPr>
                </a:tc>
                <a:tc>
                  <a:txBody>
                    <a:bodyPr wrap="square"/>
                    <a:lstStyle/>
                    <a:p>
                      <a:pPr algn="ctr"/>
                      <a:r>
                        <a:rPr sz="850" b="0">
                          <a:solidFill>
                            <a:srgbClr val="B5D3C3"/>
                          </a:solidFill>
                          <a:latin typeface="Aptos Display"/>
                        </a:rPr>
                        <a:t>2,240</a:t>
                      </a:r>
                    </a:p>
                  </a:txBody>
                  <a:tcPr>
                    <a:solidFill>
                      <a:srgbClr val="082C2C"/>
                    </a:solidFill>
                  </a:tcPr>
                </a:tc>
                <a:tc>
                  <a:txBody>
                    <a:bodyPr wrap="square"/>
                    <a:lstStyle/>
                    <a:p>
                      <a:pPr algn="ctr"/>
                      <a:r>
                        <a:rPr sz="850" b="1">
                          <a:solidFill>
                            <a:srgbClr val="00100C"/>
                          </a:solidFill>
                          <a:latin typeface="Aptos Display"/>
                        </a:rPr>
                        <a:t>0.5833</a:t>
                      </a:r>
                    </a:p>
                  </a:txBody>
                  <a:tcPr>
                    <a:solidFill>
                      <a:srgbClr val="21D4D4"/>
                    </a:solidFill>
                  </a:tcPr>
                </a:tc>
              </a:tr>
              <a:tr h="358140">
                <a:tc>
                  <a:txBody>
                    <a:bodyPr wrap="square"/>
                    <a:lstStyle/>
                    <a:p>
                      <a:pPr algn="ctr"/>
                      <a:r>
                        <a:rPr sz="850" b="0">
                          <a:solidFill>
                            <a:srgbClr val="B5D3C3"/>
                          </a:solidFill>
                          <a:latin typeface="Aptos Display"/>
                        </a:rPr>
                        <a:t>Rupornis mag.</a:t>
                      </a:r>
                    </a:p>
                  </a:txBody>
                  <a:tcPr>
                    <a:solidFill>
                      <a:srgbClr val="0B2B27"/>
                    </a:solidFill>
                  </a:tcPr>
                </a:tc>
                <a:tc>
                  <a:txBody>
                    <a:bodyPr wrap="square"/>
                    <a:lstStyle/>
                    <a:p>
                      <a:pPr algn="ctr"/>
                      <a:r>
                        <a:rPr sz="850" b="0">
                          <a:solidFill>
                            <a:srgbClr val="B5D3C3"/>
                          </a:solidFill>
                          <a:latin typeface="Aptos Display"/>
                        </a:rPr>
                        <a:t>302</a:t>
                      </a:r>
                    </a:p>
                  </a:txBody>
                  <a:tcPr>
                    <a:solidFill>
                      <a:srgbClr val="0B2B27"/>
                    </a:solidFill>
                  </a:tcPr>
                </a:tc>
                <a:tc>
                  <a:txBody>
                    <a:bodyPr wrap="square"/>
                    <a:lstStyle/>
                    <a:p>
                      <a:pPr algn="ctr"/>
                      <a:r>
                        <a:rPr sz="850" b="1">
                          <a:solidFill>
                            <a:srgbClr val="00100C"/>
                          </a:solidFill>
                          <a:latin typeface="Aptos Display"/>
                        </a:rPr>
                        <a:t>4.3263</a:t>
                      </a:r>
                    </a:p>
                  </a:txBody>
                  <a:tcPr>
                    <a:solidFill>
                      <a:srgbClr val="21D4D4"/>
                    </a:solidFill>
                  </a:tcPr>
                </a:tc>
              </a:tr>
              <a:tr h="358140">
                <a:tc>
                  <a:txBody>
                    <a:bodyPr wrap="square"/>
                    <a:lstStyle/>
                    <a:p>
                      <a:pPr algn="ctr"/>
                      <a:r>
                        <a:rPr sz="850" b="0">
                          <a:solidFill>
                            <a:srgbClr val="B5D3C3"/>
                          </a:solidFill>
                          <a:latin typeface="Aptos Display"/>
                        </a:rPr>
                        <a:t>Chordeiles pus.</a:t>
                      </a:r>
                    </a:p>
                  </a:txBody>
                  <a:tcPr>
                    <a:solidFill>
                      <a:srgbClr val="082C2C"/>
                    </a:solidFill>
                  </a:tcPr>
                </a:tc>
                <a:tc>
                  <a:txBody>
                    <a:bodyPr wrap="square"/>
                    <a:lstStyle/>
                    <a:p>
                      <a:pPr algn="ctr"/>
                      <a:r>
                        <a:rPr sz="850" b="0">
                          <a:solidFill>
                            <a:srgbClr val="B5D3C3"/>
                          </a:solidFill>
                          <a:latin typeface="Aptos Display"/>
                        </a:rPr>
                        <a:t>240</a:t>
                      </a:r>
                    </a:p>
                  </a:txBody>
                  <a:tcPr>
                    <a:solidFill>
                      <a:srgbClr val="082C2C"/>
                    </a:solidFill>
                  </a:tcPr>
                </a:tc>
                <a:tc>
                  <a:txBody>
                    <a:bodyPr wrap="square"/>
                    <a:lstStyle/>
                    <a:p>
                      <a:pPr algn="ctr"/>
                      <a:r>
                        <a:rPr sz="850" b="1">
                          <a:solidFill>
                            <a:srgbClr val="00100C"/>
                          </a:solidFill>
                          <a:latin typeface="Aptos Display"/>
                        </a:rPr>
                        <a:t>5.4439 ⬆ máx</a:t>
                      </a:r>
                    </a:p>
                  </a:txBody>
                  <a:tcPr>
                    <a:solidFill>
                      <a:srgbClr val="21D4D4"/>
                    </a:solidFill>
                  </a:tcPr>
                </a:tc>
              </a:tr>
            </a:tbl>
          </a:graphicData>
        </a:graphic>
      </p:graphicFrame>
      <p:sp>
        <p:nvSpPr>
          <p:cNvPr id="15" name="Rectangle 14"/>
          <p:cNvSpPr/>
          <p:nvPr/>
        </p:nvSpPr>
        <p:spPr>
          <a:xfrm>
            <a:off x="457200" y="3749039"/>
            <a:ext cx="11274552" cy="822960"/>
          </a:xfrm>
          <a:prstGeom prst="rect">
            <a:avLst/>
          </a:prstGeom>
          <a:solidFill>
            <a:srgbClr val="0F3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803904"/>
            <a:ext cx="6400800" cy="274320"/>
          </a:xfrm>
          <a:prstGeom prst="rect">
            <a:avLst/>
          </a:prstGeom>
          <a:noFill/>
        </p:spPr>
        <p:txBody>
          <a:bodyPr wrap="square">
            <a:spAutoFit/>
          </a:bodyPr>
          <a:lstStyle/>
          <a:p>
            <a:pPr algn="l"/>
            <a:r>
              <a:rPr sz="900" b="1" i="0">
                <a:solidFill>
                  <a:srgbClr val="F4D35E"/>
                </a:solidFill>
                <a:latin typeface="Aptos Display"/>
              </a:rPr>
              <a:t>Nota sobre label smoothing (presente en los 3 modelos):</a:t>
            </a:r>
          </a:p>
        </p:txBody>
      </p:sp>
      <p:sp>
        <p:nvSpPr>
          <p:cNvPr id="17" name="TextBox 16"/>
          <p:cNvSpPr txBox="1"/>
          <p:nvPr/>
        </p:nvSpPr>
        <p:spPr>
          <a:xfrm>
            <a:off x="594360" y="4087368"/>
            <a:ext cx="10972800" cy="438912"/>
          </a:xfrm>
          <a:prstGeom prst="rect">
            <a:avLst/>
          </a:prstGeom>
          <a:noFill/>
        </p:spPr>
        <p:txBody>
          <a:bodyPr wrap="square">
            <a:spAutoFit/>
          </a:bodyPr>
          <a:lstStyle/>
          <a:p>
            <a:pPr algn="l"/>
            <a:r>
              <a:rPr sz="950" b="0" i="0">
                <a:solidFill>
                  <a:srgbClr val="B5D3C3"/>
                </a:solidFill>
                <a:latin typeface="Aptos Display"/>
              </a:rPr>
              <a:t>Los 3 modelos usan label_smoothing=0.1. La decisión fue aplicarlo desde baseline para tener una comparación justa. La hipótesis original era reservarlo para v2, pero mantenerlo en todos aísla el efecto de class weights con mayor rigor.</a:t>
            </a:r>
          </a:p>
        </p:txBody>
      </p:sp>
      <p:sp>
        <p:nvSpPr>
          <p:cNvPr id="18" name="Rectangle 17"/>
          <p:cNvSpPr/>
          <p:nvPr/>
        </p:nvSpPr>
        <p:spPr>
          <a:xfrm>
            <a:off x="457200" y="4709160"/>
            <a:ext cx="11274552" cy="1371600"/>
          </a:xfrm>
          <a:prstGeom prst="rect">
            <a:avLst/>
          </a:prstGeom>
          <a:solidFill>
            <a:srgbClr val="0B2B27"/>
          </a:solidFill>
          <a:ln w="9525">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773168"/>
            <a:ext cx="4572000" cy="292608"/>
          </a:xfrm>
          <a:prstGeom prst="rect">
            <a:avLst/>
          </a:prstGeom>
          <a:noFill/>
        </p:spPr>
        <p:txBody>
          <a:bodyPr wrap="square">
            <a:spAutoFit/>
          </a:bodyPr>
          <a:lstStyle/>
          <a:p>
            <a:pPr algn="l"/>
            <a:r>
              <a:rPr sz="1000" b="1" i="0">
                <a:solidFill>
                  <a:srgbClr val="21D4D4"/>
                </a:solidFill>
                <a:latin typeface="Aptos Display"/>
              </a:rPr>
              <a:t>Decisión metodológica clave</a:t>
            </a:r>
          </a:p>
        </p:txBody>
      </p:sp>
      <p:sp>
        <p:nvSpPr>
          <p:cNvPr id="20" name="TextBox 19"/>
          <p:cNvSpPr txBox="1"/>
          <p:nvPr/>
        </p:nvSpPr>
        <p:spPr>
          <a:xfrm>
            <a:off x="594360" y="5093208"/>
            <a:ext cx="10972800" cy="914400"/>
          </a:xfrm>
          <a:prstGeom prst="rect">
            <a:avLst/>
          </a:prstGeom>
          <a:noFill/>
        </p:spPr>
        <p:txBody>
          <a:bodyPr wrap="square">
            <a:spAutoFit/>
          </a:bodyPr>
          <a:lstStyle/>
          <a:p>
            <a:pPr algn="l"/>
            <a:r>
              <a:rPr sz="1050" b="0" i="0">
                <a:solidFill>
                  <a:srgbClr val="EFFCF5"/>
                </a:solidFill>
                <a:latin typeface="Aptos Display"/>
              </a:rPr>
              <a:t>NO se cambia la arquitectura entre v1 y v2. El único cambio es use_class_weights=True en la loss. Cualquier mejora en métricas se atribuye exclusivamente al balanceo, no a capacidad adicional del modelo. Esto es un experimento controlado.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jungle_bg.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64592"/>
            <a:ext cx="11274552" cy="475488"/>
          </a:xfrm>
          <a:prstGeom prst="rect">
            <a:avLst/>
          </a:prstGeom>
          <a:noFill/>
        </p:spPr>
        <p:txBody>
          <a:bodyPr wrap="square">
            <a:spAutoFit/>
          </a:bodyPr>
          <a:lstStyle/>
          <a:p>
            <a:pPr algn="l"/>
            <a:r>
              <a:rPr sz="2100" b="1" i="0">
                <a:solidFill>
                  <a:srgbClr val="EFFCF5"/>
                </a:solidFill>
                <a:latin typeface="Aptos Display"/>
              </a:rPr>
              <a:t>10. Protocolo de entrenamiento</a:t>
            </a:r>
          </a:p>
        </p:txBody>
      </p:sp>
      <p:sp>
        <p:nvSpPr>
          <p:cNvPr id="4" name="TextBox 3"/>
          <p:cNvSpPr txBox="1"/>
          <p:nvPr/>
        </p:nvSpPr>
        <p:spPr>
          <a:xfrm>
            <a:off x="457200" y="621792"/>
            <a:ext cx="11274552" cy="292608"/>
          </a:xfrm>
          <a:prstGeom prst="rect">
            <a:avLst/>
          </a:prstGeom>
          <a:noFill/>
        </p:spPr>
        <p:txBody>
          <a:bodyPr wrap="square">
            <a:spAutoFit/>
          </a:bodyPr>
          <a:lstStyle/>
          <a:p>
            <a:pPr algn="l"/>
            <a:r>
              <a:rPr sz="1000" b="0" i="0">
                <a:solidFill>
                  <a:srgbClr val="7EAA95"/>
                </a:solidFill>
                <a:latin typeface="Aptos Display"/>
              </a:rPr>
              <a:t>Mismas semillas · mismo split · mismo hardware → comparación justa entre los 3 modelos</a:t>
            </a:r>
          </a:p>
        </p:txBody>
      </p:sp>
      <p:sp>
        <p:nvSpPr>
          <p:cNvPr id="5" name="TextBox 4"/>
          <p:cNvSpPr txBox="1"/>
          <p:nvPr/>
        </p:nvSpPr>
        <p:spPr>
          <a:xfrm>
            <a:off x="457200" y="6537960"/>
            <a:ext cx="8229600" cy="274320"/>
          </a:xfrm>
          <a:prstGeom prst="rect">
            <a:avLst/>
          </a:prstGeom>
          <a:noFill/>
        </p:spPr>
        <p:txBody>
          <a:bodyPr wrap="square">
            <a:spAutoFit/>
          </a:bodyPr>
          <a:lstStyle/>
          <a:p>
            <a:pPr algn="l"/>
            <a:r>
              <a:rPr sz="800" b="0" i="0">
                <a:solidFill>
                  <a:srgbClr val="7EAA95"/>
                </a:solidFill>
                <a:latin typeface="Aptos Display"/>
              </a:rPr>
              <a:t>SelvaSonic-ML · Aprendizaje Automático · UNAL Medellín</a:t>
            </a:r>
          </a:p>
        </p:txBody>
      </p:sp>
      <p:sp>
        <p:nvSpPr>
          <p:cNvPr id="6" name="TextBox 5"/>
          <p:cNvSpPr txBox="1"/>
          <p:nvPr/>
        </p:nvSpPr>
        <p:spPr>
          <a:xfrm>
            <a:off x="11247120" y="6537960"/>
            <a:ext cx="484632" cy="274320"/>
          </a:xfrm>
          <a:prstGeom prst="rect">
            <a:avLst/>
          </a:prstGeom>
          <a:noFill/>
        </p:spPr>
        <p:txBody>
          <a:bodyPr wrap="square">
            <a:spAutoFit/>
          </a:bodyPr>
          <a:lstStyle/>
          <a:p>
            <a:pPr algn="r"/>
            <a:r>
              <a:rPr sz="800" b="0" i="0">
                <a:solidFill>
                  <a:srgbClr val="7EAA95"/>
                </a:solidFill>
                <a:latin typeface="Aptos Display"/>
              </a:rPr>
              <a:t>13</a:t>
            </a:r>
          </a:p>
        </p:txBody>
      </p:sp>
      <p:graphicFrame>
        <p:nvGraphicFramePr>
          <p:cNvPr id="7" name="Table 6"/>
          <p:cNvGraphicFramePr>
            <a:graphicFrameLocks noGrp="1"/>
          </p:cNvGraphicFramePr>
          <p:nvPr/>
        </p:nvGraphicFramePr>
        <p:xfrm>
          <a:off x="457200" y="987552"/>
          <a:ext cx="11274551" cy="4251960"/>
        </p:xfrm>
        <a:graphic>
          <a:graphicData uri="http://schemas.openxmlformats.org/drawingml/2006/table">
            <a:tbl>
              <a:tblPr firstRow="1" bandRow="1">
                <a:tableStyleId>{5C22544A-7EE6-4342-B048-85BDC9FD1C3A}</a:tableStyleId>
              </a:tblPr>
              <a:tblGrid>
                <a:gridCol w="2480401"/>
                <a:gridCol w="2254910"/>
                <a:gridCol w="6539240"/>
              </a:tblGrid>
              <a:tr h="386541">
                <a:tc>
                  <a:txBody>
                    <a:bodyPr wrap="square"/>
                    <a:lstStyle/>
                    <a:p>
                      <a:pPr algn="ctr"/>
                      <a:r>
                        <a:rPr sz="850" b="1">
                          <a:solidFill>
                            <a:srgbClr val="21D4D4"/>
                          </a:solidFill>
                          <a:latin typeface="Aptos Display"/>
                        </a:rPr>
                        <a:t>Hiperparámetro</a:t>
                      </a:r>
                    </a:p>
                  </a:txBody>
                  <a:tcPr>
                    <a:solidFill>
                      <a:srgbClr val="082C2C"/>
                    </a:solidFill>
                  </a:tcPr>
                </a:tc>
                <a:tc>
                  <a:txBody>
                    <a:bodyPr wrap="square"/>
                    <a:lstStyle/>
                    <a:p>
                      <a:pPr algn="ctr"/>
                      <a:r>
                        <a:rPr sz="850" b="1">
                          <a:solidFill>
                            <a:srgbClr val="21D4D4"/>
                          </a:solidFill>
                          <a:latin typeface="Aptos Display"/>
                        </a:rPr>
                        <a:t>Valor</a:t>
                      </a:r>
                    </a:p>
                  </a:txBody>
                  <a:tcPr>
                    <a:solidFill>
                      <a:srgbClr val="082C2C"/>
                    </a:solidFill>
                  </a:tcPr>
                </a:tc>
                <a:tc>
                  <a:txBody>
                    <a:bodyPr wrap="square"/>
                    <a:lstStyle/>
                    <a:p>
                      <a:pPr algn="ctr"/>
                      <a:r>
                        <a:rPr sz="850" b="1">
                          <a:solidFill>
                            <a:srgbClr val="21D4D4"/>
                          </a:solidFill>
                          <a:latin typeface="Aptos Display"/>
                        </a:rPr>
                        <a:t>Justificación</a:t>
                      </a:r>
                    </a:p>
                  </a:txBody>
                  <a:tcPr>
                    <a:solidFill>
                      <a:srgbClr val="082C2C"/>
                    </a:solidFill>
                  </a:tcPr>
                </a:tc>
              </a:tr>
              <a:tr h="386541">
                <a:tc>
                  <a:txBody>
                    <a:bodyPr wrap="square"/>
                    <a:lstStyle/>
                    <a:p>
                      <a:pPr algn="ctr"/>
                      <a:r>
                        <a:rPr sz="850" b="0">
                          <a:solidFill>
                            <a:srgbClr val="B5D3C3"/>
                          </a:solidFill>
                          <a:latin typeface="Aptos Display"/>
                        </a:rPr>
                        <a:t>Optimizer</a:t>
                      </a:r>
                    </a:p>
                  </a:txBody>
                  <a:tcPr>
                    <a:solidFill>
                      <a:srgbClr val="0F302B"/>
                    </a:solidFill>
                  </a:tcPr>
                </a:tc>
                <a:tc>
                  <a:txBody>
                    <a:bodyPr wrap="square"/>
                    <a:lstStyle/>
                    <a:p>
                      <a:pPr algn="ctr"/>
                      <a:r>
                        <a:rPr sz="850" b="0">
                          <a:solidFill>
                            <a:srgbClr val="B5D3C3"/>
                          </a:solidFill>
                          <a:latin typeface="Aptos Display"/>
                        </a:rPr>
                        <a:t>AdamW</a:t>
                      </a:r>
                    </a:p>
                  </a:txBody>
                  <a:tcPr>
                    <a:solidFill>
                      <a:srgbClr val="0F302B"/>
                    </a:solidFill>
                  </a:tcPr>
                </a:tc>
                <a:tc>
                  <a:txBody>
                    <a:bodyPr wrap="square"/>
                    <a:lstStyle/>
                    <a:p>
                      <a:pPr algn="ctr"/>
                      <a:r>
                        <a:rPr sz="850" b="0">
                          <a:solidFill>
                            <a:srgbClr val="B5D3C3"/>
                          </a:solidFill>
                          <a:latin typeface="Aptos Display"/>
                        </a:rPr>
                        <a:t>Estándar moderno; regularización implícita vía weight decay</a:t>
                      </a:r>
                    </a:p>
                  </a:txBody>
                  <a:tcPr>
                    <a:solidFill>
                      <a:srgbClr val="0F302B"/>
                    </a:solidFill>
                  </a:tcPr>
                </a:tc>
              </a:tr>
              <a:tr h="386541">
                <a:tc>
                  <a:txBody>
                    <a:bodyPr wrap="square"/>
                    <a:lstStyle/>
                    <a:p>
                      <a:pPr algn="ctr"/>
                      <a:r>
                        <a:rPr sz="850" b="0">
                          <a:solidFill>
                            <a:srgbClr val="B5D3C3"/>
                          </a:solidFill>
                          <a:latin typeface="Aptos Display"/>
                        </a:rPr>
                        <a:t>Learning rate</a:t>
                      </a:r>
                    </a:p>
                  </a:txBody>
                  <a:tcPr>
                    <a:solidFill>
                      <a:srgbClr val="00100C"/>
                    </a:solidFill>
                  </a:tcPr>
                </a:tc>
                <a:tc>
                  <a:txBody>
                    <a:bodyPr wrap="square"/>
                    <a:lstStyle/>
                    <a:p>
                      <a:pPr algn="ctr"/>
                      <a:r>
                        <a:rPr sz="850" b="0">
                          <a:solidFill>
                            <a:srgbClr val="B5D3C3"/>
                          </a:solidFill>
                          <a:latin typeface="Aptos Display"/>
                        </a:rPr>
                        <a:t>0.001</a:t>
                      </a:r>
                    </a:p>
                  </a:txBody>
                  <a:tcPr>
                    <a:solidFill>
                      <a:srgbClr val="00100C"/>
                    </a:solidFill>
                  </a:tcPr>
                </a:tc>
                <a:tc>
                  <a:txBody>
                    <a:bodyPr wrap="square"/>
                    <a:lstStyle/>
                    <a:p>
                      <a:pPr algn="ctr"/>
                      <a:r>
                        <a:rPr sz="850" b="0">
                          <a:solidFill>
                            <a:srgbClr val="B5D3C3"/>
                          </a:solidFill>
                          <a:latin typeface="Aptos Display"/>
                        </a:rPr>
                        <a:t>Valor de arranque; CosineAnnealingLR decae a 0</a:t>
                      </a:r>
                    </a:p>
                  </a:txBody>
                  <a:tcPr>
                    <a:solidFill>
                      <a:srgbClr val="00100C"/>
                    </a:solidFill>
                  </a:tcPr>
                </a:tc>
              </a:tr>
              <a:tr h="386541">
                <a:tc>
                  <a:txBody>
                    <a:bodyPr wrap="square"/>
                    <a:lstStyle/>
                    <a:p>
                      <a:pPr algn="ctr"/>
                      <a:r>
                        <a:rPr sz="850" b="0">
                          <a:solidFill>
                            <a:srgbClr val="B5D3C3"/>
                          </a:solidFill>
                          <a:latin typeface="Aptos Display"/>
                        </a:rPr>
                        <a:t>LR Scheduler</a:t>
                      </a:r>
                    </a:p>
                  </a:txBody>
                  <a:tcPr>
                    <a:solidFill>
                      <a:srgbClr val="0F302B"/>
                    </a:solidFill>
                  </a:tcPr>
                </a:tc>
                <a:tc>
                  <a:txBody>
                    <a:bodyPr wrap="square"/>
                    <a:lstStyle/>
                    <a:p>
                      <a:pPr algn="ctr"/>
                      <a:r>
                        <a:rPr sz="850" b="0">
                          <a:solidFill>
                            <a:srgbClr val="B5D3C3"/>
                          </a:solidFill>
                          <a:latin typeface="Aptos Display"/>
                        </a:rPr>
                        <a:t>CosineAnnealingLR</a:t>
                      </a:r>
                    </a:p>
                  </a:txBody>
                  <a:tcPr>
                    <a:solidFill>
                      <a:srgbClr val="0F302B"/>
                    </a:solidFill>
                  </a:tcPr>
                </a:tc>
                <a:tc>
                  <a:txBody>
                    <a:bodyPr wrap="square"/>
                    <a:lstStyle/>
                    <a:p>
                      <a:pPr algn="ctr"/>
                      <a:r>
                        <a:rPr sz="850" b="0">
                          <a:solidFill>
                            <a:srgbClr val="B5D3C3"/>
                          </a:solidFill>
                          <a:latin typeface="Aptos Display"/>
                        </a:rPr>
                        <a:t>Decaimiento suave; evita oscilaciones de SGD con momentum</a:t>
                      </a:r>
                    </a:p>
                  </a:txBody>
                  <a:tcPr>
                    <a:solidFill>
                      <a:srgbClr val="0F302B"/>
                    </a:solidFill>
                  </a:tcPr>
                </a:tc>
              </a:tr>
              <a:tr h="386541">
                <a:tc>
                  <a:txBody>
                    <a:bodyPr wrap="square"/>
                    <a:lstStyle/>
                    <a:p>
                      <a:pPr algn="ctr"/>
                      <a:r>
                        <a:rPr sz="850" b="0">
                          <a:solidFill>
                            <a:srgbClr val="B5D3C3"/>
                          </a:solidFill>
                          <a:latin typeface="Aptos Display"/>
                        </a:rPr>
                        <a:t>Weight decay</a:t>
                      </a:r>
                    </a:p>
                  </a:txBody>
                  <a:tcPr>
                    <a:solidFill>
                      <a:srgbClr val="00100C"/>
                    </a:solidFill>
                  </a:tcPr>
                </a:tc>
                <a:tc>
                  <a:txBody>
                    <a:bodyPr wrap="square"/>
                    <a:lstStyle/>
                    <a:p>
                      <a:pPr algn="ctr"/>
                      <a:r>
                        <a:rPr sz="850" b="0">
                          <a:solidFill>
                            <a:srgbClr val="B5D3C3"/>
                          </a:solidFill>
                          <a:latin typeface="Aptos Display"/>
                        </a:rPr>
                        <a:t>1e-4</a:t>
                      </a:r>
                    </a:p>
                  </a:txBody>
                  <a:tcPr>
                    <a:solidFill>
                      <a:srgbClr val="00100C"/>
                    </a:solidFill>
                  </a:tcPr>
                </a:tc>
                <a:tc>
                  <a:txBody>
                    <a:bodyPr wrap="square"/>
                    <a:lstStyle/>
                    <a:p>
                      <a:pPr algn="ctr"/>
                      <a:r>
                        <a:rPr sz="850" b="0">
                          <a:solidFill>
                            <a:srgbClr val="B5D3C3"/>
                          </a:solidFill>
                          <a:latin typeface="Aptos Display"/>
                        </a:rPr>
                        <a:t>Regularización L2 implícita en AdamW</a:t>
                      </a:r>
                    </a:p>
                  </a:txBody>
                  <a:tcPr>
                    <a:solidFill>
                      <a:srgbClr val="00100C"/>
                    </a:solidFill>
                  </a:tcPr>
                </a:tc>
              </a:tr>
              <a:tr h="386541">
                <a:tc>
                  <a:txBody>
                    <a:bodyPr wrap="square"/>
                    <a:lstStyle/>
                    <a:p>
                      <a:pPr algn="ctr"/>
                      <a:r>
                        <a:rPr sz="850" b="0">
                          <a:solidFill>
                            <a:srgbClr val="B5D3C3"/>
                          </a:solidFill>
                          <a:latin typeface="Aptos Display"/>
                        </a:rPr>
                        <a:t>Label smoothing</a:t>
                      </a:r>
                    </a:p>
                  </a:txBody>
                  <a:tcPr>
                    <a:solidFill>
                      <a:srgbClr val="0F302B"/>
                    </a:solidFill>
                  </a:tcPr>
                </a:tc>
                <a:tc>
                  <a:txBody>
                    <a:bodyPr wrap="square"/>
                    <a:lstStyle/>
                    <a:p>
                      <a:pPr algn="ctr"/>
                      <a:r>
                        <a:rPr sz="850" b="0">
                          <a:solidFill>
                            <a:srgbClr val="B5D3C3"/>
                          </a:solidFill>
                          <a:latin typeface="Aptos Display"/>
                        </a:rPr>
                        <a:t>α = 0.1</a:t>
                      </a:r>
                    </a:p>
                  </a:txBody>
                  <a:tcPr>
                    <a:solidFill>
                      <a:srgbClr val="0F302B"/>
                    </a:solidFill>
                  </a:tcPr>
                </a:tc>
                <a:tc>
                  <a:txBody>
                    <a:bodyPr wrap="square"/>
                    <a:lstStyle/>
                    <a:p>
                      <a:pPr algn="ctr"/>
                      <a:r>
                        <a:rPr sz="850" b="0">
                          <a:solidFill>
                            <a:srgbClr val="B5D3C3"/>
                          </a:solidFill>
                          <a:latin typeface="Aptos Display"/>
                        </a:rPr>
                        <a:t>En los 3 modelos; reduce overconfidence (Szegedy et al. 2016)</a:t>
                      </a:r>
                    </a:p>
                  </a:txBody>
                  <a:tcPr>
                    <a:solidFill>
                      <a:srgbClr val="0F302B"/>
                    </a:solidFill>
                  </a:tcPr>
                </a:tc>
              </a:tr>
              <a:tr h="386541">
                <a:tc>
                  <a:txBody>
                    <a:bodyPr wrap="square"/>
                    <a:lstStyle/>
                    <a:p>
                      <a:pPr algn="ctr"/>
                      <a:r>
                        <a:rPr sz="850" b="0">
                          <a:solidFill>
                            <a:srgbClr val="B5D3C3"/>
                          </a:solidFill>
                          <a:latin typeface="Aptos Display"/>
                        </a:rPr>
                        <a:t>Batch size</a:t>
                      </a:r>
                    </a:p>
                  </a:txBody>
                  <a:tcPr>
                    <a:solidFill>
                      <a:srgbClr val="00100C"/>
                    </a:solidFill>
                  </a:tcPr>
                </a:tc>
                <a:tc>
                  <a:txBody>
                    <a:bodyPr wrap="square"/>
                    <a:lstStyle/>
                    <a:p>
                      <a:pPr algn="ctr"/>
                      <a:r>
                        <a:rPr sz="850" b="0">
                          <a:solidFill>
                            <a:srgbClr val="B5D3C3"/>
                          </a:solidFill>
                          <a:latin typeface="Aptos Display"/>
                        </a:rPr>
                        <a:t>32</a:t>
                      </a:r>
                    </a:p>
                  </a:txBody>
                  <a:tcPr>
                    <a:solidFill>
                      <a:srgbClr val="00100C"/>
                    </a:solidFill>
                  </a:tcPr>
                </a:tc>
                <a:tc>
                  <a:txBody>
                    <a:bodyPr wrap="square"/>
                    <a:lstStyle/>
                    <a:p>
                      <a:pPr algn="ctr"/>
                      <a:r>
                        <a:rPr sz="850" b="0">
                          <a:solidFill>
                            <a:srgbClr val="B5D3C3"/>
                          </a:solidFill>
                          <a:latin typeface="Aptos Display"/>
                        </a:rPr>
                        <a:t>Trade-off memoria GPU T4 / ruido en gradientes</a:t>
                      </a:r>
                    </a:p>
                  </a:txBody>
                  <a:tcPr>
                    <a:solidFill>
                      <a:srgbClr val="00100C"/>
                    </a:solidFill>
                  </a:tcPr>
                </a:tc>
              </a:tr>
              <a:tr h="386541">
                <a:tc>
                  <a:txBody>
                    <a:bodyPr wrap="square"/>
                    <a:lstStyle/>
                    <a:p>
                      <a:pPr algn="ctr"/>
                      <a:r>
                        <a:rPr sz="850" b="0">
                          <a:solidFill>
                            <a:srgbClr val="B5D3C3"/>
                          </a:solidFill>
                          <a:latin typeface="Aptos Display"/>
                        </a:rPr>
                        <a:t>Max epochs</a:t>
                      </a:r>
                    </a:p>
                  </a:txBody>
                  <a:tcPr>
                    <a:solidFill>
                      <a:srgbClr val="0F302B"/>
                    </a:solidFill>
                  </a:tcPr>
                </a:tc>
                <a:tc>
                  <a:txBody>
                    <a:bodyPr wrap="square"/>
                    <a:lstStyle/>
                    <a:p>
                      <a:pPr algn="ctr"/>
                      <a:r>
                        <a:rPr sz="850" b="0">
                          <a:solidFill>
                            <a:srgbClr val="B5D3C3"/>
                          </a:solidFill>
                          <a:latin typeface="Aptos Display"/>
                        </a:rPr>
                        <a:t>30</a:t>
                      </a:r>
                    </a:p>
                  </a:txBody>
                  <a:tcPr>
                    <a:solidFill>
                      <a:srgbClr val="0F302B"/>
                    </a:solidFill>
                  </a:tcPr>
                </a:tc>
                <a:tc>
                  <a:txBody>
                    <a:bodyPr wrap="square"/>
                    <a:lstStyle/>
                    <a:p>
                      <a:pPr algn="ctr"/>
                      <a:r>
                        <a:rPr sz="850" b="0">
                          <a:solidFill>
                            <a:srgbClr val="B5D3C3"/>
                          </a:solidFill>
                          <a:latin typeface="Aptos Display"/>
                        </a:rPr>
                        <a:t>Límite superior; early stopping actúa antes en todos los runs</a:t>
                      </a:r>
                    </a:p>
                  </a:txBody>
                  <a:tcPr>
                    <a:solidFill>
                      <a:srgbClr val="0F302B"/>
                    </a:solidFill>
                  </a:tcPr>
                </a:tc>
              </a:tr>
              <a:tr h="386541">
                <a:tc>
                  <a:txBody>
                    <a:bodyPr wrap="square"/>
                    <a:lstStyle/>
                    <a:p>
                      <a:pPr algn="ctr"/>
                      <a:r>
                        <a:rPr sz="850" b="0">
                          <a:solidFill>
                            <a:srgbClr val="B5D3C3"/>
                          </a:solidFill>
                          <a:latin typeface="Aptos Display"/>
                        </a:rPr>
                        <a:t>Early stopping</a:t>
                      </a:r>
                    </a:p>
                  </a:txBody>
                  <a:tcPr>
                    <a:solidFill>
                      <a:srgbClr val="00100C"/>
                    </a:solidFill>
                  </a:tcPr>
                </a:tc>
                <a:tc>
                  <a:txBody>
                    <a:bodyPr wrap="square"/>
                    <a:lstStyle/>
                    <a:p>
                      <a:pPr algn="ctr"/>
                      <a:r>
                        <a:rPr sz="850" b="0">
                          <a:solidFill>
                            <a:srgbClr val="B5D3C3"/>
                          </a:solidFill>
                          <a:latin typeface="Aptos Display"/>
                        </a:rPr>
                        <a:t>patience=5, Δ=0.001</a:t>
                      </a:r>
                    </a:p>
                  </a:txBody>
                  <a:tcPr>
                    <a:solidFill>
                      <a:srgbClr val="00100C"/>
                    </a:solidFill>
                  </a:tcPr>
                </a:tc>
                <a:tc>
                  <a:txBody>
                    <a:bodyPr wrap="square"/>
                    <a:lstStyle/>
                    <a:p>
                      <a:pPr algn="ctr"/>
                      <a:r>
                        <a:rPr sz="850" b="0">
                          <a:solidFill>
                            <a:srgbClr val="B5D3C3"/>
                          </a:solidFill>
                          <a:latin typeface="Aptos Display"/>
                        </a:rPr>
                        <a:t>Detiene cuando val_acc no mejora ≥0.001 en 5 épocas</a:t>
                      </a:r>
                    </a:p>
                  </a:txBody>
                  <a:tcPr>
                    <a:solidFill>
                      <a:srgbClr val="00100C"/>
                    </a:solidFill>
                  </a:tcPr>
                </a:tc>
              </a:tr>
              <a:tr h="386541">
                <a:tc>
                  <a:txBody>
                    <a:bodyPr wrap="square"/>
                    <a:lstStyle/>
                    <a:p>
                      <a:pPr algn="ctr"/>
                      <a:r>
                        <a:rPr sz="850" b="0">
                          <a:solidFill>
                            <a:srgbClr val="B5D3C3"/>
                          </a:solidFill>
                          <a:latin typeface="Aptos Display"/>
                        </a:rPr>
                        <a:t>Semilla</a:t>
                      </a:r>
                    </a:p>
                  </a:txBody>
                  <a:tcPr>
                    <a:solidFill>
                      <a:srgbClr val="0F302B"/>
                    </a:solidFill>
                  </a:tcPr>
                </a:tc>
                <a:tc>
                  <a:txBody>
                    <a:bodyPr wrap="square"/>
                    <a:lstStyle/>
                    <a:p>
                      <a:pPr algn="ctr"/>
                      <a:r>
                        <a:rPr sz="850" b="0">
                          <a:solidFill>
                            <a:srgbClr val="B5D3C3"/>
                          </a:solidFill>
                          <a:latin typeface="Aptos Display"/>
                        </a:rPr>
                        <a:t>42</a:t>
                      </a:r>
                    </a:p>
                  </a:txBody>
                  <a:tcPr>
                    <a:solidFill>
                      <a:srgbClr val="0F302B"/>
                    </a:solidFill>
                  </a:tcPr>
                </a:tc>
                <a:tc>
                  <a:txBody>
                    <a:bodyPr wrap="square"/>
                    <a:lstStyle/>
                    <a:p>
                      <a:pPr algn="ctr"/>
                      <a:r>
                        <a:rPr sz="850" b="0">
                          <a:solidFill>
                            <a:srgbClr val="B5D3C3"/>
                          </a:solidFill>
                          <a:latin typeface="Aptos Display"/>
                        </a:rPr>
                        <a:t>Fija splits, init de pesos y augmentation para reproducibilidad</a:t>
                      </a:r>
                    </a:p>
                  </a:txBody>
                  <a:tcPr>
                    <a:solidFill>
                      <a:srgbClr val="0F302B"/>
                    </a:solidFill>
                  </a:tcPr>
                </a:tc>
              </a:tr>
              <a:tr h="386550">
                <a:tc>
                  <a:txBody>
                    <a:bodyPr wrap="square"/>
                    <a:lstStyle/>
                    <a:p>
                      <a:pPr algn="ctr"/>
                      <a:r>
                        <a:rPr sz="850" b="0">
                          <a:solidFill>
                            <a:srgbClr val="B5D3C3"/>
                          </a:solidFill>
                          <a:latin typeface="Aptos Display"/>
                        </a:rPr>
                        <a:t>Hardware</a:t>
                      </a:r>
                    </a:p>
                  </a:txBody>
                  <a:tcPr>
                    <a:solidFill>
                      <a:srgbClr val="00100C"/>
                    </a:solidFill>
                  </a:tcPr>
                </a:tc>
                <a:tc>
                  <a:txBody>
                    <a:bodyPr wrap="square"/>
                    <a:lstStyle/>
                    <a:p>
                      <a:pPr algn="ctr"/>
                      <a:r>
                        <a:rPr sz="850" b="0">
                          <a:solidFill>
                            <a:srgbClr val="B5D3C3"/>
                          </a:solidFill>
                          <a:latin typeface="Aptos Display"/>
                        </a:rPr>
                        <a:t>NVIDIA T4 (Colab)</a:t>
                      </a:r>
                    </a:p>
                  </a:txBody>
                  <a:tcPr>
                    <a:solidFill>
                      <a:srgbClr val="00100C"/>
                    </a:solidFill>
                  </a:tcPr>
                </a:tc>
                <a:tc>
                  <a:txBody>
                    <a:bodyPr wrap="square"/>
                    <a:lstStyle/>
                    <a:p>
                      <a:pPr algn="ctr"/>
                      <a:r>
                        <a:rPr sz="850" b="0">
                          <a:solidFill>
                            <a:srgbClr val="B5D3C3"/>
                          </a:solidFill>
                          <a:latin typeface="Aptos Display"/>
                        </a:rPr>
                        <a:t>GPU gratuita de Google Colab; reproducible con cuenta estándar</a:t>
                      </a:r>
                    </a:p>
                  </a:txBody>
                  <a:tcPr>
                    <a:solidFill>
                      <a:srgbClr val="00100C"/>
                    </a:solidFill>
                  </a:tcPr>
                </a:tc>
              </a:tr>
            </a:tbl>
          </a:graphicData>
        </a:graphic>
      </p:graphicFrame>
      <p:sp>
        <p:nvSpPr>
          <p:cNvPr id="8" name="Rectangle 7"/>
          <p:cNvSpPr/>
          <p:nvPr/>
        </p:nvSpPr>
        <p:spPr>
          <a:xfrm>
            <a:off x="457200" y="5394960"/>
            <a:ext cx="11274552" cy="868680"/>
          </a:xfrm>
          <a:prstGeom prst="rect">
            <a:avLst/>
          </a:prstGeom>
          <a:solidFill>
            <a:srgbClr val="0B2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5449824"/>
            <a:ext cx="7315200" cy="274320"/>
          </a:xfrm>
          <a:prstGeom prst="rect">
            <a:avLst/>
          </a:prstGeom>
          <a:noFill/>
        </p:spPr>
        <p:txBody>
          <a:bodyPr wrap="square">
            <a:spAutoFit/>
          </a:bodyPr>
          <a:lstStyle/>
          <a:p>
            <a:pPr algn="l"/>
            <a:r>
              <a:rPr sz="950" b="1" i="0">
                <a:solidFill>
                  <a:srgbClr val="21D4D4"/>
                </a:solidFill>
                <a:latin typeface="Aptos Display"/>
              </a:rPr>
              <a:t>Tiempos de entrenamiento reales (GPU T4 · medidos en history.json):</a:t>
            </a:r>
          </a:p>
        </p:txBody>
      </p:sp>
      <p:sp>
        <p:nvSpPr>
          <p:cNvPr id="10" name="TextBox 9"/>
          <p:cNvSpPr txBox="1"/>
          <p:nvPr/>
        </p:nvSpPr>
        <p:spPr>
          <a:xfrm>
            <a:off x="594360" y="5760720"/>
            <a:ext cx="3566160" cy="256032"/>
          </a:xfrm>
          <a:prstGeom prst="rect">
            <a:avLst/>
          </a:prstGeom>
          <a:noFill/>
        </p:spPr>
        <p:txBody>
          <a:bodyPr wrap="square">
            <a:spAutoFit/>
          </a:bodyPr>
          <a:lstStyle/>
          <a:p>
            <a:pPr algn="l"/>
            <a:r>
              <a:rPr sz="900" b="0" i="0">
                <a:solidFill>
                  <a:srgbClr val="7EAA95"/>
                </a:solidFill>
                <a:latin typeface="Aptos Display"/>
              </a:rPr>
              <a:t>Baseline</a:t>
            </a:r>
          </a:p>
        </p:txBody>
      </p:sp>
      <p:sp>
        <p:nvSpPr>
          <p:cNvPr id="11" name="TextBox 10"/>
          <p:cNvSpPr txBox="1"/>
          <p:nvPr/>
        </p:nvSpPr>
        <p:spPr>
          <a:xfrm>
            <a:off x="594360" y="6007608"/>
            <a:ext cx="3566160" cy="256032"/>
          </a:xfrm>
          <a:prstGeom prst="rect">
            <a:avLst/>
          </a:prstGeom>
          <a:noFill/>
        </p:spPr>
        <p:txBody>
          <a:bodyPr wrap="square">
            <a:spAutoFit/>
          </a:bodyPr>
          <a:lstStyle/>
          <a:p>
            <a:pPr algn="l"/>
            <a:r>
              <a:rPr sz="1100" b="1" i="0">
                <a:solidFill>
                  <a:srgbClr val="EFFCF5"/>
                </a:solidFill>
                <a:latin typeface="Aptos Display"/>
              </a:rPr>
              <a:t>~286 min (27 ep.)</a:t>
            </a:r>
          </a:p>
        </p:txBody>
      </p:sp>
      <p:sp>
        <p:nvSpPr>
          <p:cNvPr id="12" name="TextBox 11"/>
          <p:cNvSpPr txBox="1"/>
          <p:nvPr/>
        </p:nvSpPr>
        <p:spPr>
          <a:xfrm>
            <a:off x="4343400" y="5760720"/>
            <a:ext cx="3566160" cy="256032"/>
          </a:xfrm>
          <a:prstGeom prst="rect">
            <a:avLst/>
          </a:prstGeom>
          <a:noFill/>
        </p:spPr>
        <p:txBody>
          <a:bodyPr wrap="square">
            <a:spAutoFit/>
          </a:bodyPr>
          <a:lstStyle/>
          <a:p>
            <a:pPr algn="l"/>
            <a:r>
              <a:rPr sz="900" b="0" i="0">
                <a:solidFill>
                  <a:srgbClr val="7EAA95"/>
                </a:solidFill>
                <a:latin typeface="Aptos Display"/>
              </a:rPr>
              <a:t>Attention v1</a:t>
            </a:r>
          </a:p>
        </p:txBody>
      </p:sp>
      <p:sp>
        <p:nvSpPr>
          <p:cNvPr id="13" name="TextBox 12"/>
          <p:cNvSpPr txBox="1"/>
          <p:nvPr/>
        </p:nvSpPr>
        <p:spPr>
          <a:xfrm>
            <a:off x="4343400" y="6007608"/>
            <a:ext cx="3566160" cy="256032"/>
          </a:xfrm>
          <a:prstGeom prst="rect">
            <a:avLst/>
          </a:prstGeom>
          <a:noFill/>
        </p:spPr>
        <p:txBody>
          <a:bodyPr wrap="square">
            <a:spAutoFit/>
          </a:bodyPr>
          <a:lstStyle/>
          <a:p>
            <a:pPr algn="l"/>
            <a:r>
              <a:rPr sz="1100" b="1" i="0">
                <a:solidFill>
                  <a:srgbClr val="EFFCF5"/>
                </a:solidFill>
                <a:latin typeface="Aptos Display"/>
              </a:rPr>
              <a:t>~181 min (17 ep.)</a:t>
            </a:r>
          </a:p>
        </p:txBody>
      </p:sp>
      <p:sp>
        <p:nvSpPr>
          <p:cNvPr id="14" name="TextBox 13"/>
          <p:cNvSpPr txBox="1"/>
          <p:nvPr/>
        </p:nvSpPr>
        <p:spPr>
          <a:xfrm>
            <a:off x="8092440" y="5760720"/>
            <a:ext cx="3566160" cy="256032"/>
          </a:xfrm>
          <a:prstGeom prst="rect">
            <a:avLst/>
          </a:prstGeom>
          <a:noFill/>
        </p:spPr>
        <p:txBody>
          <a:bodyPr wrap="square">
            <a:spAutoFit/>
          </a:bodyPr>
          <a:lstStyle/>
          <a:p>
            <a:pPr algn="l"/>
            <a:r>
              <a:rPr sz="900" b="0" i="0">
                <a:solidFill>
                  <a:srgbClr val="7EAA95"/>
                </a:solidFill>
                <a:latin typeface="Aptos Display"/>
              </a:rPr>
              <a:t>Attention v2</a:t>
            </a:r>
          </a:p>
        </p:txBody>
      </p:sp>
      <p:sp>
        <p:nvSpPr>
          <p:cNvPr id="15" name="TextBox 14"/>
          <p:cNvSpPr txBox="1"/>
          <p:nvPr/>
        </p:nvSpPr>
        <p:spPr>
          <a:xfrm>
            <a:off x="8092440" y="6007608"/>
            <a:ext cx="3566160" cy="256032"/>
          </a:xfrm>
          <a:prstGeom prst="rect">
            <a:avLst/>
          </a:prstGeom>
          <a:noFill/>
        </p:spPr>
        <p:txBody>
          <a:bodyPr wrap="square">
            <a:spAutoFit/>
          </a:bodyPr>
          <a:lstStyle/>
          <a:p>
            <a:pPr algn="l"/>
            <a:r>
              <a:rPr sz="1100" b="1" i="0">
                <a:solidFill>
                  <a:srgbClr val="EFFCF5"/>
                </a:solidFill>
                <a:latin typeface="Aptos Display"/>
              </a:rPr>
              <a:t>~270 min (25 ep.)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jungle_bg.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64592"/>
            <a:ext cx="11274552" cy="475488"/>
          </a:xfrm>
          <a:prstGeom prst="rect">
            <a:avLst/>
          </a:prstGeom>
          <a:noFill/>
        </p:spPr>
        <p:txBody>
          <a:bodyPr wrap="square">
            <a:spAutoFit/>
          </a:bodyPr>
          <a:lstStyle/>
          <a:p>
            <a:pPr algn="l"/>
            <a:r>
              <a:rPr sz="2100" b="1" i="0">
                <a:solidFill>
                  <a:srgbClr val="EFFCF5"/>
                </a:solidFill>
                <a:latin typeface="Aptos Display"/>
              </a:rPr>
              <a:t>11. Resultados: progresión metodológica</a:t>
            </a:r>
          </a:p>
        </p:txBody>
      </p:sp>
      <p:sp>
        <p:nvSpPr>
          <p:cNvPr id="4" name="TextBox 3"/>
          <p:cNvSpPr txBox="1"/>
          <p:nvPr/>
        </p:nvSpPr>
        <p:spPr>
          <a:xfrm>
            <a:off x="457200" y="621792"/>
            <a:ext cx="11274552" cy="292608"/>
          </a:xfrm>
          <a:prstGeom prst="rect">
            <a:avLst/>
          </a:prstGeom>
          <a:noFill/>
        </p:spPr>
        <p:txBody>
          <a:bodyPr wrap="square">
            <a:spAutoFit/>
          </a:bodyPr>
          <a:lstStyle/>
          <a:p>
            <a:pPr algn="l"/>
            <a:r>
              <a:rPr sz="1000" b="0" i="0">
                <a:solidFill>
                  <a:srgbClr val="7EAA95"/>
                </a:solidFill>
                <a:latin typeface="Aptos Display"/>
              </a:rPr>
              <a:t>Cada cambio aporta una mejora medible en test (mismo split, misma semilla)</a:t>
            </a:r>
          </a:p>
        </p:txBody>
      </p:sp>
      <p:sp>
        <p:nvSpPr>
          <p:cNvPr id="5" name="TextBox 4"/>
          <p:cNvSpPr txBox="1"/>
          <p:nvPr/>
        </p:nvSpPr>
        <p:spPr>
          <a:xfrm>
            <a:off x="457200" y="6537960"/>
            <a:ext cx="8229600" cy="274320"/>
          </a:xfrm>
          <a:prstGeom prst="rect">
            <a:avLst/>
          </a:prstGeom>
          <a:noFill/>
        </p:spPr>
        <p:txBody>
          <a:bodyPr wrap="square">
            <a:spAutoFit/>
          </a:bodyPr>
          <a:lstStyle/>
          <a:p>
            <a:pPr algn="l"/>
            <a:r>
              <a:rPr sz="800" b="0" i="0">
                <a:solidFill>
                  <a:srgbClr val="7EAA95"/>
                </a:solidFill>
                <a:latin typeface="Aptos Display"/>
              </a:rPr>
              <a:t>SelvaSonic-ML · Aprendizaje Automático · UNAL Medellín</a:t>
            </a:r>
          </a:p>
        </p:txBody>
      </p:sp>
      <p:sp>
        <p:nvSpPr>
          <p:cNvPr id="6" name="TextBox 5"/>
          <p:cNvSpPr txBox="1"/>
          <p:nvPr/>
        </p:nvSpPr>
        <p:spPr>
          <a:xfrm>
            <a:off x="11247120" y="6537960"/>
            <a:ext cx="484632" cy="274320"/>
          </a:xfrm>
          <a:prstGeom prst="rect">
            <a:avLst/>
          </a:prstGeom>
          <a:noFill/>
        </p:spPr>
        <p:txBody>
          <a:bodyPr wrap="square">
            <a:spAutoFit/>
          </a:bodyPr>
          <a:lstStyle/>
          <a:p>
            <a:pPr algn="r"/>
            <a:r>
              <a:rPr sz="800" b="0" i="0">
                <a:solidFill>
                  <a:srgbClr val="7EAA95"/>
                </a:solidFill>
                <a:latin typeface="Aptos Display"/>
              </a:rPr>
              <a:t>14</a:t>
            </a:r>
          </a:p>
        </p:txBody>
      </p:sp>
      <p:graphicFrame>
        <p:nvGraphicFramePr>
          <p:cNvPr id="7" name="Table 6"/>
          <p:cNvGraphicFramePr>
            <a:graphicFrameLocks noGrp="1"/>
          </p:cNvGraphicFramePr>
          <p:nvPr/>
        </p:nvGraphicFramePr>
        <p:xfrm>
          <a:off x="457200" y="987552"/>
          <a:ext cx="11274550" cy="4572000"/>
        </p:xfrm>
        <a:graphic>
          <a:graphicData uri="http://schemas.openxmlformats.org/drawingml/2006/table">
            <a:tbl>
              <a:tblPr firstRow="1" bandRow="1">
                <a:tableStyleId>{5C22544A-7EE6-4342-B048-85BDC9FD1C3A}</a:tableStyleId>
              </a:tblPr>
              <a:tblGrid>
                <a:gridCol w="2931383"/>
                <a:gridCol w="2480401"/>
                <a:gridCol w="2480401"/>
                <a:gridCol w="3382365"/>
              </a:tblGrid>
              <a:tr h="415636">
                <a:tc>
                  <a:txBody>
                    <a:bodyPr wrap="square"/>
                    <a:lstStyle/>
                    <a:p>
                      <a:pPr algn="ctr"/>
                      <a:r>
                        <a:rPr sz="900" b="1">
                          <a:solidFill>
                            <a:srgbClr val="21D4D4"/>
                          </a:solidFill>
                          <a:latin typeface="Aptos Display"/>
                        </a:rPr>
                        <a:t>Métrica</a:t>
                      </a:r>
                    </a:p>
                  </a:txBody>
                  <a:tcPr>
                    <a:solidFill>
                      <a:srgbClr val="082C2C"/>
                    </a:solidFill>
                  </a:tcPr>
                </a:tc>
                <a:tc>
                  <a:txBody>
                    <a:bodyPr wrap="square"/>
                    <a:lstStyle/>
                    <a:p>
                      <a:pPr algn="ctr"/>
                      <a:r>
                        <a:rPr sz="900" b="1">
                          <a:solidFill>
                            <a:srgbClr val="21D4D4"/>
                          </a:solidFill>
                          <a:latin typeface="Aptos Display"/>
                        </a:rPr>
                        <a:t>Baseline</a:t>
                      </a:r>
                    </a:p>
                  </a:txBody>
                  <a:tcPr>
                    <a:solidFill>
                      <a:srgbClr val="082C2C"/>
                    </a:solidFill>
                  </a:tcPr>
                </a:tc>
                <a:tc>
                  <a:txBody>
                    <a:bodyPr wrap="square"/>
                    <a:lstStyle/>
                    <a:p>
                      <a:pPr algn="ctr"/>
                      <a:r>
                        <a:rPr sz="900" b="1">
                          <a:solidFill>
                            <a:srgbClr val="21D4D4"/>
                          </a:solidFill>
                          <a:latin typeface="Aptos Display"/>
                        </a:rPr>
                        <a:t>Attention v1</a:t>
                      </a:r>
                    </a:p>
                  </a:txBody>
                  <a:tcPr>
                    <a:solidFill>
                      <a:srgbClr val="082C2C"/>
                    </a:solidFill>
                  </a:tcPr>
                </a:tc>
                <a:tc>
                  <a:txBody>
                    <a:bodyPr wrap="square"/>
                    <a:lstStyle/>
                    <a:p>
                      <a:pPr algn="ctr"/>
                      <a:r>
                        <a:rPr sz="900" b="1">
                          <a:solidFill>
                            <a:srgbClr val="21D4D4"/>
                          </a:solidFill>
                          <a:latin typeface="Aptos Display"/>
                        </a:rPr>
                        <a:t>Attention v2 ⭐</a:t>
                      </a:r>
                    </a:p>
                  </a:txBody>
                  <a:tcPr>
                    <a:solidFill>
                      <a:srgbClr val="082C2C"/>
                    </a:solidFill>
                  </a:tcPr>
                </a:tc>
              </a:tr>
              <a:tr h="415636">
                <a:tc>
                  <a:txBody>
                    <a:bodyPr wrap="square"/>
                    <a:lstStyle/>
                    <a:p>
                      <a:pPr algn="ctr"/>
                      <a:r>
                        <a:rPr sz="900" b="0">
                          <a:solidFill>
                            <a:srgbClr val="B5D3C3"/>
                          </a:solidFill>
                          <a:latin typeface="Aptos Display"/>
                        </a:rPr>
                        <a:t>val_acc</a:t>
                      </a:r>
                    </a:p>
                  </a:txBody>
                  <a:tcPr>
                    <a:solidFill>
                      <a:srgbClr val="0F302B"/>
                    </a:solidFill>
                  </a:tcPr>
                </a:tc>
                <a:tc>
                  <a:txBody>
                    <a:bodyPr wrap="square"/>
                    <a:lstStyle/>
                    <a:p>
                      <a:pPr algn="ctr"/>
                      <a:r>
                        <a:rPr sz="900" b="0">
                          <a:solidFill>
                            <a:srgbClr val="B5D3C3"/>
                          </a:solidFill>
                          <a:latin typeface="Aptos Display"/>
                        </a:rPr>
                        <a:t>0.7419</a:t>
                      </a:r>
                    </a:p>
                  </a:txBody>
                  <a:tcPr>
                    <a:solidFill>
                      <a:srgbClr val="0F302B"/>
                    </a:solidFill>
                  </a:tcPr>
                </a:tc>
                <a:tc>
                  <a:txBody>
                    <a:bodyPr wrap="square"/>
                    <a:lstStyle/>
                    <a:p>
                      <a:pPr algn="ctr"/>
                      <a:r>
                        <a:rPr sz="900" b="0">
                          <a:solidFill>
                            <a:srgbClr val="B5D3C3"/>
                          </a:solidFill>
                          <a:latin typeface="Aptos Display"/>
                        </a:rPr>
                        <a:t>0.7829</a:t>
                      </a:r>
                    </a:p>
                  </a:txBody>
                  <a:tcPr>
                    <a:solidFill>
                      <a:srgbClr val="0F302B"/>
                    </a:solidFill>
                  </a:tcPr>
                </a:tc>
                <a:tc>
                  <a:txBody>
                    <a:bodyPr wrap="square"/>
                    <a:lstStyle/>
                    <a:p>
                      <a:pPr algn="ctr"/>
                      <a:r>
                        <a:rPr sz="900" b="1">
                          <a:solidFill>
                            <a:srgbClr val="00100C"/>
                          </a:solidFill>
                          <a:latin typeface="Aptos Display"/>
                        </a:rPr>
                        <a:t>0.7653</a:t>
                      </a:r>
                    </a:p>
                  </a:txBody>
                  <a:tcPr>
                    <a:solidFill>
                      <a:srgbClr val="21D4D4"/>
                    </a:solidFill>
                  </a:tcPr>
                </a:tc>
              </a:tr>
              <a:tr h="415636">
                <a:tc>
                  <a:txBody>
                    <a:bodyPr wrap="square"/>
                    <a:lstStyle/>
                    <a:p>
                      <a:pPr algn="ctr"/>
                      <a:r>
                        <a:rPr sz="900" b="0">
                          <a:solidFill>
                            <a:srgbClr val="B5D3C3"/>
                          </a:solidFill>
                          <a:latin typeface="Aptos Display"/>
                        </a:rPr>
                        <a:t>test_acc</a:t>
                      </a:r>
                    </a:p>
                  </a:txBody>
                  <a:tcPr>
                    <a:solidFill>
                      <a:srgbClr val="00100C"/>
                    </a:solidFill>
                  </a:tcPr>
                </a:tc>
                <a:tc>
                  <a:txBody>
                    <a:bodyPr wrap="square"/>
                    <a:lstStyle/>
                    <a:p>
                      <a:pPr algn="ctr"/>
                      <a:r>
                        <a:rPr sz="900" b="0">
                          <a:solidFill>
                            <a:srgbClr val="B5D3C3"/>
                          </a:solidFill>
                          <a:latin typeface="Aptos Display"/>
                        </a:rPr>
                        <a:t>0.6322</a:t>
                      </a:r>
                    </a:p>
                  </a:txBody>
                  <a:tcPr>
                    <a:solidFill>
                      <a:srgbClr val="00100C"/>
                    </a:solidFill>
                  </a:tcPr>
                </a:tc>
                <a:tc>
                  <a:txBody>
                    <a:bodyPr wrap="square"/>
                    <a:lstStyle/>
                    <a:p>
                      <a:pPr algn="ctr"/>
                      <a:r>
                        <a:rPr sz="900" b="0">
                          <a:solidFill>
                            <a:srgbClr val="B5D3C3"/>
                          </a:solidFill>
                          <a:latin typeface="Aptos Display"/>
                        </a:rPr>
                        <a:t>0.6873</a:t>
                      </a:r>
                    </a:p>
                  </a:txBody>
                  <a:tcPr>
                    <a:solidFill>
                      <a:srgbClr val="00100C"/>
                    </a:solidFill>
                  </a:tcPr>
                </a:tc>
                <a:tc>
                  <a:txBody>
                    <a:bodyPr wrap="square"/>
                    <a:lstStyle/>
                    <a:p>
                      <a:pPr algn="ctr"/>
                      <a:r>
                        <a:rPr sz="900" b="1">
                          <a:solidFill>
                            <a:srgbClr val="00100C"/>
                          </a:solidFill>
                          <a:latin typeface="Aptos Display"/>
                        </a:rPr>
                        <a:t>0.7036</a:t>
                      </a:r>
                    </a:p>
                  </a:txBody>
                  <a:tcPr>
                    <a:solidFill>
                      <a:srgbClr val="21D4D4"/>
                    </a:solidFill>
                  </a:tcPr>
                </a:tc>
              </a:tr>
              <a:tr h="415636">
                <a:tc>
                  <a:txBody>
                    <a:bodyPr wrap="square"/>
                    <a:lstStyle/>
                    <a:p>
                      <a:pPr algn="ctr"/>
                      <a:r>
                        <a:rPr sz="900" b="0">
                          <a:solidFill>
                            <a:srgbClr val="B5D3C3"/>
                          </a:solidFill>
                          <a:latin typeface="Aptos Display"/>
                        </a:rPr>
                        <a:t>Macro F1</a:t>
                      </a:r>
                    </a:p>
                  </a:txBody>
                  <a:tcPr>
                    <a:solidFill>
                      <a:srgbClr val="0F302B"/>
                    </a:solidFill>
                  </a:tcPr>
                </a:tc>
                <a:tc>
                  <a:txBody>
                    <a:bodyPr wrap="square"/>
                    <a:lstStyle/>
                    <a:p>
                      <a:pPr algn="ctr"/>
                      <a:r>
                        <a:rPr sz="900" b="0">
                          <a:solidFill>
                            <a:srgbClr val="B5D3C3"/>
                          </a:solidFill>
                          <a:latin typeface="Aptos Display"/>
                        </a:rPr>
                        <a:t>0.509</a:t>
                      </a:r>
                    </a:p>
                  </a:txBody>
                  <a:tcPr>
                    <a:solidFill>
                      <a:srgbClr val="0F302B"/>
                    </a:solidFill>
                  </a:tcPr>
                </a:tc>
                <a:tc>
                  <a:txBody>
                    <a:bodyPr wrap="square"/>
                    <a:lstStyle/>
                    <a:p>
                      <a:pPr algn="ctr"/>
                      <a:r>
                        <a:rPr sz="900" b="0">
                          <a:solidFill>
                            <a:srgbClr val="B5D3C3"/>
                          </a:solidFill>
                          <a:latin typeface="Aptos Display"/>
                        </a:rPr>
                        <a:t>0.599</a:t>
                      </a:r>
                    </a:p>
                  </a:txBody>
                  <a:tcPr>
                    <a:solidFill>
                      <a:srgbClr val="0F302B"/>
                    </a:solidFill>
                  </a:tcPr>
                </a:tc>
                <a:tc>
                  <a:txBody>
                    <a:bodyPr wrap="square"/>
                    <a:lstStyle/>
                    <a:p>
                      <a:pPr algn="ctr"/>
                      <a:r>
                        <a:rPr sz="900" b="1">
                          <a:solidFill>
                            <a:srgbClr val="00100C"/>
                          </a:solidFill>
                          <a:latin typeface="Aptos Display"/>
                        </a:rPr>
                        <a:t>0.625</a:t>
                      </a:r>
                    </a:p>
                  </a:txBody>
                  <a:tcPr>
                    <a:solidFill>
                      <a:srgbClr val="21D4D4"/>
                    </a:solidFill>
                  </a:tcPr>
                </a:tc>
              </a:tr>
              <a:tr h="415636">
                <a:tc>
                  <a:txBody>
                    <a:bodyPr wrap="square"/>
                    <a:lstStyle/>
                    <a:p>
                      <a:pPr algn="ctr"/>
                      <a:r>
                        <a:rPr sz="900" b="0">
                          <a:solidFill>
                            <a:srgbClr val="B5D3C3"/>
                          </a:solidFill>
                          <a:latin typeface="Aptos Display"/>
                        </a:rPr>
                        <a:t>Macro Precision</a:t>
                      </a:r>
                    </a:p>
                  </a:txBody>
                  <a:tcPr>
                    <a:solidFill>
                      <a:srgbClr val="00100C"/>
                    </a:solidFill>
                  </a:tcPr>
                </a:tc>
                <a:tc>
                  <a:txBody>
                    <a:bodyPr wrap="square"/>
                    <a:lstStyle/>
                    <a:p>
                      <a:pPr algn="ctr"/>
                      <a:r>
                        <a:rPr sz="900" b="0">
                          <a:solidFill>
                            <a:srgbClr val="B5D3C3"/>
                          </a:solidFill>
                          <a:latin typeface="Aptos Display"/>
                        </a:rPr>
                        <a:t>0.525</a:t>
                      </a:r>
                    </a:p>
                  </a:txBody>
                  <a:tcPr>
                    <a:solidFill>
                      <a:srgbClr val="00100C"/>
                    </a:solidFill>
                  </a:tcPr>
                </a:tc>
                <a:tc>
                  <a:txBody>
                    <a:bodyPr wrap="square"/>
                    <a:lstStyle/>
                    <a:p>
                      <a:pPr algn="ctr"/>
                      <a:r>
                        <a:rPr sz="900" b="0">
                          <a:solidFill>
                            <a:srgbClr val="B5D3C3"/>
                          </a:solidFill>
                          <a:latin typeface="Aptos Display"/>
                        </a:rPr>
                        <a:t>0.606</a:t>
                      </a:r>
                    </a:p>
                  </a:txBody>
                  <a:tcPr>
                    <a:solidFill>
                      <a:srgbClr val="00100C"/>
                    </a:solidFill>
                  </a:tcPr>
                </a:tc>
                <a:tc>
                  <a:txBody>
                    <a:bodyPr wrap="square"/>
                    <a:lstStyle/>
                    <a:p>
                      <a:pPr algn="ctr"/>
                      <a:r>
                        <a:rPr sz="900" b="1">
                          <a:solidFill>
                            <a:srgbClr val="00100C"/>
                          </a:solidFill>
                          <a:latin typeface="Aptos Display"/>
                        </a:rPr>
                        <a:t>0.638</a:t>
                      </a:r>
                    </a:p>
                  </a:txBody>
                  <a:tcPr>
                    <a:solidFill>
                      <a:srgbClr val="21D4D4"/>
                    </a:solidFill>
                  </a:tcPr>
                </a:tc>
              </a:tr>
              <a:tr h="415636">
                <a:tc>
                  <a:txBody>
                    <a:bodyPr wrap="square"/>
                    <a:lstStyle/>
                    <a:p>
                      <a:pPr algn="ctr"/>
                      <a:r>
                        <a:rPr sz="900" b="0">
                          <a:solidFill>
                            <a:srgbClr val="B5D3C3"/>
                          </a:solidFill>
                          <a:latin typeface="Aptos Display"/>
                        </a:rPr>
                        <a:t>Macro Recall</a:t>
                      </a:r>
                    </a:p>
                  </a:txBody>
                  <a:tcPr>
                    <a:solidFill>
                      <a:srgbClr val="0F302B"/>
                    </a:solidFill>
                  </a:tcPr>
                </a:tc>
                <a:tc>
                  <a:txBody>
                    <a:bodyPr wrap="square"/>
                    <a:lstStyle/>
                    <a:p>
                      <a:pPr algn="ctr"/>
                      <a:r>
                        <a:rPr sz="900" b="0">
                          <a:solidFill>
                            <a:srgbClr val="B5D3C3"/>
                          </a:solidFill>
                          <a:latin typeface="Aptos Display"/>
                        </a:rPr>
                        <a:t>0.536</a:t>
                      </a:r>
                    </a:p>
                  </a:txBody>
                  <a:tcPr>
                    <a:solidFill>
                      <a:srgbClr val="0F302B"/>
                    </a:solidFill>
                  </a:tcPr>
                </a:tc>
                <a:tc>
                  <a:txBody>
                    <a:bodyPr wrap="square"/>
                    <a:lstStyle/>
                    <a:p>
                      <a:pPr algn="ctr"/>
                      <a:r>
                        <a:rPr sz="900" b="0">
                          <a:solidFill>
                            <a:srgbClr val="B5D3C3"/>
                          </a:solidFill>
                          <a:latin typeface="Aptos Display"/>
                        </a:rPr>
                        <a:t>0.618</a:t>
                      </a:r>
                    </a:p>
                  </a:txBody>
                  <a:tcPr>
                    <a:solidFill>
                      <a:srgbClr val="0F302B"/>
                    </a:solidFill>
                  </a:tcPr>
                </a:tc>
                <a:tc>
                  <a:txBody>
                    <a:bodyPr wrap="square"/>
                    <a:lstStyle/>
                    <a:p>
                      <a:pPr algn="ctr"/>
                      <a:r>
                        <a:rPr sz="900" b="1">
                          <a:solidFill>
                            <a:srgbClr val="00100C"/>
                          </a:solidFill>
                          <a:latin typeface="Aptos Display"/>
                        </a:rPr>
                        <a:t>0.662</a:t>
                      </a:r>
                    </a:p>
                  </a:txBody>
                  <a:tcPr>
                    <a:solidFill>
                      <a:srgbClr val="21D4D4"/>
                    </a:solidFill>
                  </a:tcPr>
                </a:tc>
              </a:tr>
              <a:tr h="415636">
                <a:tc>
                  <a:txBody>
                    <a:bodyPr wrap="square"/>
                    <a:lstStyle/>
                    <a:p>
                      <a:pPr algn="ctr"/>
                      <a:r>
                        <a:rPr sz="900" b="0">
                          <a:solidFill>
                            <a:srgbClr val="B5D3C3"/>
                          </a:solidFill>
                          <a:latin typeface="Aptos Display"/>
                        </a:rPr>
                        <a:t>AP medio cl. raras</a:t>
                      </a:r>
                    </a:p>
                  </a:txBody>
                  <a:tcPr>
                    <a:solidFill>
                      <a:srgbClr val="00100C"/>
                    </a:solidFill>
                  </a:tcPr>
                </a:tc>
                <a:tc>
                  <a:txBody>
                    <a:bodyPr wrap="square"/>
                    <a:lstStyle/>
                    <a:p>
                      <a:pPr algn="ctr"/>
                      <a:r>
                        <a:rPr sz="900" b="0">
                          <a:solidFill>
                            <a:srgbClr val="B5D3C3"/>
                          </a:solidFill>
                          <a:latin typeface="Aptos Display"/>
                        </a:rPr>
                        <a:t>0.456</a:t>
                      </a:r>
                    </a:p>
                  </a:txBody>
                  <a:tcPr>
                    <a:solidFill>
                      <a:srgbClr val="00100C"/>
                    </a:solidFill>
                  </a:tcPr>
                </a:tc>
                <a:tc>
                  <a:txBody>
                    <a:bodyPr wrap="square"/>
                    <a:lstStyle/>
                    <a:p>
                      <a:pPr algn="ctr"/>
                      <a:r>
                        <a:rPr sz="900" b="0">
                          <a:solidFill>
                            <a:srgbClr val="B5D3C3"/>
                          </a:solidFill>
                          <a:latin typeface="Aptos Display"/>
                        </a:rPr>
                        <a:t>0.573</a:t>
                      </a:r>
                    </a:p>
                  </a:txBody>
                  <a:tcPr>
                    <a:solidFill>
                      <a:srgbClr val="00100C"/>
                    </a:solidFill>
                  </a:tcPr>
                </a:tc>
                <a:tc>
                  <a:txBody>
                    <a:bodyPr wrap="square"/>
                    <a:lstStyle/>
                    <a:p>
                      <a:pPr algn="ctr"/>
                      <a:r>
                        <a:rPr sz="900" b="1">
                          <a:solidFill>
                            <a:srgbClr val="00100C"/>
                          </a:solidFill>
                          <a:latin typeface="Aptos Display"/>
                        </a:rPr>
                        <a:t>0.664</a:t>
                      </a:r>
                    </a:p>
                  </a:txBody>
                  <a:tcPr>
                    <a:solidFill>
                      <a:srgbClr val="21D4D4"/>
                    </a:solidFill>
                  </a:tcPr>
                </a:tc>
              </a:tr>
              <a:tr h="415636">
                <a:tc>
                  <a:txBody>
                    <a:bodyPr wrap="square"/>
                    <a:lstStyle/>
                    <a:p>
                      <a:pPr algn="ctr"/>
                      <a:r>
                        <a:rPr sz="900" b="0">
                          <a:solidFill>
                            <a:srgbClr val="B5D3C3"/>
                          </a:solidFill>
                          <a:latin typeface="Aptos Display"/>
                        </a:rPr>
                        <a:t>Gap val-test</a:t>
                      </a:r>
                    </a:p>
                  </a:txBody>
                  <a:tcPr>
                    <a:solidFill>
                      <a:srgbClr val="0F302B"/>
                    </a:solidFill>
                  </a:tcPr>
                </a:tc>
                <a:tc>
                  <a:txBody>
                    <a:bodyPr wrap="square"/>
                    <a:lstStyle/>
                    <a:p>
                      <a:pPr algn="ctr"/>
                      <a:r>
                        <a:rPr sz="900" b="0">
                          <a:solidFill>
                            <a:srgbClr val="B5D3C3"/>
                          </a:solidFill>
                          <a:latin typeface="Aptos Display"/>
                        </a:rPr>
                        <a:t>0.1097</a:t>
                      </a:r>
                    </a:p>
                  </a:txBody>
                  <a:tcPr>
                    <a:solidFill>
                      <a:srgbClr val="0F302B"/>
                    </a:solidFill>
                  </a:tcPr>
                </a:tc>
                <a:tc>
                  <a:txBody>
                    <a:bodyPr wrap="square"/>
                    <a:lstStyle/>
                    <a:p>
                      <a:pPr algn="ctr"/>
                      <a:r>
                        <a:rPr sz="900" b="0">
                          <a:solidFill>
                            <a:srgbClr val="B5D3C3"/>
                          </a:solidFill>
                          <a:latin typeface="Aptos Display"/>
                        </a:rPr>
                        <a:t>0.0956</a:t>
                      </a:r>
                    </a:p>
                  </a:txBody>
                  <a:tcPr>
                    <a:solidFill>
                      <a:srgbClr val="0F302B"/>
                    </a:solidFill>
                  </a:tcPr>
                </a:tc>
                <a:tc>
                  <a:txBody>
                    <a:bodyPr wrap="square"/>
                    <a:lstStyle/>
                    <a:p>
                      <a:pPr algn="ctr"/>
                      <a:r>
                        <a:rPr sz="900" b="1">
                          <a:solidFill>
                            <a:srgbClr val="00100C"/>
                          </a:solidFill>
                          <a:latin typeface="Aptos Display"/>
                        </a:rPr>
                        <a:t>0.0617</a:t>
                      </a:r>
                    </a:p>
                  </a:txBody>
                  <a:tcPr>
                    <a:solidFill>
                      <a:srgbClr val="21D4D4"/>
                    </a:solidFill>
                  </a:tcPr>
                </a:tc>
              </a:tr>
              <a:tr h="415636">
                <a:tc>
                  <a:txBody>
                    <a:bodyPr wrap="square"/>
                    <a:lstStyle/>
                    <a:p>
                      <a:pPr algn="ctr"/>
                      <a:r>
                        <a:rPr sz="900" b="0">
                          <a:solidFill>
                            <a:srgbClr val="B5D3C3"/>
                          </a:solidFill>
                          <a:latin typeface="Aptos Display"/>
                        </a:rPr>
                        <a:t>ECE (calibración)</a:t>
                      </a:r>
                    </a:p>
                  </a:txBody>
                  <a:tcPr>
                    <a:solidFill>
                      <a:srgbClr val="00100C"/>
                    </a:solidFill>
                  </a:tcPr>
                </a:tc>
                <a:tc>
                  <a:txBody>
                    <a:bodyPr wrap="square"/>
                    <a:lstStyle/>
                    <a:p>
                      <a:pPr algn="ctr"/>
                      <a:r>
                        <a:rPr sz="900" b="0">
                          <a:solidFill>
                            <a:srgbClr val="B5D3C3"/>
                          </a:solidFill>
                          <a:latin typeface="Aptos Display"/>
                        </a:rPr>
                        <a:t>0.050</a:t>
                      </a:r>
                    </a:p>
                  </a:txBody>
                  <a:tcPr>
                    <a:solidFill>
                      <a:srgbClr val="00100C"/>
                    </a:solidFill>
                  </a:tcPr>
                </a:tc>
                <a:tc>
                  <a:txBody>
                    <a:bodyPr wrap="square"/>
                    <a:lstStyle/>
                    <a:p>
                      <a:pPr algn="ctr"/>
                      <a:r>
                        <a:rPr sz="900" b="0">
                          <a:solidFill>
                            <a:srgbClr val="B5D3C3"/>
                          </a:solidFill>
                          <a:latin typeface="Aptos Display"/>
                        </a:rPr>
                        <a:t>0.039</a:t>
                      </a:r>
                    </a:p>
                  </a:txBody>
                  <a:tcPr>
                    <a:solidFill>
                      <a:srgbClr val="00100C"/>
                    </a:solidFill>
                  </a:tcPr>
                </a:tc>
                <a:tc>
                  <a:txBody>
                    <a:bodyPr wrap="square"/>
                    <a:lstStyle/>
                    <a:p>
                      <a:pPr algn="ctr"/>
                      <a:r>
                        <a:rPr sz="900" b="1">
                          <a:solidFill>
                            <a:srgbClr val="00100C"/>
                          </a:solidFill>
                          <a:latin typeface="Aptos Display"/>
                        </a:rPr>
                        <a:t>0.145 ⚠</a:t>
                      </a:r>
                    </a:p>
                  </a:txBody>
                  <a:tcPr>
                    <a:solidFill>
                      <a:srgbClr val="21D4D4"/>
                    </a:solidFill>
                  </a:tcPr>
                </a:tc>
              </a:tr>
              <a:tr h="415636">
                <a:tc>
                  <a:txBody>
                    <a:bodyPr wrap="square"/>
                    <a:lstStyle/>
                    <a:p>
                      <a:pPr algn="ctr"/>
                      <a:r>
                        <a:rPr sz="900" b="0">
                          <a:solidFill>
                            <a:srgbClr val="B5D3C3"/>
                          </a:solidFill>
                          <a:latin typeface="Aptos Display"/>
                        </a:rPr>
                        <a:t>Parámetros</a:t>
                      </a:r>
                    </a:p>
                  </a:txBody>
                  <a:tcPr>
                    <a:solidFill>
                      <a:srgbClr val="0F302B"/>
                    </a:solidFill>
                  </a:tcPr>
                </a:tc>
                <a:tc>
                  <a:txBody>
                    <a:bodyPr wrap="square"/>
                    <a:lstStyle/>
                    <a:p>
                      <a:pPr algn="ctr"/>
                      <a:r>
                        <a:rPr sz="900" b="0">
                          <a:solidFill>
                            <a:srgbClr val="B5D3C3"/>
                          </a:solidFill>
                          <a:latin typeface="Aptos Display"/>
                        </a:rPr>
                        <a:t>422,635</a:t>
                      </a:r>
                    </a:p>
                  </a:txBody>
                  <a:tcPr>
                    <a:solidFill>
                      <a:srgbClr val="0F302B"/>
                    </a:solidFill>
                  </a:tcPr>
                </a:tc>
                <a:tc>
                  <a:txBody>
                    <a:bodyPr wrap="square"/>
                    <a:lstStyle/>
                    <a:p>
                      <a:pPr algn="ctr"/>
                      <a:r>
                        <a:rPr sz="900" b="0">
                          <a:solidFill>
                            <a:srgbClr val="B5D3C3"/>
                          </a:solidFill>
                          <a:latin typeface="Aptos Display"/>
                        </a:rPr>
                        <a:t>714,987</a:t>
                      </a:r>
                    </a:p>
                  </a:txBody>
                  <a:tcPr>
                    <a:solidFill>
                      <a:srgbClr val="0F302B"/>
                    </a:solidFill>
                  </a:tcPr>
                </a:tc>
                <a:tc>
                  <a:txBody>
                    <a:bodyPr wrap="square"/>
                    <a:lstStyle/>
                    <a:p>
                      <a:pPr algn="ctr"/>
                      <a:r>
                        <a:rPr sz="900" b="1">
                          <a:solidFill>
                            <a:srgbClr val="00100C"/>
                          </a:solidFill>
                          <a:latin typeface="Aptos Display"/>
                        </a:rPr>
                        <a:t>714,987</a:t>
                      </a:r>
                    </a:p>
                  </a:txBody>
                  <a:tcPr>
                    <a:solidFill>
                      <a:srgbClr val="21D4D4"/>
                    </a:solidFill>
                  </a:tcPr>
                </a:tc>
              </a:tr>
              <a:tr h="415640">
                <a:tc>
                  <a:txBody>
                    <a:bodyPr wrap="square"/>
                    <a:lstStyle/>
                    <a:p>
                      <a:pPr algn="ctr"/>
                      <a:r>
                        <a:rPr sz="900" b="0">
                          <a:solidFill>
                            <a:srgbClr val="B5D3C3"/>
                          </a:solidFill>
                          <a:latin typeface="Aptos Display"/>
                        </a:rPr>
                        <a:t>Epochs (/ 30)</a:t>
                      </a:r>
                    </a:p>
                  </a:txBody>
                  <a:tcPr>
                    <a:solidFill>
                      <a:srgbClr val="00100C"/>
                    </a:solidFill>
                  </a:tcPr>
                </a:tc>
                <a:tc>
                  <a:txBody>
                    <a:bodyPr wrap="square"/>
                    <a:lstStyle/>
                    <a:p>
                      <a:pPr algn="ctr"/>
                      <a:r>
                        <a:rPr sz="900" b="0">
                          <a:solidFill>
                            <a:srgbClr val="B5D3C3"/>
                          </a:solidFill>
                          <a:latin typeface="Aptos Display"/>
                        </a:rPr>
                        <a:t>27</a:t>
                      </a:r>
                    </a:p>
                  </a:txBody>
                  <a:tcPr>
                    <a:solidFill>
                      <a:srgbClr val="00100C"/>
                    </a:solidFill>
                  </a:tcPr>
                </a:tc>
                <a:tc>
                  <a:txBody>
                    <a:bodyPr wrap="square"/>
                    <a:lstStyle/>
                    <a:p>
                      <a:pPr algn="ctr"/>
                      <a:r>
                        <a:rPr sz="900" b="0">
                          <a:solidFill>
                            <a:srgbClr val="B5D3C3"/>
                          </a:solidFill>
                          <a:latin typeface="Aptos Display"/>
                        </a:rPr>
                        <a:t>17</a:t>
                      </a:r>
                    </a:p>
                  </a:txBody>
                  <a:tcPr>
                    <a:solidFill>
                      <a:srgbClr val="00100C"/>
                    </a:solidFill>
                  </a:tcPr>
                </a:tc>
                <a:tc>
                  <a:txBody>
                    <a:bodyPr wrap="square"/>
                    <a:lstStyle/>
                    <a:p>
                      <a:pPr algn="ctr"/>
                      <a:r>
                        <a:rPr sz="900" b="1">
                          <a:solidFill>
                            <a:srgbClr val="00100C"/>
                          </a:solidFill>
                          <a:latin typeface="Aptos Display"/>
                        </a:rPr>
                        <a:t>25</a:t>
                      </a:r>
                    </a:p>
                  </a:txBody>
                  <a:tcPr>
                    <a:solidFill>
                      <a:srgbClr val="21D4D4"/>
                    </a:solidFill>
                  </a:tcPr>
                </a:tc>
              </a:tr>
            </a:tbl>
          </a:graphicData>
        </a:graphic>
      </p:graphicFrame>
      <p:sp>
        <p:nvSpPr>
          <p:cNvPr id="8" name="Rectangle 7"/>
          <p:cNvSpPr/>
          <p:nvPr/>
        </p:nvSpPr>
        <p:spPr>
          <a:xfrm>
            <a:off x="457200" y="5715000"/>
            <a:ext cx="11274552" cy="777240"/>
          </a:xfrm>
          <a:prstGeom prst="rect">
            <a:avLst/>
          </a:prstGeom>
          <a:solidFill>
            <a:srgbClr val="0B2B27"/>
          </a:solidFill>
          <a:ln w="6350">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5779008"/>
            <a:ext cx="10972800" cy="658368"/>
          </a:xfrm>
          <a:prstGeom prst="rect">
            <a:avLst/>
          </a:prstGeom>
          <a:noFill/>
        </p:spPr>
        <p:txBody>
          <a:bodyPr wrap="square">
            <a:spAutoFit/>
          </a:bodyPr>
          <a:lstStyle/>
          <a:p>
            <a:pPr algn="l"/>
            <a:r>
              <a:rPr sz="900" b="0" i="0">
                <a:solidFill>
                  <a:srgbClr val="B5D3C3"/>
                </a:solidFill>
                <a:latin typeface="Aptos Display"/>
              </a:rPr>
              <a:t>Lectura clave: v2 no solo mejora test_acc (+7.1 pp vs baseline). El gap val-test bajó de 0.110 → 0.062 (−44 %, mejor generalización). AP en clases raras mejoró +21 pp. ECE sube en v2 (trade-off conocido con class weights — ver slide 17). AP medio clases raras = AP de Frederickena, Rupornis, Chordeiles, Glaucidium, Celeus.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jungle_bg.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64592"/>
            <a:ext cx="11274552" cy="475488"/>
          </a:xfrm>
          <a:prstGeom prst="rect">
            <a:avLst/>
          </a:prstGeom>
          <a:noFill/>
        </p:spPr>
        <p:txBody>
          <a:bodyPr wrap="square">
            <a:spAutoFit/>
          </a:bodyPr>
          <a:lstStyle/>
          <a:p>
            <a:pPr algn="l"/>
            <a:r>
              <a:rPr sz="2100" b="1" i="0">
                <a:solidFill>
                  <a:srgbClr val="EFFCF5"/>
                </a:solidFill>
                <a:latin typeface="Aptos Display"/>
              </a:rPr>
              <a:t>11b. Curvas de entrenamiento — Attention v2</a:t>
            </a:r>
          </a:p>
        </p:txBody>
      </p:sp>
      <p:sp>
        <p:nvSpPr>
          <p:cNvPr id="4" name="TextBox 3"/>
          <p:cNvSpPr txBox="1"/>
          <p:nvPr/>
        </p:nvSpPr>
        <p:spPr>
          <a:xfrm>
            <a:off x="457200" y="621792"/>
            <a:ext cx="11274552" cy="292608"/>
          </a:xfrm>
          <a:prstGeom prst="rect">
            <a:avLst/>
          </a:prstGeom>
          <a:noFill/>
        </p:spPr>
        <p:txBody>
          <a:bodyPr wrap="square">
            <a:spAutoFit/>
          </a:bodyPr>
          <a:lstStyle/>
          <a:p>
            <a:pPr algn="l"/>
            <a:r>
              <a:rPr sz="1000" b="0" i="0">
                <a:solidFill>
                  <a:srgbClr val="7EAA95"/>
                </a:solidFill>
                <a:latin typeface="Aptos Display"/>
              </a:rPr>
              <a:t>Convergencia progresiva · early stopping en epoch 25 de 30</a:t>
            </a:r>
          </a:p>
        </p:txBody>
      </p:sp>
      <p:sp>
        <p:nvSpPr>
          <p:cNvPr id="5" name="TextBox 4"/>
          <p:cNvSpPr txBox="1"/>
          <p:nvPr/>
        </p:nvSpPr>
        <p:spPr>
          <a:xfrm>
            <a:off x="457200" y="6537960"/>
            <a:ext cx="8229600" cy="274320"/>
          </a:xfrm>
          <a:prstGeom prst="rect">
            <a:avLst/>
          </a:prstGeom>
          <a:noFill/>
        </p:spPr>
        <p:txBody>
          <a:bodyPr wrap="square">
            <a:spAutoFit/>
          </a:bodyPr>
          <a:lstStyle/>
          <a:p>
            <a:pPr algn="l"/>
            <a:r>
              <a:rPr sz="800" b="0" i="0">
                <a:solidFill>
                  <a:srgbClr val="7EAA95"/>
                </a:solidFill>
                <a:latin typeface="Aptos Display"/>
              </a:rPr>
              <a:t>SelvaSonic-ML · Aprendizaje Automático · UNAL Medellín</a:t>
            </a:r>
          </a:p>
        </p:txBody>
      </p:sp>
      <p:sp>
        <p:nvSpPr>
          <p:cNvPr id="6" name="TextBox 5"/>
          <p:cNvSpPr txBox="1"/>
          <p:nvPr/>
        </p:nvSpPr>
        <p:spPr>
          <a:xfrm>
            <a:off x="11247120" y="6537960"/>
            <a:ext cx="484632" cy="274320"/>
          </a:xfrm>
          <a:prstGeom prst="rect">
            <a:avLst/>
          </a:prstGeom>
          <a:noFill/>
        </p:spPr>
        <p:txBody>
          <a:bodyPr wrap="square">
            <a:spAutoFit/>
          </a:bodyPr>
          <a:lstStyle/>
          <a:p>
            <a:pPr algn="r"/>
            <a:r>
              <a:rPr sz="800" b="0" i="0">
                <a:solidFill>
                  <a:srgbClr val="7EAA95"/>
                </a:solidFill>
                <a:latin typeface="Aptos Display"/>
              </a:rPr>
              <a:t>15</a:t>
            </a:r>
          </a:p>
        </p:txBody>
      </p:sp>
      <p:sp>
        <p:nvSpPr>
          <p:cNvPr id="7" name="Rounded Rectangle 6"/>
          <p:cNvSpPr/>
          <p:nvPr/>
        </p:nvSpPr>
        <p:spPr>
          <a:xfrm>
            <a:off x="457200" y="987552"/>
            <a:ext cx="7955279" cy="2377440"/>
          </a:xfrm>
          <a:prstGeom prst="roundRect">
            <a:avLst>
              <a:gd name="adj" fmla="val 1923"/>
            </a:avLst>
          </a:prstGeom>
          <a:solidFill>
            <a:srgbClr val="FAFAFA"/>
          </a:solidFill>
          <a:ln w="25400">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urvas_entrenamiento.png"/>
          <p:cNvPicPr>
            <a:picLocks noChangeAspect="1"/>
          </p:cNvPicPr>
          <p:nvPr/>
        </p:nvPicPr>
        <p:blipFill>
          <a:blip r:embed="rId3"/>
          <a:stretch>
            <a:fillRect/>
          </a:stretch>
        </p:blipFill>
        <p:spPr>
          <a:xfrm>
            <a:off x="512064" y="1107885"/>
            <a:ext cx="7845552" cy="2136772"/>
          </a:xfrm>
          <a:prstGeom prst="rect">
            <a:avLst/>
          </a:prstGeom>
        </p:spPr>
      </p:pic>
      <p:sp>
        <p:nvSpPr>
          <p:cNvPr id="9" name="Rectangle 8"/>
          <p:cNvSpPr/>
          <p:nvPr/>
        </p:nvSpPr>
        <p:spPr>
          <a:xfrm>
            <a:off x="8549640" y="987552"/>
            <a:ext cx="3182112" cy="5120640"/>
          </a:xfrm>
          <a:prstGeom prst="rect">
            <a:avLst/>
          </a:prstGeom>
          <a:solidFill>
            <a:srgbClr val="0B2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0" y="1097280"/>
            <a:ext cx="2926080" cy="4937760"/>
          </a:xfrm>
          <a:prstGeom prst="rect">
            <a:avLst/>
          </a:prstGeom>
          <a:noFill/>
        </p:spPr>
        <p:txBody>
          <a:bodyPr wrap="square">
            <a:spAutoFit/>
          </a:bodyPr>
          <a:lstStyle/>
          <a:p>
            <a:pPr algn="l"/>
            <a:r>
              <a:rPr sz="1000" b="1">
                <a:solidFill>
                  <a:srgbClr val="21D4D4"/>
                </a:solidFill>
                <a:latin typeface="Aptos Display"/>
              </a:rPr>
              <a:t>Lecturas clave</a:t>
            </a:r>
          </a:p>
          <a:p>
            <a:pPr algn="l"/>
            <a:r>
              <a:rPr sz="400" b="0">
                <a:solidFill>
                  <a:srgbClr val="B5D3C3"/>
                </a:solidFill>
                <a:latin typeface="Aptos Display"/>
              </a:rPr>
              <a:t> </a:t>
            </a:r>
          </a:p>
          <a:p>
            <a:pPr algn="l"/>
            <a:r>
              <a:rPr sz="950" b="0">
                <a:solidFill>
                  <a:srgbClr val="B5D3C3"/>
                </a:solidFill>
                <a:latin typeface="Aptos Display"/>
              </a:rPr>
              <a:t>1.  Loss train/val descienden en paralelo → no overfitting severo.</a:t>
            </a:r>
          </a:p>
          <a:p>
            <a:pPr algn="l"/>
            <a:r>
              <a:rPr sz="300" b="0">
                <a:solidFill>
                  <a:srgbClr val="B5D3C3"/>
                </a:solidFill>
                <a:latin typeface="Aptos Display"/>
              </a:rPr>
              <a:t> </a:t>
            </a:r>
          </a:p>
          <a:p>
            <a:pPr algn="l"/>
            <a:r>
              <a:rPr sz="950" b="0">
                <a:solidFill>
                  <a:srgbClr val="B5D3C3"/>
                </a:solidFill>
                <a:latin typeface="Aptos Display"/>
              </a:rPr>
              <a:t>2.  val_acc mejor en epoch 15 → early stopping se activa en ep. 25 (patience=5, no mejoró 0.001).</a:t>
            </a:r>
          </a:p>
          <a:p>
            <a:pPr algn="l"/>
            <a:r>
              <a:rPr sz="300" b="0">
                <a:solidFill>
                  <a:srgbClr val="B5D3C3"/>
                </a:solidFill>
                <a:latin typeface="Aptos Display"/>
              </a:rPr>
              <a:t> </a:t>
            </a:r>
          </a:p>
          <a:p>
            <a:pPr algn="l"/>
            <a:r>
              <a:rPr sz="950" b="0">
                <a:solidFill>
                  <a:srgbClr val="B5D3C3"/>
                </a:solidFill>
                <a:latin typeface="Aptos Display"/>
              </a:rPr>
              <a:t>3.  La curva de pérdida es más ruidosa que v1: class weights amplifican el gradiente de clases raras → más varianza por batch.</a:t>
            </a:r>
          </a:p>
          <a:p>
            <a:pPr algn="l"/>
            <a:r>
              <a:rPr sz="300" b="0">
                <a:solidFill>
                  <a:srgbClr val="B5D3C3"/>
                </a:solidFill>
                <a:latin typeface="Aptos Display"/>
              </a:rPr>
              <a:t> </a:t>
            </a:r>
          </a:p>
          <a:p>
            <a:pPr algn="l"/>
            <a:r>
              <a:rPr sz="950" b="0">
                <a:solidFill>
                  <a:srgbClr val="F4D35E"/>
                </a:solidFill>
                <a:latin typeface="Aptos Display"/>
              </a:rPr>
              <a:t>4.  Gap train/val en loss (v2 usa class weights en train pero no en val) → val_loss parece mayor, pero test_acc es el más alto.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jungle_bg.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64592"/>
            <a:ext cx="11274552" cy="475488"/>
          </a:xfrm>
          <a:prstGeom prst="rect">
            <a:avLst/>
          </a:prstGeom>
          <a:noFill/>
        </p:spPr>
        <p:txBody>
          <a:bodyPr wrap="square">
            <a:spAutoFit/>
          </a:bodyPr>
          <a:lstStyle/>
          <a:p>
            <a:pPr algn="l"/>
            <a:r>
              <a:rPr sz="2100" b="1" i="0">
                <a:solidFill>
                  <a:srgbClr val="EFFCF5"/>
                </a:solidFill>
                <a:latin typeface="Aptos Display"/>
              </a:rPr>
              <a:t>12. Análisis de errores: matrices de confusión</a:t>
            </a:r>
          </a:p>
        </p:txBody>
      </p:sp>
      <p:sp>
        <p:nvSpPr>
          <p:cNvPr id="4" name="TextBox 3"/>
          <p:cNvSpPr txBox="1"/>
          <p:nvPr/>
        </p:nvSpPr>
        <p:spPr>
          <a:xfrm>
            <a:off x="457200" y="621792"/>
            <a:ext cx="11274552" cy="292608"/>
          </a:xfrm>
          <a:prstGeom prst="rect">
            <a:avLst/>
          </a:prstGeom>
          <a:noFill/>
        </p:spPr>
        <p:txBody>
          <a:bodyPr wrap="square">
            <a:spAutoFit/>
          </a:bodyPr>
          <a:lstStyle/>
          <a:p>
            <a:pPr algn="l"/>
            <a:r>
              <a:rPr sz="1000" b="0" i="0">
                <a:solidFill>
                  <a:srgbClr val="7EAA95"/>
                </a:solidFill>
                <a:latin typeface="Aptos Display"/>
              </a:rPr>
              <a:t>v2 fortalece la diagonal · especialmente en clases raras</a:t>
            </a:r>
          </a:p>
        </p:txBody>
      </p:sp>
      <p:sp>
        <p:nvSpPr>
          <p:cNvPr id="5" name="TextBox 4"/>
          <p:cNvSpPr txBox="1"/>
          <p:nvPr/>
        </p:nvSpPr>
        <p:spPr>
          <a:xfrm>
            <a:off x="457200" y="6537960"/>
            <a:ext cx="8229600" cy="274320"/>
          </a:xfrm>
          <a:prstGeom prst="rect">
            <a:avLst/>
          </a:prstGeom>
          <a:noFill/>
        </p:spPr>
        <p:txBody>
          <a:bodyPr wrap="square">
            <a:spAutoFit/>
          </a:bodyPr>
          <a:lstStyle/>
          <a:p>
            <a:pPr algn="l"/>
            <a:r>
              <a:rPr sz="800" b="0" i="0">
                <a:solidFill>
                  <a:srgbClr val="7EAA95"/>
                </a:solidFill>
                <a:latin typeface="Aptos Display"/>
              </a:rPr>
              <a:t>SelvaSonic-ML · Aprendizaje Automático · UNAL Medellín</a:t>
            </a:r>
          </a:p>
        </p:txBody>
      </p:sp>
      <p:sp>
        <p:nvSpPr>
          <p:cNvPr id="6" name="TextBox 5"/>
          <p:cNvSpPr txBox="1"/>
          <p:nvPr/>
        </p:nvSpPr>
        <p:spPr>
          <a:xfrm>
            <a:off x="11247120" y="6537960"/>
            <a:ext cx="484632" cy="274320"/>
          </a:xfrm>
          <a:prstGeom prst="rect">
            <a:avLst/>
          </a:prstGeom>
          <a:noFill/>
        </p:spPr>
        <p:txBody>
          <a:bodyPr wrap="square">
            <a:spAutoFit/>
          </a:bodyPr>
          <a:lstStyle/>
          <a:p>
            <a:pPr algn="r"/>
            <a:r>
              <a:rPr sz="800" b="0" i="0">
                <a:solidFill>
                  <a:srgbClr val="7EAA95"/>
                </a:solidFill>
                <a:latin typeface="Aptos Display"/>
              </a:rPr>
              <a:t>16</a:t>
            </a:r>
          </a:p>
        </p:txBody>
      </p:sp>
      <p:sp>
        <p:nvSpPr>
          <p:cNvPr id="7" name="Rounded Rectangle 6"/>
          <p:cNvSpPr/>
          <p:nvPr/>
        </p:nvSpPr>
        <p:spPr>
          <a:xfrm>
            <a:off x="457200" y="987552"/>
            <a:ext cx="11274552" cy="3657600"/>
          </a:xfrm>
          <a:prstGeom prst="roundRect">
            <a:avLst>
              <a:gd name="adj" fmla="val 1250"/>
            </a:avLst>
          </a:prstGeom>
          <a:solidFill>
            <a:srgbClr val="FAFAFA"/>
          </a:solidFill>
          <a:ln w="25400">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nfusion_matrices.png"/>
          <p:cNvPicPr>
            <a:picLocks noChangeAspect="1"/>
          </p:cNvPicPr>
          <p:nvPr/>
        </p:nvPicPr>
        <p:blipFill>
          <a:blip r:embed="rId3"/>
          <a:stretch>
            <a:fillRect/>
          </a:stretch>
        </p:blipFill>
        <p:spPr>
          <a:xfrm>
            <a:off x="512064" y="1082377"/>
            <a:ext cx="11164824" cy="3467948"/>
          </a:xfrm>
          <a:prstGeom prst="rect">
            <a:avLst/>
          </a:prstGeom>
        </p:spPr>
      </p:pic>
      <p:sp>
        <p:nvSpPr>
          <p:cNvPr id="9" name="Rectangle 8"/>
          <p:cNvSpPr/>
          <p:nvPr/>
        </p:nvSpPr>
        <p:spPr>
          <a:xfrm>
            <a:off x="457200" y="4773168"/>
            <a:ext cx="11274552" cy="822960"/>
          </a:xfrm>
          <a:prstGeom prst="rect">
            <a:avLst/>
          </a:prstGeom>
          <a:solidFill>
            <a:srgbClr val="0F3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4828032"/>
            <a:ext cx="10972800" cy="713232"/>
          </a:xfrm>
          <a:prstGeom prst="rect">
            <a:avLst/>
          </a:prstGeom>
          <a:noFill/>
        </p:spPr>
        <p:txBody>
          <a:bodyPr wrap="square">
            <a:spAutoFit/>
          </a:bodyPr>
          <a:lstStyle/>
          <a:p>
            <a:pPr algn="l"/>
            <a:r>
              <a:rPr sz="950" b="0">
                <a:solidFill>
                  <a:srgbClr val="B5D3C3"/>
                </a:solidFill>
                <a:latin typeface="Aptos Display"/>
              </a:rPr>
              <a:t>·  Diagonal más fuerte en v2 — especialmente Crypturellus undulatus (F1: 0.264 → 0.526) y Rupornis magnirostris (F1: 0.053 → 0.250).</a:t>
            </a:r>
          </a:p>
          <a:p>
            <a:pPr algn="l"/>
            <a:r>
              <a:rPr sz="950" b="0">
                <a:solidFill>
                  <a:srgbClr val="B5D3C3"/>
                </a:solidFill>
                <a:latin typeface="Aptos Display"/>
              </a:rPr>
              <a:t>·  Confusiones residuales son taxonómicamente razonables: Crypturellus cinereus ↔ C. undulatus (mismo género, canto similar).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jungle_bg.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64592"/>
            <a:ext cx="11274552" cy="475488"/>
          </a:xfrm>
          <a:prstGeom prst="rect">
            <a:avLst/>
          </a:prstGeom>
          <a:noFill/>
        </p:spPr>
        <p:txBody>
          <a:bodyPr wrap="square">
            <a:spAutoFit/>
          </a:bodyPr>
          <a:lstStyle/>
          <a:p>
            <a:pPr algn="l"/>
            <a:r>
              <a:rPr sz="2100" b="1" i="0">
                <a:solidFill>
                  <a:srgbClr val="EFFCF5"/>
                </a:solidFill>
                <a:latin typeface="Aptos Display"/>
              </a:rPr>
              <a:t>13. Trade-off honesto: class weights mejoran F1, cuestan ECE</a:t>
            </a:r>
          </a:p>
        </p:txBody>
      </p:sp>
      <p:sp>
        <p:nvSpPr>
          <p:cNvPr id="4" name="TextBox 3"/>
          <p:cNvSpPr txBox="1"/>
          <p:nvPr/>
        </p:nvSpPr>
        <p:spPr>
          <a:xfrm>
            <a:off x="457200" y="621792"/>
            <a:ext cx="11274552" cy="292608"/>
          </a:xfrm>
          <a:prstGeom prst="rect">
            <a:avLst/>
          </a:prstGeom>
          <a:noFill/>
        </p:spPr>
        <p:txBody>
          <a:bodyPr wrap="square">
            <a:spAutoFit/>
          </a:bodyPr>
          <a:lstStyle/>
          <a:p>
            <a:pPr algn="l"/>
            <a:r>
              <a:rPr sz="1000" b="0" i="0">
                <a:solidFill>
                  <a:srgbClr val="7EAA95"/>
                </a:solidFill>
                <a:latin typeface="Aptos Display"/>
              </a:rPr>
              <a:t>Los rebalanceos de clase tienen un costo conocido en calibración (Cao et al. 2019)</a:t>
            </a:r>
          </a:p>
        </p:txBody>
      </p:sp>
      <p:sp>
        <p:nvSpPr>
          <p:cNvPr id="5" name="TextBox 4"/>
          <p:cNvSpPr txBox="1"/>
          <p:nvPr/>
        </p:nvSpPr>
        <p:spPr>
          <a:xfrm>
            <a:off x="457200" y="6537960"/>
            <a:ext cx="8229600" cy="274320"/>
          </a:xfrm>
          <a:prstGeom prst="rect">
            <a:avLst/>
          </a:prstGeom>
          <a:noFill/>
        </p:spPr>
        <p:txBody>
          <a:bodyPr wrap="square">
            <a:spAutoFit/>
          </a:bodyPr>
          <a:lstStyle/>
          <a:p>
            <a:pPr algn="l"/>
            <a:r>
              <a:rPr sz="800" b="0" i="0">
                <a:solidFill>
                  <a:srgbClr val="7EAA95"/>
                </a:solidFill>
                <a:latin typeface="Aptos Display"/>
              </a:rPr>
              <a:t>SelvaSonic-ML · Aprendizaje Automático · UNAL Medellín</a:t>
            </a:r>
          </a:p>
        </p:txBody>
      </p:sp>
      <p:sp>
        <p:nvSpPr>
          <p:cNvPr id="6" name="TextBox 5"/>
          <p:cNvSpPr txBox="1"/>
          <p:nvPr/>
        </p:nvSpPr>
        <p:spPr>
          <a:xfrm>
            <a:off x="11247120" y="6537960"/>
            <a:ext cx="484632" cy="274320"/>
          </a:xfrm>
          <a:prstGeom prst="rect">
            <a:avLst/>
          </a:prstGeom>
          <a:noFill/>
        </p:spPr>
        <p:txBody>
          <a:bodyPr wrap="square">
            <a:spAutoFit/>
          </a:bodyPr>
          <a:lstStyle/>
          <a:p>
            <a:pPr algn="r"/>
            <a:r>
              <a:rPr sz="800" b="0" i="0">
                <a:solidFill>
                  <a:srgbClr val="7EAA95"/>
                </a:solidFill>
                <a:latin typeface="Aptos Display"/>
              </a:rPr>
              <a:t>17</a:t>
            </a:r>
          </a:p>
        </p:txBody>
      </p:sp>
      <p:sp>
        <p:nvSpPr>
          <p:cNvPr id="7" name="Rectangle 6"/>
          <p:cNvSpPr/>
          <p:nvPr/>
        </p:nvSpPr>
        <p:spPr>
          <a:xfrm>
            <a:off x="457200" y="1005840"/>
            <a:ext cx="3657600" cy="1508760"/>
          </a:xfrm>
          <a:prstGeom prst="rect">
            <a:avLst/>
          </a:prstGeom>
          <a:solidFill>
            <a:srgbClr val="0B2B27"/>
          </a:solidFill>
          <a:ln w="9525">
            <a:solidFill>
              <a:srgbClr val="7EAA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69848"/>
            <a:ext cx="3474720" cy="292608"/>
          </a:xfrm>
          <a:prstGeom prst="rect">
            <a:avLst/>
          </a:prstGeom>
          <a:noFill/>
        </p:spPr>
        <p:txBody>
          <a:bodyPr wrap="square">
            <a:spAutoFit/>
          </a:bodyPr>
          <a:lstStyle/>
          <a:p>
            <a:pPr algn="ctr"/>
            <a:r>
              <a:rPr sz="1000" b="1" i="0">
                <a:solidFill>
                  <a:srgbClr val="7EAA95"/>
                </a:solidFill>
                <a:latin typeface="Aptos Display"/>
              </a:rPr>
              <a:t>Baseline</a:t>
            </a:r>
          </a:p>
        </p:txBody>
      </p:sp>
      <p:sp>
        <p:nvSpPr>
          <p:cNvPr id="9" name="TextBox 8"/>
          <p:cNvSpPr txBox="1"/>
          <p:nvPr/>
        </p:nvSpPr>
        <p:spPr>
          <a:xfrm>
            <a:off x="548640" y="1353312"/>
            <a:ext cx="3474720" cy="457200"/>
          </a:xfrm>
          <a:prstGeom prst="rect">
            <a:avLst/>
          </a:prstGeom>
          <a:noFill/>
        </p:spPr>
        <p:txBody>
          <a:bodyPr wrap="square">
            <a:spAutoFit/>
          </a:bodyPr>
          <a:lstStyle/>
          <a:p>
            <a:pPr algn="ctr"/>
            <a:r>
              <a:rPr sz="2600" b="1" i="0">
                <a:solidFill>
                  <a:srgbClr val="7EAA95"/>
                </a:solidFill>
                <a:latin typeface="Aptos Display"/>
              </a:rPr>
              <a:t>ECE = 0.050</a:t>
            </a:r>
          </a:p>
        </p:txBody>
      </p:sp>
      <p:sp>
        <p:nvSpPr>
          <p:cNvPr id="10" name="TextBox 9"/>
          <p:cNvSpPr txBox="1"/>
          <p:nvPr/>
        </p:nvSpPr>
        <p:spPr>
          <a:xfrm>
            <a:off x="548640" y="1828800"/>
            <a:ext cx="3474720" cy="274320"/>
          </a:xfrm>
          <a:prstGeom prst="rect">
            <a:avLst/>
          </a:prstGeom>
          <a:noFill/>
        </p:spPr>
        <p:txBody>
          <a:bodyPr wrap="square">
            <a:spAutoFit/>
          </a:bodyPr>
          <a:lstStyle/>
          <a:p>
            <a:pPr algn="ctr"/>
            <a:r>
              <a:rPr sz="900" b="0" i="0">
                <a:solidFill>
                  <a:srgbClr val="7EAA95"/>
                </a:solidFill>
                <a:latin typeface="Aptos Display"/>
              </a:rPr>
              <a:t>calibración media</a:t>
            </a:r>
          </a:p>
        </p:txBody>
      </p:sp>
      <p:sp>
        <p:nvSpPr>
          <p:cNvPr id="11" name="Rectangle 10"/>
          <p:cNvSpPr/>
          <p:nvPr/>
        </p:nvSpPr>
        <p:spPr>
          <a:xfrm>
            <a:off x="4297680" y="1005840"/>
            <a:ext cx="3657600" cy="1508760"/>
          </a:xfrm>
          <a:prstGeom prst="rect">
            <a:avLst/>
          </a:prstGeom>
          <a:solidFill>
            <a:srgbClr val="0B2B27"/>
          </a:solidFill>
          <a:ln w="9525">
            <a:solidFill>
              <a:srgbClr val="33D1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1069848"/>
            <a:ext cx="3474720" cy="292608"/>
          </a:xfrm>
          <a:prstGeom prst="rect">
            <a:avLst/>
          </a:prstGeom>
          <a:noFill/>
        </p:spPr>
        <p:txBody>
          <a:bodyPr wrap="square">
            <a:spAutoFit/>
          </a:bodyPr>
          <a:lstStyle/>
          <a:p>
            <a:pPr algn="ctr"/>
            <a:r>
              <a:rPr sz="1000" b="1" i="0">
                <a:solidFill>
                  <a:srgbClr val="33D17A"/>
                </a:solidFill>
                <a:latin typeface="Aptos Display"/>
              </a:rPr>
              <a:t>Attention v1</a:t>
            </a:r>
          </a:p>
        </p:txBody>
      </p:sp>
      <p:sp>
        <p:nvSpPr>
          <p:cNvPr id="13" name="TextBox 12"/>
          <p:cNvSpPr txBox="1"/>
          <p:nvPr/>
        </p:nvSpPr>
        <p:spPr>
          <a:xfrm>
            <a:off x="4389120" y="1353312"/>
            <a:ext cx="3474720" cy="457200"/>
          </a:xfrm>
          <a:prstGeom prst="rect">
            <a:avLst/>
          </a:prstGeom>
          <a:noFill/>
        </p:spPr>
        <p:txBody>
          <a:bodyPr wrap="square">
            <a:spAutoFit/>
          </a:bodyPr>
          <a:lstStyle/>
          <a:p>
            <a:pPr algn="ctr"/>
            <a:r>
              <a:rPr sz="2600" b="1" i="0">
                <a:solidFill>
                  <a:srgbClr val="33D17A"/>
                </a:solidFill>
                <a:latin typeface="Aptos Display"/>
              </a:rPr>
              <a:t>ECE = 0.039</a:t>
            </a:r>
          </a:p>
        </p:txBody>
      </p:sp>
      <p:sp>
        <p:nvSpPr>
          <p:cNvPr id="14" name="TextBox 13"/>
          <p:cNvSpPr txBox="1"/>
          <p:nvPr/>
        </p:nvSpPr>
        <p:spPr>
          <a:xfrm>
            <a:off x="4389120" y="1828800"/>
            <a:ext cx="3474720" cy="274320"/>
          </a:xfrm>
          <a:prstGeom prst="rect">
            <a:avLst/>
          </a:prstGeom>
          <a:noFill/>
        </p:spPr>
        <p:txBody>
          <a:bodyPr wrap="square">
            <a:spAutoFit/>
          </a:bodyPr>
          <a:lstStyle/>
          <a:p>
            <a:pPr algn="ctr"/>
            <a:r>
              <a:rPr sz="900" b="0" i="0">
                <a:solidFill>
                  <a:srgbClr val="7EAA95"/>
                </a:solidFill>
                <a:latin typeface="Aptos Display"/>
              </a:rPr>
              <a:t>mejor calibración ⭐</a:t>
            </a:r>
          </a:p>
        </p:txBody>
      </p:sp>
      <p:sp>
        <p:nvSpPr>
          <p:cNvPr id="15" name="Rectangle 14"/>
          <p:cNvSpPr/>
          <p:nvPr/>
        </p:nvSpPr>
        <p:spPr>
          <a:xfrm>
            <a:off x="8138160" y="1005840"/>
            <a:ext cx="3657600" cy="1508760"/>
          </a:xfrm>
          <a:prstGeom prst="rect">
            <a:avLst/>
          </a:prstGeom>
          <a:solidFill>
            <a:srgbClr val="0B2B27"/>
          </a:solidFill>
          <a:ln w="9525">
            <a:solidFill>
              <a:srgbClr val="FF9F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069848"/>
            <a:ext cx="3474720" cy="292608"/>
          </a:xfrm>
          <a:prstGeom prst="rect">
            <a:avLst/>
          </a:prstGeom>
          <a:noFill/>
        </p:spPr>
        <p:txBody>
          <a:bodyPr wrap="square">
            <a:spAutoFit/>
          </a:bodyPr>
          <a:lstStyle/>
          <a:p>
            <a:pPr algn="ctr"/>
            <a:r>
              <a:rPr sz="1000" b="1" i="0">
                <a:solidFill>
                  <a:srgbClr val="FF9F1C"/>
                </a:solidFill>
                <a:latin typeface="Aptos Display"/>
              </a:rPr>
              <a:t>Attention v2</a:t>
            </a:r>
          </a:p>
        </p:txBody>
      </p:sp>
      <p:sp>
        <p:nvSpPr>
          <p:cNvPr id="17" name="TextBox 16"/>
          <p:cNvSpPr txBox="1"/>
          <p:nvPr/>
        </p:nvSpPr>
        <p:spPr>
          <a:xfrm>
            <a:off x="8229600" y="1353312"/>
            <a:ext cx="3474720" cy="457200"/>
          </a:xfrm>
          <a:prstGeom prst="rect">
            <a:avLst/>
          </a:prstGeom>
          <a:noFill/>
        </p:spPr>
        <p:txBody>
          <a:bodyPr wrap="square">
            <a:spAutoFit/>
          </a:bodyPr>
          <a:lstStyle/>
          <a:p>
            <a:pPr algn="ctr"/>
            <a:r>
              <a:rPr sz="2600" b="1" i="0">
                <a:solidFill>
                  <a:srgbClr val="FF9F1C"/>
                </a:solidFill>
                <a:latin typeface="Aptos Display"/>
              </a:rPr>
              <a:t>ECE = 0.145</a:t>
            </a:r>
          </a:p>
        </p:txBody>
      </p:sp>
      <p:sp>
        <p:nvSpPr>
          <p:cNvPr id="18" name="TextBox 17"/>
          <p:cNvSpPr txBox="1"/>
          <p:nvPr/>
        </p:nvSpPr>
        <p:spPr>
          <a:xfrm>
            <a:off x="8229600" y="1828800"/>
            <a:ext cx="3474720" cy="274320"/>
          </a:xfrm>
          <a:prstGeom prst="rect">
            <a:avLst/>
          </a:prstGeom>
          <a:noFill/>
        </p:spPr>
        <p:txBody>
          <a:bodyPr wrap="square">
            <a:spAutoFit/>
          </a:bodyPr>
          <a:lstStyle/>
          <a:p>
            <a:pPr algn="ctr"/>
            <a:r>
              <a:rPr sz="900" b="0" i="0">
                <a:solidFill>
                  <a:srgbClr val="7EAA95"/>
                </a:solidFill>
                <a:latin typeface="Aptos Display"/>
              </a:rPr>
              <a:t>mayor ECE ⚠ (class weights)</a:t>
            </a:r>
          </a:p>
        </p:txBody>
      </p:sp>
      <p:sp>
        <p:nvSpPr>
          <p:cNvPr id="19" name="Rounded Rectangle 18"/>
          <p:cNvSpPr/>
          <p:nvPr/>
        </p:nvSpPr>
        <p:spPr>
          <a:xfrm>
            <a:off x="457200" y="2651760"/>
            <a:ext cx="6858000" cy="2103120"/>
          </a:xfrm>
          <a:prstGeom prst="roundRect">
            <a:avLst>
              <a:gd name="adj" fmla="val 2173"/>
            </a:avLst>
          </a:prstGeom>
          <a:solidFill>
            <a:srgbClr val="FAFAFA"/>
          </a:solidFill>
          <a:ln w="25400">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alibracion.png"/>
          <p:cNvPicPr>
            <a:picLocks noChangeAspect="1"/>
          </p:cNvPicPr>
          <p:nvPr/>
        </p:nvPicPr>
        <p:blipFill>
          <a:blip r:embed="rId3"/>
          <a:stretch>
            <a:fillRect/>
          </a:stretch>
        </p:blipFill>
        <p:spPr>
          <a:xfrm>
            <a:off x="512064" y="2745200"/>
            <a:ext cx="6748272" cy="1916238"/>
          </a:xfrm>
          <a:prstGeom prst="rect">
            <a:avLst/>
          </a:prstGeom>
        </p:spPr>
      </p:pic>
      <p:sp>
        <p:nvSpPr>
          <p:cNvPr id="21" name="Rectangle 20"/>
          <p:cNvSpPr/>
          <p:nvPr/>
        </p:nvSpPr>
        <p:spPr>
          <a:xfrm>
            <a:off x="7452360" y="2651760"/>
            <a:ext cx="4279392" cy="3474720"/>
          </a:xfrm>
          <a:prstGeom prst="rect">
            <a:avLst/>
          </a:prstGeom>
          <a:solidFill>
            <a:srgbClr val="0F3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0" y="2743200"/>
            <a:ext cx="4023360" cy="3337560"/>
          </a:xfrm>
          <a:prstGeom prst="rect">
            <a:avLst/>
          </a:prstGeom>
          <a:noFill/>
        </p:spPr>
        <p:txBody>
          <a:bodyPr wrap="square">
            <a:spAutoFit/>
          </a:bodyPr>
          <a:lstStyle/>
          <a:p>
            <a:pPr algn="l"/>
            <a:r>
              <a:rPr sz="1000" b="1">
                <a:solidFill>
                  <a:srgbClr val="21D4D4"/>
                </a:solidFill>
                <a:latin typeface="Aptos Display"/>
              </a:rPr>
              <a:t>¿Qué es ECE?</a:t>
            </a:r>
          </a:p>
          <a:p>
            <a:pPr algn="l"/>
            <a:r>
              <a:rPr sz="900" b="0">
                <a:solidFill>
                  <a:srgbClr val="B5D3C3"/>
                </a:solidFill>
                <a:latin typeface="Aptos Display"/>
              </a:rPr>
              <a:t>Expected Calibration Error mide si la confianza del modelo coincide con su accuracy real. ECE=0 es perfecto.</a:t>
            </a:r>
          </a:p>
          <a:p>
            <a:pPr algn="l"/>
            <a:r>
              <a:rPr sz="400" b="0">
                <a:solidFill>
                  <a:srgbClr val="B5D3C3"/>
                </a:solidFill>
                <a:latin typeface="Aptos Display"/>
              </a:rPr>
              <a:t> </a:t>
            </a:r>
          </a:p>
          <a:p>
            <a:pPr algn="l"/>
            <a:r>
              <a:rPr sz="1000" b="1">
                <a:solidFill>
                  <a:srgbClr val="FF9F1C"/>
                </a:solidFill>
                <a:latin typeface="Aptos Display"/>
              </a:rPr>
              <a:t>¿Por qué v2 tiene ECE mayor?</a:t>
            </a:r>
          </a:p>
          <a:p>
            <a:pPr algn="l"/>
            <a:r>
              <a:rPr sz="900" b="0">
                <a:solidFill>
                  <a:srgbClr val="B5D3C3"/>
                </a:solidFill>
                <a:latin typeface="Aptos Display"/>
              </a:rPr>
              <a:t>Los class weights fuerzan al modelo a ser más confiado en clases minoritarias para compensar su escasez. Esto mejora F1 macro (cada clase pesa igual), pero deteriora ECE global (dominado por clases mayoritarias).</a:t>
            </a:r>
          </a:p>
          <a:p>
            <a:pPr algn="l"/>
            <a:r>
              <a:rPr sz="400" b="0">
                <a:solidFill>
                  <a:srgbClr val="B5D3C3"/>
                </a:solidFill>
                <a:latin typeface="Aptos Display"/>
              </a:rPr>
              <a:t> </a:t>
            </a:r>
          </a:p>
          <a:p>
            <a:pPr algn="l"/>
            <a:r>
              <a:rPr sz="1000" b="1">
                <a:solidFill>
                  <a:srgbClr val="F4D35E"/>
                </a:solidFill>
                <a:latin typeface="Aptos Display"/>
              </a:rPr>
              <a:t>Decisión metodológica:</a:t>
            </a:r>
          </a:p>
          <a:p>
            <a:pPr algn="l"/>
            <a:r>
              <a:rPr sz="900" b="0">
                <a:solidFill>
                  <a:srgbClr val="B5D3C3"/>
                </a:solidFill>
                <a:latin typeface="Aptos Display"/>
              </a:rPr>
              <a:t>Priorizar F1 macro porque en monitoreo bioacústico interesa más detectar especies raras que tener confianza calibrada en las dominantes.</a:t>
            </a:r>
          </a:p>
          <a:p>
            <a:pPr algn="l"/>
            <a:r>
              <a:rPr sz="400" b="0">
                <a:solidFill>
                  <a:srgbClr val="B5D3C3"/>
                </a:solidFill>
                <a:latin typeface="Aptos Display"/>
              </a:rPr>
              <a:t> </a:t>
            </a:r>
          </a:p>
          <a:p>
            <a:pPr algn="l"/>
            <a:r>
              <a:rPr sz="900" b="0">
                <a:solidFill>
                  <a:srgbClr val="7EAA95"/>
                </a:solidFill>
                <a:latin typeface="Aptos Display"/>
              </a:rPr>
              <a:t>Mitigación futura: temperature scaling post-hoc sobre v2.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jungle_bg.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64592"/>
            <a:ext cx="11274552" cy="475488"/>
          </a:xfrm>
          <a:prstGeom prst="rect">
            <a:avLst/>
          </a:prstGeom>
          <a:noFill/>
        </p:spPr>
        <p:txBody>
          <a:bodyPr wrap="square">
            <a:spAutoFit/>
          </a:bodyPr>
          <a:lstStyle/>
          <a:p>
            <a:pPr algn="l"/>
            <a:r>
              <a:rPr sz="2100" b="1" i="0">
                <a:solidFill>
                  <a:srgbClr val="EFFCF5"/>
                </a:solidFill>
                <a:latin typeface="Aptos Display"/>
              </a:rPr>
              <a:t>14. Espacio de representaciones aprendido</a:t>
            </a:r>
          </a:p>
        </p:txBody>
      </p:sp>
      <p:sp>
        <p:nvSpPr>
          <p:cNvPr id="4" name="TextBox 3"/>
          <p:cNvSpPr txBox="1"/>
          <p:nvPr/>
        </p:nvSpPr>
        <p:spPr>
          <a:xfrm>
            <a:off x="457200" y="621792"/>
            <a:ext cx="11274552" cy="292608"/>
          </a:xfrm>
          <a:prstGeom prst="rect">
            <a:avLst/>
          </a:prstGeom>
          <a:noFill/>
        </p:spPr>
        <p:txBody>
          <a:bodyPr wrap="square">
            <a:spAutoFit/>
          </a:bodyPr>
          <a:lstStyle/>
          <a:p>
            <a:pPr algn="l"/>
            <a:r>
              <a:rPr sz="1000" b="0" i="0">
                <a:solidFill>
                  <a:srgbClr val="7EAA95"/>
                </a:solidFill>
                <a:latin typeface="Aptos Display"/>
              </a:rPr>
              <a:t>Silhouette score 20× mejor: las clases se separan en el espacio de embeddings 256-d</a:t>
            </a:r>
          </a:p>
        </p:txBody>
      </p:sp>
      <p:sp>
        <p:nvSpPr>
          <p:cNvPr id="5" name="TextBox 4"/>
          <p:cNvSpPr txBox="1"/>
          <p:nvPr/>
        </p:nvSpPr>
        <p:spPr>
          <a:xfrm>
            <a:off x="457200" y="6537960"/>
            <a:ext cx="8229600" cy="274320"/>
          </a:xfrm>
          <a:prstGeom prst="rect">
            <a:avLst/>
          </a:prstGeom>
          <a:noFill/>
        </p:spPr>
        <p:txBody>
          <a:bodyPr wrap="square">
            <a:spAutoFit/>
          </a:bodyPr>
          <a:lstStyle/>
          <a:p>
            <a:pPr algn="l"/>
            <a:r>
              <a:rPr sz="800" b="0" i="0">
                <a:solidFill>
                  <a:srgbClr val="7EAA95"/>
                </a:solidFill>
                <a:latin typeface="Aptos Display"/>
              </a:rPr>
              <a:t>SelvaSonic-ML · Aprendizaje Automático · UNAL Medellín</a:t>
            </a:r>
          </a:p>
        </p:txBody>
      </p:sp>
      <p:sp>
        <p:nvSpPr>
          <p:cNvPr id="6" name="TextBox 5"/>
          <p:cNvSpPr txBox="1"/>
          <p:nvPr/>
        </p:nvSpPr>
        <p:spPr>
          <a:xfrm>
            <a:off x="11247120" y="6537960"/>
            <a:ext cx="484632" cy="274320"/>
          </a:xfrm>
          <a:prstGeom prst="rect">
            <a:avLst/>
          </a:prstGeom>
          <a:noFill/>
        </p:spPr>
        <p:txBody>
          <a:bodyPr wrap="square">
            <a:spAutoFit/>
          </a:bodyPr>
          <a:lstStyle/>
          <a:p>
            <a:pPr algn="r"/>
            <a:r>
              <a:rPr sz="800" b="0" i="0">
                <a:solidFill>
                  <a:srgbClr val="7EAA95"/>
                </a:solidFill>
                <a:latin typeface="Aptos Display"/>
              </a:rPr>
              <a:t>18</a:t>
            </a:r>
          </a:p>
        </p:txBody>
      </p:sp>
      <p:sp>
        <p:nvSpPr>
          <p:cNvPr id="7" name="Rectangle 6"/>
          <p:cNvSpPr/>
          <p:nvPr/>
        </p:nvSpPr>
        <p:spPr>
          <a:xfrm>
            <a:off x="457200" y="1005840"/>
            <a:ext cx="3657600" cy="1417320"/>
          </a:xfrm>
          <a:prstGeom prst="rect">
            <a:avLst/>
          </a:prstGeom>
          <a:solidFill>
            <a:srgbClr val="0B2B27"/>
          </a:solidFill>
          <a:ln w="7620">
            <a:solidFill>
              <a:srgbClr val="FF5C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69848"/>
            <a:ext cx="3474720" cy="274320"/>
          </a:xfrm>
          <a:prstGeom prst="rect">
            <a:avLst/>
          </a:prstGeom>
          <a:noFill/>
        </p:spPr>
        <p:txBody>
          <a:bodyPr wrap="square">
            <a:spAutoFit/>
          </a:bodyPr>
          <a:lstStyle/>
          <a:p>
            <a:pPr algn="ctr"/>
            <a:r>
              <a:rPr sz="900" b="1" i="0">
                <a:solidFill>
                  <a:srgbClr val="FF5C7A"/>
                </a:solidFill>
                <a:latin typeface="Aptos Display"/>
              </a:rPr>
              <a:t>Baseline</a:t>
            </a:r>
          </a:p>
        </p:txBody>
      </p:sp>
      <p:sp>
        <p:nvSpPr>
          <p:cNvPr id="9" name="TextBox 8"/>
          <p:cNvSpPr txBox="1"/>
          <p:nvPr/>
        </p:nvSpPr>
        <p:spPr>
          <a:xfrm>
            <a:off x="548640" y="1344168"/>
            <a:ext cx="3474720" cy="411480"/>
          </a:xfrm>
          <a:prstGeom prst="rect">
            <a:avLst/>
          </a:prstGeom>
          <a:noFill/>
        </p:spPr>
        <p:txBody>
          <a:bodyPr wrap="square">
            <a:spAutoFit/>
          </a:bodyPr>
          <a:lstStyle/>
          <a:p>
            <a:pPr algn="ctr"/>
            <a:r>
              <a:rPr sz="2200" b="1" i="0">
                <a:solidFill>
                  <a:srgbClr val="FF5C7A"/>
                </a:solidFill>
                <a:latin typeface="Aptos Display"/>
              </a:rPr>
              <a:t>Silhouette = +0.0084</a:t>
            </a:r>
          </a:p>
        </p:txBody>
      </p:sp>
      <p:sp>
        <p:nvSpPr>
          <p:cNvPr id="10" name="TextBox 9"/>
          <p:cNvSpPr txBox="1"/>
          <p:nvPr/>
        </p:nvSpPr>
        <p:spPr>
          <a:xfrm>
            <a:off x="548640" y="1773936"/>
            <a:ext cx="3474720" cy="256032"/>
          </a:xfrm>
          <a:prstGeom prst="rect">
            <a:avLst/>
          </a:prstGeom>
          <a:noFill/>
        </p:spPr>
        <p:txBody>
          <a:bodyPr wrap="square">
            <a:spAutoFit/>
          </a:bodyPr>
          <a:lstStyle/>
          <a:p>
            <a:pPr algn="ctr"/>
            <a:r>
              <a:rPr sz="850" b="0" i="0">
                <a:solidFill>
                  <a:srgbClr val="7EAA95"/>
                </a:solidFill>
                <a:latin typeface="Aptos Display"/>
              </a:rPr>
              <a:t>clases mezcladas</a:t>
            </a:r>
          </a:p>
        </p:txBody>
      </p:sp>
      <p:sp>
        <p:nvSpPr>
          <p:cNvPr id="11" name="Rectangle 10"/>
          <p:cNvSpPr/>
          <p:nvPr/>
        </p:nvSpPr>
        <p:spPr>
          <a:xfrm>
            <a:off x="4297680" y="1005840"/>
            <a:ext cx="3657600" cy="1417320"/>
          </a:xfrm>
          <a:prstGeom prst="rect">
            <a:avLst/>
          </a:prstGeom>
          <a:solidFill>
            <a:srgbClr val="0B2B27"/>
          </a:solidFill>
          <a:ln w="7620">
            <a:solidFill>
              <a:srgbClr val="33D1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1069848"/>
            <a:ext cx="3474720" cy="274320"/>
          </a:xfrm>
          <a:prstGeom prst="rect">
            <a:avLst/>
          </a:prstGeom>
          <a:noFill/>
        </p:spPr>
        <p:txBody>
          <a:bodyPr wrap="square">
            <a:spAutoFit/>
          </a:bodyPr>
          <a:lstStyle/>
          <a:p>
            <a:pPr algn="ctr"/>
            <a:r>
              <a:rPr sz="900" b="1" i="0">
                <a:solidFill>
                  <a:srgbClr val="33D17A"/>
                </a:solidFill>
                <a:latin typeface="Aptos Display"/>
              </a:rPr>
              <a:t>Attention v1</a:t>
            </a:r>
          </a:p>
        </p:txBody>
      </p:sp>
      <p:sp>
        <p:nvSpPr>
          <p:cNvPr id="13" name="TextBox 12"/>
          <p:cNvSpPr txBox="1"/>
          <p:nvPr/>
        </p:nvSpPr>
        <p:spPr>
          <a:xfrm>
            <a:off x="4389120" y="1344168"/>
            <a:ext cx="3474720" cy="411480"/>
          </a:xfrm>
          <a:prstGeom prst="rect">
            <a:avLst/>
          </a:prstGeom>
          <a:noFill/>
        </p:spPr>
        <p:txBody>
          <a:bodyPr wrap="square">
            <a:spAutoFit/>
          </a:bodyPr>
          <a:lstStyle/>
          <a:p>
            <a:pPr algn="ctr"/>
            <a:r>
              <a:rPr sz="2200" b="1" i="0">
                <a:solidFill>
                  <a:srgbClr val="33D17A"/>
                </a:solidFill>
                <a:latin typeface="Aptos Display"/>
              </a:rPr>
              <a:t>Silhouette = +0.1580</a:t>
            </a:r>
          </a:p>
        </p:txBody>
      </p:sp>
      <p:sp>
        <p:nvSpPr>
          <p:cNvPr id="14" name="TextBox 13"/>
          <p:cNvSpPr txBox="1"/>
          <p:nvPr/>
        </p:nvSpPr>
        <p:spPr>
          <a:xfrm>
            <a:off x="4389120" y="1773936"/>
            <a:ext cx="3474720" cy="256032"/>
          </a:xfrm>
          <a:prstGeom prst="rect">
            <a:avLst/>
          </a:prstGeom>
          <a:noFill/>
        </p:spPr>
        <p:txBody>
          <a:bodyPr wrap="square">
            <a:spAutoFit/>
          </a:bodyPr>
          <a:lstStyle/>
          <a:p>
            <a:pPr algn="ctr"/>
            <a:r>
              <a:rPr sz="850" b="0" i="0">
                <a:solidFill>
                  <a:srgbClr val="7EAA95"/>
                </a:solidFill>
                <a:latin typeface="Aptos Display"/>
              </a:rPr>
              <a:t>×19 mejora</a:t>
            </a:r>
          </a:p>
        </p:txBody>
      </p:sp>
      <p:sp>
        <p:nvSpPr>
          <p:cNvPr id="15" name="Rectangle 14"/>
          <p:cNvSpPr/>
          <p:nvPr/>
        </p:nvSpPr>
        <p:spPr>
          <a:xfrm>
            <a:off x="8138160" y="1005840"/>
            <a:ext cx="3657600" cy="1417320"/>
          </a:xfrm>
          <a:prstGeom prst="rect">
            <a:avLst/>
          </a:prstGeom>
          <a:solidFill>
            <a:srgbClr val="0B2B27"/>
          </a:solidFill>
          <a:ln w="7620">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069848"/>
            <a:ext cx="3474720" cy="274320"/>
          </a:xfrm>
          <a:prstGeom prst="rect">
            <a:avLst/>
          </a:prstGeom>
          <a:noFill/>
        </p:spPr>
        <p:txBody>
          <a:bodyPr wrap="square">
            <a:spAutoFit/>
          </a:bodyPr>
          <a:lstStyle/>
          <a:p>
            <a:pPr algn="ctr"/>
            <a:r>
              <a:rPr sz="900" b="1" i="0">
                <a:solidFill>
                  <a:srgbClr val="21D4D4"/>
                </a:solidFill>
                <a:latin typeface="Aptos Display"/>
              </a:rPr>
              <a:t>Attention v2</a:t>
            </a:r>
          </a:p>
        </p:txBody>
      </p:sp>
      <p:sp>
        <p:nvSpPr>
          <p:cNvPr id="17" name="TextBox 16"/>
          <p:cNvSpPr txBox="1"/>
          <p:nvPr/>
        </p:nvSpPr>
        <p:spPr>
          <a:xfrm>
            <a:off x="8229600" y="1344168"/>
            <a:ext cx="3474720" cy="411480"/>
          </a:xfrm>
          <a:prstGeom prst="rect">
            <a:avLst/>
          </a:prstGeom>
          <a:noFill/>
        </p:spPr>
        <p:txBody>
          <a:bodyPr wrap="square">
            <a:spAutoFit/>
          </a:bodyPr>
          <a:lstStyle/>
          <a:p>
            <a:pPr algn="ctr"/>
            <a:r>
              <a:rPr sz="2200" b="1" i="0">
                <a:solidFill>
                  <a:srgbClr val="21D4D4"/>
                </a:solidFill>
                <a:latin typeface="Aptos Display"/>
              </a:rPr>
              <a:t>Silhouette = +0.1686</a:t>
            </a:r>
          </a:p>
        </p:txBody>
      </p:sp>
      <p:sp>
        <p:nvSpPr>
          <p:cNvPr id="18" name="TextBox 17"/>
          <p:cNvSpPr txBox="1"/>
          <p:nvPr/>
        </p:nvSpPr>
        <p:spPr>
          <a:xfrm>
            <a:off x="8229600" y="1773936"/>
            <a:ext cx="3474720" cy="256032"/>
          </a:xfrm>
          <a:prstGeom prst="rect">
            <a:avLst/>
          </a:prstGeom>
          <a:noFill/>
        </p:spPr>
        <p:txBody>
          <a:bodyPr wrap="square">
            <a:spAutoFit/>
          </a:bodyPr>
          <a:lstStyle/>
          <a:p>
            <a:pPr algn="ctr"/>
            <a:r>
              <a:rPr sz="850" b="0" i="0">
                <a:solidFill>
                  <a:srgbClr val="7EAA95"/>
                </a:solidFill>
                <a:latin typeface="Aptos Display"/>
              </a:rPr>
              <a:t>×20 mejora ⭐</a:t>
            </a:r>
          </a:p>
        </p:txBody>
      </p:sp>
      <p:sp>
        <p:nvSpPr>
          <p:cNvPr id="19" name="Rounded Rectangle 18"/>
          <p:cNvSpPr/>
          <p:nvPr/>
        </p:nvSpPr>
        <p:spPr>
          <a:xfrm>
            <a:off x="457200" y="2560320"/>
            <a:ext cx="11274552" cy="3337560"/>
          </a:xfrm>
          <a:prstGeom prst="roundRect">
            <a:avLst>
              <a:gd name="adj" fmla="val 1369"/>
            </a:avLst>
          </a:prstGeom>
          <a:solidFill>
            <a:srgbClr val="FAFAFA"/>
          </a:solidFill>
          <a:ln w="25400">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visualizacion_embeddings.png"/>
          <p:cNvPicPr>
            <a:picLocks noChangeAspect="1"/>
          </p:cNvPicPr>
          <p:nvPr/>
        </p:nvPicPr>
        <p:blipFill>
          <a:blip r:embed="rId3"/>
          <a:stretch>
            <a:fillRect/>
          </a:stretch>
        </p:blipFill>
        <p:spPr>
          <a:xfrm>
            <a:off x="3524333" y="2615184"/>
            <a:ext cx="5140284" cy="3227832"/>
          </a:xfrm>
          <a:prstGeom prst="rect">
            <a:avLst/>
          </a:prstGeom>
        </p:spPr>
      </p:pic>
      <p:sp>
        <p:nvSpPr>
          <p:cNvPr id="21" name="TextBox 20"/>
          <p:cNvSpPr txBox="1"/>
          <p:nvPr/>
        </p:nvSpPr>
        <p:spPr>
          <a:xfrm>
            <a:off x="457200" y="6016752"/>
            <a:ext cx="11274552" cy="384048"/>
          </a:xfrm>
          <a:prstGeom prst="rect">
            <a:avLst/>
          </a:prstGeom>
          <a:noFill/>
        </p:spPr>
        <p:txBody>
          <a:bodyPr wrap="square">
            <a:spAutoFit/>
          </a:bodyPr>
          <a:lstStyle/>
          <a:p>
            <a:pPr algn="l"/>
            <a:r>
              <a:rPr sz="800" b="0" i="0">
                <a:solidFill>
                  <a:srgbClr val="7EAA95"/>
                </a:solidFill>
                <a:latin typeface="Aptos Display"/>
              </a:rPr>
              <a:t>Nota: el silhouette score se calcula sobre el espacio original de 256 dimensiones (no sobre t-SNE). La visualización usa t-SNE (perplexity=30). Trustworthiness t-SNE ≈ 0.996 en los 3 modelos → la proyección 2D preserva bien la estructura del espacio real.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jungle_bg.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64592"/>
            <a:ext cx="11274552" cy="475488"/>
          </a:xfrm>
          <a:prstGeom prst="rect">
            <a:avLst/>
          </a:prstGeom>
          <a:noFill/>
        </p:spPr>
        <p:txBody>
          <a:bodyPr wrap="square">
            <a:spAutoFit/>
          </a:bodyPr>
          <a:lstStyle/>
          <a:p>
            <a:pPr algn="l"/>
            <a:r>
              <a:rPr sz="2100" b="1" i="0">
                <a:solidFill>
                  <a:srgbClr val="EFFCF5"/>
                </a:solidFill>
                <a:latin typeface="Aptos Display"/>
              </a:rPr>
              <a:t>15. Interpretabilidad: Grad-CAM sobre Attention v2</a:t>
            </a:r>
          </a:p>
        </p:txBody>
      </p:sp>
      <p:sp>
        <p:nvSpPr>
          <p:cNvPr id="4" name="TextBox 3"/>
          <p:cNvSpPr txBox="1"/>
          <p:nvPr/>
        </p:nvSpPr>
        <p:spPr>
          <a:xfrm>
            <a:off x="457200" y="621792"/>
            <a:ext cx="11274552" cy="292608"/>
          </a:xfrm>
          <a:prstGeom prst="rect">
            <a:avLst/>
          </a:prstGeom>
          <a:noFill/>
        </p:spPr>
        <p:txBody>
          <a:bodyPr wrap="square">
            <a:spAutoFit/>
          </a:bodyPr>
          <a:lstStyle/>
          <a:p>
            <a:pPr algn="l"/>
            <a:r>
              <a:rPr sz="1000" b="0" i="0">
                <a:solidFill>
                  <a:srgbClr val="7EAA95"/>
                </a:solidFill>
                <a:latin typeface="Aptos Display"/>
              </a:rPr>
              <a:t>El modelo focaliza en regiones tiempo-frecuencia con vocalización, no en silencios</a:t>
            </a:r>
          </a:p>
        </p:txBody>
      </p:sp>
      <p:sp>
        <p:nvSpPr>
          <p:cNvPr id="5" name="TextBox 4"/>
          <p:cNvSpPr txBox="1"/>
          <p:nvPr/>
        </p:nvSpPr>
        <p:spPr>
          <a:xfrm>
            <a:off x="457200" y="6537960"/>
            <a:ext cx="8229600" cy="274320"/>
          </a:xfrm>
          <a:prstGeom prst="rect">
            <a:avLst/>
          </a:prstGeom>
          <a:noFill/>
        </p:spPr>
        <p:txBody>
          <a:bodyPr wrap="square">
            <a:spAutoFit/>
          </a:bodyPr>
          <a:lstStyle/>
          <a:p>
            <a:pPr algn="l"/>
            <a:r>
              <a:rPr sz="800" b="0" i="0">
                <a:solidFill>
                  <a:srgbClr val="7EAA95"/>
                </a:solidFill>
                <a:latin typeface="Aptos Display"/>
              </a:rPr>
              <a:t>SelvaSonic-ML · Aprendizaje Automático · UNAL Medellín</a:t>
            </a:r>
          </a:p>
        </p:txBody>
      </p:sp>
      <p:sp>
        <p:nvSpPr>
          <p:cNvPr id="6" name="TextBox 5"/>
          <p:cNvSpPr txBox="1"/>
          <p:nvPr/>
        </p:nvSpPr>
        <p:spPr>
          <a:xfrm>
            <a:off x="11247120" y="6537960"/>
            <a:ext cx="484632" cy="274320"/>
          </a:xfrm>
          <a:prstGeom prst="rect">
            <a:avLst/>
          </a:prstGeom>
          <a:noFill/>
        </p:spPr>
        <p:txBody>
          <a:bodyPr wrap="square">
            <a:spAutoFit/>
          </a:bodyPr>
          <a:lstStyle/>
          <a:p>
            <a:pPr algn="r"/>
            <a:r>
              <a:rPr sz="800" b="0" i="0">
                <a:solidFill>
                  <a:srgbClr val="7EAA95"/>
                </a:solidFill>
                <a:latin typeface="Aptos Display"/>
              </a:rPr>
              <a:t>19</a:t>
            </a:r>
          </a:p>
        </p:txBody>
      </p:sp>
      <p:sp>
        <p:nvSpPr>
          <p:cNvPr id="7" name="Rounded Rectangle 6"/>
          <p:cNvSpPr/>
          <p:nvPr/>
        </p:nvSpPr>
        <p:spPr>
          <a:xfrm>
            <a:off x="457200" y="987552"/>
            <a:ext cx="5943600" cy="3840480"/>
          </a:xfrm>
          <a:prstGeom prst="roundRect">
            <a:avLst>
              <a:gd name="adj" fmla="val 1190"/>
            </a:avLst>
          </a:prstGeom>
          <a:solidFill>
            <a:srgbClr val="FAFAFA"/>
          </a:solidFill>
          <a:ln w="19050">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rrectas_Crypturellus_cinereus.png"/>
          <p:cNvPicPr>
            <a:picLocks noChangeAspect="1"/>
          </p:cNvPicPr>
          <p:nvPr/>
        </p:nvPicPr>
        <p:blipFill>
          <a:blip r:embed="rId3"/>
          <a:stretch>
            <a:fillRect/>
          </a:stretch>
        </p:blipFill>
        <p:spPr>
          <a:xfrm>
            <a:off x="512064" y="1113884"/>
            <a:ext cx="5833872" cy="3587814"/>
          </a:xfrm>
          <a:prstGeom prst="rect">
            <a:avLst/>
          </a:prstGeom>
        </p:spPr>
      </p:pic>
      <p:sp>
        <p:nvSpPr>
          <p:cNvPr id="9" name="Rounded Rectangle 8"/>
          <p:cNvSpPr/>
          <p:nvPr/>
        </p:nvSpPr>
        <p:spPr>
          <a:xfrm>
            <a:off x="6492240" y="987552"/>
            <a:ext cx="5239512" cy="3840480"/>
          </a:xfrm>
          <a:prstGeom prst="roundRect">
            <a:avLst>
              <a:gd name="adj" fmla="val 1190"/>
            </a:avLst>
          </a:prstGeom>
          <a:solidFill>
            <a:srgbClr val="FAFAFA"/>
          </a:solidFill>
          <a:ln w="19050">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nalisis_cuantitativo.png"/>
          <p:cNvPicPr>
            <a:picLocks noChangeAspect="1"/>
          </p:cNvPicPr>
          <p:nvPr/>
        </p:nvPicPr>
        <p:blipFill>
          <a:blip r:embed="rId4"/>
          <a:stretch>
            <a:fillRect/>
          </a:stretch>
        </p:blipFill>
        <p:spPr>
          <a:xfrm>
            <a:off x="6547103" y="2004163"/>
            <a:ext cx="5129784" cy="1807257"/>
          </a:xfrm>
          <a:prstGeom prst="rect">
            <a:avLst/>
          </a:prstGeom>
        </p:spPr>
      </p:pic>
      <p:sp>
        <p:nvSpPr>
          <p:cNvPr id="11" name="Rectangle 10"/>
          <p:cNvSpPr/>
          <p:nvPr/>
        </p:nvSpPr>
        <p:spPr>
          <a:xfrm>
            <a:off x="457200" y="5349240"/>
            <a:ext cx="11274552" cy="1005840"/>
          </a:xfrm>
          <a:prstGeom prst="rect">
            <a:avLst/>
          </a:prstGeom>
          <a:solidFill>
            <a:srgbClr val="0F3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5413248"/>
            <a:ext cx="10972800" cy="896112"/>
          </a:xfrm>
          <a:prstGeom prst="rect">
            <a:avLst/>
          </a:prstGeom>
          <a:noFill/>
        </p:spPr>
        <p:txBody>
          <a:bodyPr wrap="square">
            <a:spAutoFit/>
          </a:bodyPr>
          <a:lstStyle/>
          <a:p>
            <a:pPr algn="l"/>
            <a:r>
              <a:rPr sz="950" b="0">
                <a:solidFill>
                  <a:srgbClr val="B5D3C3"/>
                </a:solidFill>
                <a:latin typeface="Aptos Display"/>
              </a:rPr>
              <a:t>Grad-CAM proyecta los gradientes del último mapa de activación sobre el espectrograma de entrada. Las regiones cálidas son las que más contribuyeron a la predicción correcta.</a:t>
            </a:r>
          </a:p>
          <a:p>
            <a:pPr algn="l">
              <a:spcBef>
                <a:spcPts val="300"/>
              </a:spcBef>
            </a:pPr>
            <a:r>
              <a:rPr sz="950" b="0">
                <a:solidFill>
                  <a:srgbClr val="B5D3C3"/>
                </a:solidFill>
                <a:latin typeface="Aptos Display"/>
              </a:rPr>
              <a:t>Hallazgo cuantitativo: entropía media de los mapas CAM bajó de 0.952 (baseline) → 0.841 (v2). Entropía más baja = atención más focalizada. Centroide de frecuencia subió de 65.9 → 76.7 bins Mel: v2 mira más arriba en el espectro.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jungle_bg.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64592"/>
            <a:ext cx="11274552" cy="475488"/>
          </a:xfrm>
          <a:prstGeom prst="rect">
            <a:avLst/>
          </a:prstGeom>
          <a:noFill/>
        </p:spPr>
        <p:txBody>
          <a:bodyPr wrap="square">
            <a:spAutoFit/>
          </a:bodyPr>
          <a:lstStyle/>
          <a:p>
            <a:pPr algn="l"/>
            <a:r>
              <a:rPr sz="2100" b="1" i="0">
                <a:solidFill>
                  <a:srgbClr val="EFFCF5"/>
                </a:solidFill>
                <a:latin typeface="Aptos Display"/>
              </a:rPr>
              <a:t>16. Prueba en campo: 6 audios externos del Amazonas (Puerto Nariño)</a:t>
            </a:r>
          </a:p>
        </p:txBody>
      </p:sp>
      <p:sp>
        <p:nvSpPr>
          <p:cNvPr id="4" name="TextBox 3"/>
          <p:cNvSpPr txBox="1"/>
          <p:nvPr/>
        </p:nvSpPr>
        <p:spPr>
          <a:xfrm>
            <a:off x="457200" y="621792"/>
            <a:ext cx="11274552" cy="292608"/>
          </a:xfrm>
          <a:prstGeom prst="rect">
            <a:avLst/>
          </a:prstGeom>
          <a:noFill/>
        </p:spPr>
        <p:txBody>
          <a:bodyPr wrap="square">
            <a:spAutoFit/>
          </a:bodyPr>
          <a:lstStyle/>
          <a:p>
            <a:pPr algn="l"/>
            <a:r>
              <a:rPr sz="1000" b="0" i="0">
                <a:solidFill>
                  <a:srgbClr val="7EAA95"/>
                </a:solidFill>
                <a:latin typeface="Aptos Display"/>
              </a:rPr>
              <a:t>Sin ground truth — caracteriza comportamiento bajo cambio de distribución</a:t>
            </a:r>
          </a:p>
        </p:txBody>
      </p:sp>
      <p:sp>
        <p:nvSpPr>
          <p:cNvPr id="5" name="TextBox 4"/>
          <p:cNvSpPr txBox="1"/>
          <p:nvPr/>
        </p:nvSpPr>
        <p:spPr>
          <a:xfrm>
            <a:off x="457200" y="6537960"/>
            <a:ext cx="8229600" cy="274320"/>
          </a:xfrm>
          <a:prstGeom prst="rect">
            <a:avLst/>
          </a:prstGeom>
          <a:noFill/>
        </p:spPr>
        <p:txBody>
          <a:bodyPr wrap="square">
            <a:spAutoFit/>
          </a:bodyPr>
          <a:lstStyle/>
          <a:p>
            <a:pPr algn="l"/>
            <a:r>
              <a:rPr sz="800" b="0" i="0">
                <a:solidFill>
                  <a:srgbClr val="7EAA95"/>
                </a:solidFill>
                <a:latin typeface="Aptos Display"/>
              </a:rPr>
              <a:t>SelvaSonic-ML · Aprendizaje Automático · UNAL Medellín</a:t>
            </a:r>
          </a:p>
        </p:txBody>
      </p:sp>
      <p:sp>
        <p:nvSpPr>
          <p:cNvPr id="6" name="TextBox 5"/>
          <p:cNvSpPr txBox="1"/>
          <p:nvPr/>
        </p:nvSpPr>
        <p:spPr>
          <a:xfrm>
            <a:off x="11247120" y="6537960"/>
            <a:ext cx="484632" cy="274320"/>
          </a:xfrm>
          <a:prstGeom prst="rect">
            <a:avLst/>
          </a:prstGeom>
          <a:noFill/>
        </p:spPr>
        <p:txBody>
          <a:bodyPr wrap="square">
            <a:spAutoFit/>
          </a:bodyPr>
          <a:lstStyle/>
          <a:p>
            <a:pPr algn="r"/>
            <a:r>
              <a:rPr sz="800" b="0" i="0">
                <a:solidFill>
                  <a:srgbClr val="7EAA95"/>
                </a:solidFill>
                <a:latin typeface="Aptos Display"/>
              </a:rPr>
              <a:t>20</a:t>
            </a:r>
          </a:p>
        </p:txBody>
      </p:sp>
      <p:sp>
        <p:nvSpPr>
          <p:cNvPr id="7" name="Rounded Rectangle 6"/>
          <p:cNvSpPr/>
          <p:nvPr/>
        </p:nvSpPr>
        <p:spPr>
          <a:xfrm>
            <a:off x="457200" y="987552"/>
            <a:ext cx="7772400" cy="5120640"/>
          </a:xfrm>
          <a:prstGeom prst="roundRect">
            <a:avLst>
              <a:gd name="adj" fmla="val 892"/>
            </a:avLst>
          </a:prstGeom>
          <a:solidFill>
            <a:srgbClr val="FAFAFA"/>
          </a:solidFill>
          <a:ln w="25400">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istribuciones_por_audio.png"/>
          <p:cNvPicPr>
            <a:picLocks noChangeAspect="1"/>
          </p:cNvPicPr>
          <p:nvPr/>
        </p:nvPicPr>
        <p:blipFill>
          <a:blip r:embed="rId3"/>
          <a:stretch>
            <a:fillRect/>
          </a:stretch>
        </p:blipFill>
        <p:spPr>
          <a:xfrm>
            <a:off x="2286918" y="1042416"/>
            <a:ext cx="4112963" cy="5010912"/>
          </a:xfrm>
          <a:prstGeom prst="rect">
            <a:avLst/>
          </a:prstGeom>
        </p:spPr>
      </p:pic>
      <p:sp>
        <p:nvSpPr>
          <p:cNvPr id="9" name="Rectangle 8"/>
          <p:cNvSpPr/>
          <p:nvPr/>
        </p:nvSpPr>
        <p:spPr>
          <a:xfrm>
            <a:off x="8321040" y="987552"/>
            <a:ext cx="3410712" cy="5120640"/>
          </a:xfrm>
          <a:prstGeom prst="rect">
            <a:avLst/>
          </a:prstGeom>
          <a:solidFill>
            <a:srgbClr val="0B2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58200" y="1097280"/>
            <a:ext cx="3154680" cy="4937760"/>
          </a:xfrm>
          <a:prstGeom prst="rect">
            <a:avLst/>
          </a:prstGeom>
          <a:noFill/>
        </p:spPr>
        <p:txBody>
          <a:bodyPr wrap="square">
            <a:spAutoFit/>
          </a:bodyPr>
          <a:lstStyle/>
          <a:p>
            <a:pPr algn="l"/>
            <a:r>
              <a:rPr sz="1000" b="1">
                <a:solidFill>
                  <a:srgbClr val="21D4D4"/>
                </a:solidFill>
                <a:latin typeface="Aptos Display"/>
              </a:rPr>
              <a:t>Métricas de campo</a:t>
            </a:r>
          </a:p>
          <a:p>
            <a:pPr algn="l"/>
            <a:r>
              <a:rPr sz="300" b="0">
                <a:solidFill>
                  <a:srgbClr val="B5D3C3"/>
                </a:solidFill>
                <a:latin typeface="Aptos Display"/>
              </a:rPr>
              <a:t> </a:t>
            </a:r>
          </a:p>
          <a:p>
            <a:pPr algn="l"/>
            <a:r>
              <a:rPr sz="900" b="0">
                <a:solidFill>
                  <a:srgbClr val="7EAA95"/>
                </a:solidFill>
                <a:latin typeface="Aptos Display"/>
              </a:rPr>
              <a:t>Confianza media</a:t>
            </a:r>
          </a:p>
          <a:p>
            <a:pPr algn="l"/>
            <a:r>
              <a:rPr sz="1000" b="0">
                <a:solidFill>
                  <a:srgbClr val="B5D3C3"/>
                </a:solidFill>
                <a:latin typeface="Aptos Display"/>
              </a:rPr>
              <a:t>Baseline:  0.40</a:t>
            </a:r>
          </a:p>
          <a:p>
            <a:pPr algn="l"/>
            <a:r>
              <a:rPr sz="1000" b="0">
                <a:solidFill>
                  <a:srgbClr val="FF9F1C"/>
                </a:solidFill>
                <a:latin typeface="Aptos Display"/>
              </a:rPr>
              <a:t>Att. v1:   0.59  (más alta)</a:t>
            </a:r>
          </a:p>
          <a:p>
            <a:pPr algn="l"/>
            <a:r>
              <a:rPr sz="1000" b="0">
                <a:solidFill>
                  <a:srgbClr val="21D4D4"/>
                </a:solidFill>
                <a:latin typeface="Aptos Display"/>
              </a:rPr>
              <a:t>Att. v2:   0.42  (más baja ⭐)</a:t>
            </a:r>
          </a:p>
          <a:p>
            <a:pPr algn="l"/>
            <a:r>
              <a:rPr sz="300" b="0">
                <a:solidFill>
                  <a:srgbClr val="B5D3C3"/>
                </a:solidFill>
                <a:latin typeface="Aptos Display"/>
              </a:rPr>
              <a:t> </a:t>
            </a:r>
          </a:p>
          <a:p>
            <a:pPr algn="l"/>
            <a:r>
              <a:rPr sz="900" b="0">
                <a:solidFill>
                  <a:srgbClr val="7EAA95"/>
                </a:solidFill>
                <a:latin typeface="Aptos Display"/>
              </a:rPr>
              <a:t>% no_identificado (θ=0.6)</a:t>
            </a:r>
          </a:p>
          <a:p>
            <a:pPr algn="l"/>
            <a:r>
              <a:rPr sz="1000" b="0">
                <a:solidFill>
                  <a:srgbClr val="B5D3C3"/>
                </a:solidFill>
                <a:latin typeface="Aptos Display"/>
              </a:rPr>
              <a:t>Baseline:  90.2 %</a:t>
            </a:r>
          </a:p>
          <a:p>
            <a:pPr algn="l"/>
            <a:r>
              <a:rPr sz="1000" b="0">
                <a:solidFill>
                  <a:srgbClr val="FF9F1C"/>
                </a:solidFill>
                <a:latin typeface="Aptos Display"/>
              </a:rPr>
              <a:t>Att. v1:   42.0 %</a:t>
            </a:r>
          </a:p>
          <a:p>
            <a:pPr algn="l"/>
            <a:r>
              <a:rPr sz="1000" b="0">
                <a:solidFill>
                  <a:srgbClr val="21D4D4"/>
                </a:solidFill>
                <a:latin typeface="Aptos Display"/>
              </a:rPr>
              <a:t>Att. v2:   ver hist.</a:t>
            </a:r>
          </a:p>
          <a:p>
            <a:pPr algn="l"/>
            <a:r>
              <a:rPr sz="300" b="0">
                <a:solidFill>
                  <a:srgbClr val="B5D3C3"/>
                </a:solidFill>
                <a:latin typeface="Aptos Display"/>
              </a:rPr>
              <a:t> </a:t>
            </a:r>
          </a:p>
          <a:p>
            <a:pPr algn="l"/>
            <a:r>
              <a:rPr sz="900" b="0">
                <a:solidFill>
                  <a:srgbClr val="7EAA95"/>
                </a:solidFill>
                <a:latin typeface="Aptos Display"/>
              </a:rPr>
              <a:t>Acuerdo B↔v1 (clip a clip)</a:t>
            </a:r>
          </a:p>
          <a:p>
            <a:pPr algn="l"/>
            <a:r>
              <a:rPr sz="1000" b="0">
                <a:solidFill>
                  <a:srgbClr val="B5D3C3"/>
                </a:solidFill>
                <a:latin typeface="Aptos Display"/>
              </a:rPr>
              <a:t>37.9 %  (37.5 % no_ident.)</a:t>
            </a:r>
          </a:p>
        </p:txBody>
      </p:sp>
      <p:sp>
        <p:nvSpPr>
          <p:cNvPr id="11" name="Rectangle 10"/>
          <p:cNvSpPr/>
          <p:nvPr/>
        </p:nvSpPr>
        <p:spPr>
          <a:xfrm>
            <a:off x="457200" y="6236208"/>
            <a:ext cx="7772400" cy="384048"/>
          </a:xfrm>
          <a:prstGeom prst="rect">
            <a:avLst/>
          </a:prstGeom>
          <a:solidFill>
            <a:srgbClr val="0F3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6272784"/>
            <a:ext cx="7498079" cy="320040"/>
          </a:xfrm>
          <a:prstGeom prst="rect">
            <a:avLst/>
          </a:prstGeom>
          <a:noFill/>
        </p:spPr>
        <p:txBody>
          <a:bodyPr wrap="square">
            <a:spAutoFit/>
          </a:bodyPr>
          <a:lstStyle/>
          <a:p>
            <a:pPr algn="l"/>
            <a:r>
              <a:rPr sz="900" b="0" i="0">
                <a:solidFill>
                  <a:srgbClr val="B5D3C3"/>
                </a:solidFill>
                <a:latin typeface="Aptos Display"/>
              </a:rPr>
              <a:t>Lectura responsable: sin etiquetas de expertos, no se puede calcular accuracy en campo. La confianza más baja de v2 en audios OOD es DESEABLE: label smoothing + class weights reducen overconfidence, exactamente el objetivo de diseño para despliegue seguro.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jungle_bg.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64592"/>
            <a:ext cx="11274552" cy="475488"/>
          </a:xfrm>
          <a:prstGeom prst="rect">
            <a:avLst/>
          </a:prstGeom>
          <a:noFill/>
        </p:spPr>
        <p:txBody>
          <a:bodyPr wrap="square">
            <a:spAutoFit/>
          </a:bodyPr>
          <a:lstStyle/>
          <a:p>
            <a:pPr algn="l"/>
            <a:r>
              <a:rPr sz="2100" b="1" i="0">
                <a:solidFill>
                  <a:srgbClr val="EFFCF5"/>
                </a:solidFill>
                <a:latin typeface="Aptos Display"/>
              </a:rPr>
              <a:t>17. Limitaciones honestas</a:t>
            </a:r>
          </a:p>
        </p:txBody>
      </p:sp>
      <p:sp>
        <p:nvSpPr>
          <p:cNvPr id="4" name="TextBox 3"/>
          <p:cNvSpPr txBox="1"/>
          <p:nvPr/>
        </p:nvSpPr>
        <p:spPr>
          <a:xfrm>
            <a:off x="457200" y="621792"/>
            <a:ext cx="11274552" cy="292608"/>
          </a:xfrm>
          <a:prstGeom prst="rect">
            <a:avLst/>
          </a:prstGeom>
          <a:noFill/>
        </p:spPr>
        <p:txBody>
          <a:bodyPr wrap="square">
            <a:spAutoFit/>
          </a:bodyPr>
          <a:lstStyle/>
          <a:p>
            <a:pPr algn="l"/>
            <a:r>
              <a:rPr sz="1000" b="0" i="0">
                <a:solidFill>
                  <a:srgbClr val="7EAA95"/>
                </a:solidFill>
                <a:latin typeface="Aptos Display"/>
              </a:rPr>
              <a:t>Una evaluación científica rigorosa incluye sus propias restricciones</a:t>
            </a:r>
          </a:p>
        </p:txBody>
      </p:sp>
      <p:sp>
        <p:nvSpPr>
          <p:cNvPr id="5" name="TextBox 4"/>
          <p:cNvSpPr txBox="1"/>
          <p:nvPr/>
        </p:nvSpPr>
        <p:spPr>
          <a:xfrm>
            <a:off x="457200" y="6537960"/>
            <a:ext cx="8229600" cy="274320"/>
          </a:xfrm>
          <a:prstGeom prst="rect">
            <a:avLst/>
          </a:prstGeom>
          <a:noFill/>
        </p:spPr>
        <p:txBody>
          <a:bodyPr wrap="square">
            <a:spAutoFit/>
          </a:bodyPr>
          <a:lstStyle/>
          <a:p>
            <a:pPr algn="l"/>
            <a:r>
              <a:rPr sz="800" b="0" i="0">
                <a:solidFill>
                  <a:srgbClr val="7EAA95"/>
                </a:solidFill>
                <a:latin typeface="Aptos Display"/>
              </a:rPr>
              <a:t>SelvaSonic-ML · Aprendizaje Automático · UNAL Medellín</a:t>
            </a:r>
          </a:p>
        </p:txBody>
      </p:sp>
      <p:sp>
        <p:nvSpPr>
          <p:cNvPr id="6" name="TextBox 5"/>
          <p:cNvSpPr txBox="1"/>
          <p:nvPr/>
        </p:nvSpPr>
        <p:spPr>
          <a:xfrm>
            <a:off x="11247120" y="6537960"/>
            <a:ext cx="484632" cy="274320"/>
          </a:xfrm>
          <a:prstGeom prst="rect">
            <a:avLst/>
          </a:prstGeom>
          <a:noFill/>
        </p:spPr>
        <p:txBody>
          <a:bodyPr wrap="square">
            <a:spAutoFit/>
          </a:bodyPr>
          <a:lstStyle/>
          <a:p>
            <a:pPr algn="r"/>
            <a:r>
              <a:rPr sz="800" b="0" i="0">
                <a:solidFill>
                  <a:srgbClr val="7EAA95"/>
                </a:solidFill>
                <a:latin typeface="Aptos Display"/>
              </a:rPr>
              <a:t>21</a:t>
            </a:r>
          </a:p>
        </p:txBody>
      </p:sp>
      <p:sp>
        <p:nvSpPr>
          <p:cNvPr id="7" name="Rectangle 6"/>
          <p:cNvSpPr/>
          <p:nvPr/>
        </p:nvSpPr>
        <p:spPr>
          <a:xfrm>
            <a:off x="457200" y="1005840"/>
            <a:ext cx="3657600" cy="2148840"/>
          </a:xfrm>
          <a:prstGeom prst="rect">
            <a:avLst/>
          </a:prstGeom>
          <a:solidFill>
            <a:srgbClr val="0B2B27"/>
          </a:solidFill>
          <a:ln w="6350">
            <a:solidFill>
              <a:srgbClr val="FF9F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097280"/>
            <a:ext cx="3429000" cy="292608"/>
          </a:xfrm>
          <a:prstGeom prst="rect">
            <a:avLst/>
          </a:prstGeom>
          <a:noFill/>
        </p:spPr>
        <p:txBody>
          <a:bodyPr wrap="square">
            <a:spAutoFit/>
          </a:bodyPr>
          <a:lstStyle/>
          <a:p>
            <a:pPr algn="l"/>
            <a:r>
              <a:rPr sz="950" b="1" i="0">
                <a:solidFill>
                  <a:srgbClr val="FF9F1C"/>
                </a:solidFill>
                <a:latin typeface="Aptos Display"/>
              </a:rPr>
              <a:t>Desbalance parcialmente resuelto</a:t>
            </a:r>
          </a:p>
        </p:txBody>
      </p:sp>
      <p:sp>
        <p:nvSpPr>
          <p:cNvPr id="9" name="TextBox 8"/>
          <p:cNvSpPr txBox="1"/>
          <p:nvPr/>
        </p:nvSpPr>
        <p:spPr>
          <a:xfrm>
            <a:off x="566928" y="1426464"/>
            <a:ext cx="3429000" cy="1645920"/>
          </a:xfrm>
          <a:prstGeom prst="rect">
            <a:avLst/>
          </a:prstGeom>
          <a:noFill/>
        </p:spPr>
        <p:txBody>
          <a:bodyPr wrap="square">
            <a:spAutoFit/>
          </a:bodyPr>
          <a:lstStyle/>
          <a:p>
            <a:pPr algn="l"/>
            <a:r>
              <a:rPr sz="850" b="0" i="0">
                <a:solidFill>
                  <a:srgbClr val="B5D3C3"/>
                </a:solidFill>
                <a:latin typeface="Aptos Display"/>
              </a:rPr>
              <a:t>Los class weights reducen el gap de F1 entre clases, pero Celeus grammicus (F1=0.19) y Rupornis magnirostris (F1=0.25) siguen por debajo de 0.5. El desbalance en train (12:1 Trogon vs Chordeiles) supera lo que los pesos pueden compensar sin más datos.</a:t>
            </a:r>
          </a:p>
        </p:txBody>
      </p:sp>
      <p:sp>
        <p:nvSpPr>
          <p:cNvPr id="10" name="Rectangle 9"/>
          <p:cNvSpPr/>
          <p:nvPr/>
        </p:nvSpPr>
        <p:spPr>
          <a:xfrm>
            <a:off x="4297680" y="1005840"/>
            <a:ext cx="3657600" cy="2148840"/>
          </a:xfrm>
          <a:prstGeom prst="rect">
            <a:avLst/>
          </a:prstGeom>
          <a:solidFill>
            <a:srgbClr val="0B2B27"/>
          </a:solidFill>
          <a:ln w="6350">
            <a:solidFill>
              <a:srgbClr val="FF9F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07408" y="1097280"/>
            <a:ext cx="3429000" cy="292608"/>
          </a:xfrm>
          <a:prstGeom prst="rect">
            <a:avLst/>
          </a:prstGeom>
          <a:noFill/>
        </p:spPr>
        <p:txBody>
          <a:bodyPr wrap="square">
            <a:spAutoFit/>
          </a:bodyPr>
          <a:lstStyle/>
          <a:p>
            <a:pPr algn="l"/>
            <a:r>
              <a:rPr sz="950" b="1" i="0">
                <a:solidFill>
                  <a:srgbClr val="FF9F1C"/>
                </a:solidFill>
                <a:latin typeface="Aptos Display"/>
              </a:rPr>
              <a:t>Campo real ≠ dataset curado</a:t>
            </a:r>
          </a:p>
        </p:txBody>
      </p:sp>
      <p:sp>
        <p:nvSpPr>
          <p:cNvPr id="12" name="TextBox 11"/>
          <p:cNvSpPr txBox="1"/>
          <p:nvPr/>
        </p:nvSpPr>
        <p:spPr>
          <a:xfrm>
            <a:off x="4407408" y="1426464"/>
            <a:ext cx="3429000" cy="1645920"/>
          </a:xfrm>
          <a:prstGeom prst="rect">
            <a:avLst/>
          </a:prstGeom>
          <a:noFill/>
        </p:spPr>
        <p:txBody>
          <a:bodyPr wrap="square">
            <a:spAutoFit/>
          </a:bodyPr>
          <a:lstStyle/>
          <a:p>
            <a:pPr algn="l"/>
            <a:r>
              <a:rPr sz="850" b="0" i="0">
                <a:solidFill>
                  <a:srgbClr val="B5D3C3"/>
                </a:solidFill>
                <a:latin typeface="Aptos Display"/>
              </a:rPr>
              <a:t>Los audios de Puerto Nariño tienen polución de ruido, superposición de cantos y especies no presentes en el dataset. El modelo fue entrenado sobre clips curados de Xeno-canto (grabaciones de expertos, condiciones ideales).</a:t>
            </a:r>
          </a:p>
        </p:txBody>
      </p:sp>
      <p:sp>
        <p:nvSpPr>
          <p:cNvPr id="13" name="Rectangle 12"/>
          <p:cNvSpPr/>
          <p:nvPr/>
        </p:nvSpPr>
        <p:spPr>
          <a:xfrm>
            <a:off x="8138160" y="1005840"/>
            <a:ext cx="3657600" cy="2148840"/>
          </a:xfrm>
          <a:prstGeom prst="rect">
            <a:avLst/>
          </a:prstGeom>
          <a:solidFill>
            <a:srgbClr val="0B2B27"/>
          </a:solidFill>
          <a:ln w="6350">
            <a:solidFill>
              <a:srgbClr val="FF5C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47888" y="1097280"/>
            <a:ext cx="3429000" cy="292608"/>
          </a:xfrm>
          <a:prstGeom prst="rect">
            <a:avLst/>
          </a:prstGeom>
          <a:noFill/>
        </p:spPr>
        <p:txBody>
          <a:bodyPr wrap="square">
            <a:spAutoFit/>
          </a:bodyPr>
          <a:lstStyle/>
          <a:p>
            <a:pPr algn="l"/>
            <a:r>
              <a:rPr sz="950" b="1" i="0">
                <a:solidFill>
                  <a:srgbClr val="FF5C7A"/>
                </a:solidFill>
                <a:latin typeface="Aptos Display"/>
              </a:rPr>
              <a:t>Salida de etiqueta única</a:t>
            </a:r>
          </a:p>
        </p:txBody>
      </p:sp>
      <p:sp>
        <p:nvSpPr>
          <p:cNvPr id="15" name="TextBox 14"/>
          <p:cNvSpPr txBox="1"/>
          <p:nvPr/>
        </p:nvSpPr>
        <p:spPr>
          <a:xfrm>
            <a:off x="8247888" y="1426464"/>
            <a:ext cx="3429000" cy="1645920"/>
          </a:xfrm>
          <a:prstGeom prst="rect">
            <a:avLst/>
          </a:prstGeom>
          <a:noFill/>
        </p:spPr>
        <p:txBody>
          <a:bodyPr wrap="square">
            <a:spAutoFit/>
          </a:bodyPr>
          <a:lstStyle/>
          <a:p>
            <a:pPr algn="l"/>
            <a:r>
              <a:rPr sz="850" b="0" i="0">
                <a:solidFill>
                  <a:srgbClr val="B5D3C3"/>
                </a:solidFill>
                <a:latin typeface="Aptos Display"/>
              </a:rPr>
              <a:t>La capa softmax fuerza a elegir una clase. En audios con múltiples especies vocalizando simultáneamente, el modelo debe escoger una (o decir no_identificado). La solución es migrar a sigmoid multi-label.</a:t>
            </a:r>
          </a:p>
        </p:txBody>
      </p:sp>
      <p:sp>
        <p:nvSpPr>
          <p:cNvPr id="16" name="Rectangle 15"/>
          <p:cNvSpPr/>
          <p:nvPr/>
        </p:nvSpPr>
        <p:spPr>
          <a:xfrm>
            <a:off x="685800" y="3383280"/>
            <a:ext cx="5303520" cy="2148840"/>
          </a:xfrm>
          <a:prstGeom prst="rect">
            <a:avLst/>
          </a:prstGeom>
          <a:solidFill>
            <a:srgbClr val="0B2B27"/>
          </a:solidFill>
          <a:ln w="6350">
            <a:solidFill>
              <a:srgbClr val="FF5C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474720"/>
            <a:ext cx="5074920" cy="292608"/>
          </a:xfrm>
          <a:prstGeom prst="rect">
            <a:avLst/>
          </a:prstGeom>
          <a:noFill/>
        </p:spPr>
        <p:txBody>
          <a:bodyPr wrap="square">
            <a:spAutoFit/>
          </a:bodyPr>
          <a:lstStyle/>
          <a:p>
            <a:pPr algn="l"/>
            <a:r>
              <a:rPr sz="950" b="1" i="0">
                <a:solidFill>
                  <a:srgbClr val="FF5C7A"/>
                </a:solidFill>
                <a:latin typeface="Aptos Display"/>
              </a:rPr>
              <a:t>Detección antes de clasificación</a:t>
            </a:r>
          </a:p>
        </p:txBody>
      </p:sp>
      <p:sp>
        <p:nvSpPr>
          <p:cNvPr id="18" name="TextBox 17"/>
          <p:cNvSpPr txBox="1"/>
          <p:nvPr/>
        </p:nvSpPr>
        <p:spPr>
          <a:xfrm>
            <a:off x="795528" y="3803904"/>
            <a:ext cx="5074920" cy="1645920"/>
          </a:xfrm>
          <a:prstGeom prst="rect">
            <a:avLst/>
          </a:prstGeom>
          <a:noFill/>
        </p:spPr>
        <p:txBody>
          <a:bodyPr wrap="square">
            <a:spAutoFit/>
          </a:bodyPr>
          <a:lstStyle/>
          <a:p>
            <a:pPr algn="l"/>
            <a:r>
              <a:rPr sz="850" b="0" i="0">
                <a:solidFill>
                  <a:srgbClr val="B5D3C3"/>
                </a:solidFill>
                <a:latin typeface="Aptos Display"/>
              </a:rPr>
              <a:t>El pipeline asume que hay vocalización en el clip. Sin un VAD (Voice Activity Detector) bioacústico previo, los clips de silencio se clasifican en alguna clase, inflando la tasa de falsos positivos.</a:t>
            </a:r>
          </a:p>
        </p:txBody>
      </p:sp>
      <p:sp>
        <p:nvSpPr>
          <p:cNvPr id="19" name="Rectangle 18"/>
          <p:cNvSpPr/>
          <p:nvPr/>
        </p:nvSpPr>
        <p:spPr>
          <a:xfrm>
            <a:off x="6400800" y="3383280"/>
            <a:ext cx="5303520" cy="2148840"/>
          </a:xfrm>
          <a:prstGeom prst="rect">
            <a:avLst/>
          </a:prstGeom>
          <a:solidFill>
            <a:srgbClr val="0B2B27"/>
          </a:solidFill>
          <a:ln w="6350">
            <a:solidFill>
              <a:srgbClr val="7EAA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10528" y="3474720"/>
            <a:ext cx="5074920" cy="292608"/>
          </a:xfrm>
          <a:prstGeom prst="rect">
            <a:avLst/>
          </a:prstGeom>
          <a:noFill/>
        </p:spPr>
        <p:txBody>
          <a:bodyPr wrap="square">
            <a:spAutoFit/>
          </a:bodyPr>
          <a:lstStyle/>
          <a:p>
            <a:pPr algn="l"/>
            <a:r>
              <a:rPr sz="950" b="1" i="0">
                <a:solidFill>
                  <a:srgbClr val="7EAA95"/>
                </a:solidFill>
                <a:latin typeface="Aptos Display"/>
              </a:rPr>
              <a:t>Umbral de confianza sin calibrar formalmente</a:t>
            </a:r>
          </a:p>
        </p:txBody>
      </p:sp>
      <p:sp>
        <p:nvSpPr>
          <p:cNvPr id="21" name="TextBox 20"/>
          <p:cNvSpPr txBox="1"/>
          <p:nvPr/>
        </p:nvSpPr>
        <p:spPr>
          <a:xfrm>
            <a:off x="6510528" y="3803904"/>
            <a:ext cx="5074920" cy="1645920"/>
          </a:xfrm>
          <a:prstGeom prst="rect">
            <a:avLst/>
          </a:prstGeom>
          <a:noFill/>
        </p:spPr>
        <p:txBody>
          <a:bodyPr wrap="square">
            <a:spAutoFit/>
          </a:bodyPr>
          <a:lstStyle/>
          <a:p>
            <a:pPr algn="l"/>
            <a:r>
              <a:rPr sz="850" b="0" i="0">
                <a:solidFill>
                  <a:srgbClr val="B5D3C3"/>
                </a:solidFill>
                <a:latin typeface="Aptos Display"/>
              </a:rPr>
              <a:t>El umbral θ=0.6 para 'no_identificado' se eligió de forma exploratoria. Una calibración rigurosa requeriría un val set independiente con anotaciones de experto para optimizar precision-recall en cada especie.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jungle_bg.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64592"/>
            <a:ext cx="11274552" cy="475488"/>
          </a:xfrm>
          <a:prstGeom prst="rect">
            <a:avLst/>
          </a:prstGeom>
          <a:noFill/>
        </p:spPr>
        <p:txBody>
          <a:bodyPr wrap="square">
            <a:spAutoFit/>
          </a:bodyPr>
          <a:lstStyle/>
          <a:p>
            <a:pPr algn="l"/>
            <a:r>
              <a:rPr sz="2100" b="1" i="0">
                <a:solidFill>
                  <a:srgbClr val="EFFCF5"/>
                </a:solidFill>
                <a:latin typeface="Aptos Display"/>
              </a:rPr>
              <a:t>18. Trabajo futuro</a:t>
            </a:r>
          </a:p>
        </p:txBody>
      </p:sp>
      <p:sp>
        <p:nvSpPr>
          <p:cNvPr id="4" name="TextBox 3"/>
          <p:cNvSpPr txBox="1"/>
          <p:nvPr/>
        </p:nvSpPr>
        <p:spPr>
          <a:xfrm>
            <a:off x="457200" y="621792"/>
            <a:ext cx="11274552" cy="292608"/>
          </a:xfrm>
          <a:prstGeom prst="rect">
            <a:avLst/>
          </a:prstGeom>
          <a:noFill/>
        </p:spPr>
        <p:txBody>
          <a:bodyPr wrap="square">
            <a:spAutoFit/>
          </a:bodyPr>
          <a:lstStyle/>
          <a:p>
            <a:pPr algn="l"/>
            <a:r>
              <a:rPr sz="1000" b="0" i="0">
                <a:solidFill>
                  <a:srgbClr val="7EAA95"/>
                </a:solidFill>
                <a:latin typeface="Aptos Display"/>
              </a:rPr>
              <a:t>Ruta hacia un sistema de monitoreo bioacústico operativo</a:t>
            </a:r>
          </a:p>
        </p:txBody>
      </p:sp>
      <p:sp>
        <p:nvSpPr>
          <p:cNvPr id="5" name="TextBox 4"/>
          <p:cNvSpPr txBox="1"/>
          <p:nvPr/>
        </p:nvSpPr>
        <p:spPr>
          <a:xfrm>
            <a:off x="457200" y="6537960"/>
            <a:ext cx="8229600" cy="274320"/>
          </a:xfrm>
          <a:prstGeom prst="rect">
            <a:avLst/>
          </a:prstGeom>
          <a:noFill/>
        </p:spPr>
        <p:txBody>
          <a:bodyPr wrap="square">
            <a:spAutoFit/>
          </a:bodyPr>
          <a:lstStyle/>
          <a:p>
            <a:pPr algn="l"/>
            <a:r>
              <a:rPr sz="800" b="0" i="0">
                <a:solidFill>
                  <a:srgbClr val="7EAA95"/>
                </a:solidFill>
                <a:latin typeface="Aptos Display"/>
              </a:rPr>
              <a:t>SelvaSonic-ML · Aprendizaje Automático · UNAL Medellín</a:t>
            </a:r>
          </a:p>
        </p:txBody>
      </p:sp>
      <p:sp>
        <p:nvSpPr>
          <p:cNvPr id="6" name="TextBox 5"/>
          <p:cNvSpPr txBox="1"/>
          <p:nvPr/>
        </p:nvSpPr>
        <p:spPr>
          <a:xfrm>
            <a:off x="11247120" y="6537960"/>
            <a:ext cx="484632" cy="274320"/>
          </a:xfrm>
          <a:prstGeom prst="rect">
            <a:avLst/>
          </a:prstGeom>
          <a:noFill/>
        </p:spPr>
        <p:txBody>
          <a:bodyPr wrap="square">
            <a:spAutoFit/>
          </a:bodyPr>
          <a:lstStyle/>
          <a:p>
            <a:pPr algn="r"/>
            <a:r>
              <a:rPr sz="800" b="0" i="0">
                <a:solidFill>
                  <a:srgbClr val="7EAA95"/>
                </a:solidFill>
                <a:latin typeface="Aptos Display"/>
              </a:rPr>
              <a:t>22</a:t>
            </a:r>
          </a:p>
        </p:txBody>
      </p:sp>
      <p:sp>
        <p:nvSpPr>
          <p:cNvPr id="7" name="Rounded Rectangle 6"/>
          <p:cNvSpPr/>
          <p:nvPr/>
        </p:nvSpPr>
        <p:spPr>
          <a:xfrm>
            <a:off x="457200" y="1005840"/>
            <a:ext cx="11274552" cy="960120"/>
          </a:xfrm>
          <a:prstGeom prst="roundRect">
            <a:avLst/>
          </a:prstGeom>
          <a:solidFill>
            <a:srgbClr val="0B2B27"/>
          </a:solidFill>
          <a:ln w="6350">
            <a:solidFill>
              <a:srgbClr val="21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078992"/>
            <a:ext cx="3200400" cy="320040"/>
          </a:xfrm>
          <a:prstGeom prst="rect">
            <a:avLst/>
          </a:prstGeom>
          <a:noFill/>
        </p:spPr>
        <p:txBody>
          <a:bodyPr wrap="square">
            <a:spAutoFit/>
          </a:bodyPr>
          <a:lstStyle/>
          <a:p>
            <a:pPr algn="l"/>
            <a:r>
              <a:rPr sz="1000" b="1" i="0">
                <a:solidFill>
                  <a:srgbClr val="21D4D4"/>
                </a:solidFill>
                <a:latin typeface="Aptos Display"/>
              </a:rPr>
              <a:t>Escalar a 50+ especies</a:t>
            </a:r>
          </a:p>
        </p:txBody>
      </p:sp>
      <p:sp>
        <p:nvSpPr>
          <p:cNvPr id="9" name="TextBox 8"/>
          <p:cNvSpPr txBox="1"/>
          <p:nvPr/>
        </p:nvSpPr>
        <p:spPr>
          <a:xfrm>
            <a:off x="3931920" y="1078992"/>
            <a:ext cx="7589520" cy="777240"/>
          </a:xfrm>
          <a:prstGeom prst="rect">
            <a:avLst/>
          </a:prstGeom>
          <a:noFill/>
        </p:spPr>
        <p:txBody>
          <a:bodyPr wrap="square">
            <a:spAutoFit/>
          </a:bodyPr>
          <a:lstStyle/>
          <a:p>
            <a:pPr algn="l"/>
            <a:r>
              <a:rPr sz="950" b="0" i="0">
                <a:solidFill>
                  <a:srgbClr val="B5D3C3"/>
                </a:solidFill>
                <a:latin typeface="Aptos Display"/>
              </a:rPr>
              <a:t>Integrar BirdCLEF 2024 + Xeno-canto Colombia. Modelo actual: 10 sp. amazónicas. Siguiente paso: cubrir los ~300 sp. del Trapecio Amazónico.</a:t>
            </a:r>
          </a:p>
        </p:txBody>
      </p:sp>
      <p:sp>
        <p:nvSpPr>
          <p:cNvPr id="10" name="Rounded Rectangle 9"/>
          <p:cNvSpPr/>
          <p:nvPr/>
        </p:nvSpPr>
        <p:spPr>
          <a:xfrm>
            <a:off x="457200" y="2057400"/>
            <a:ext cx="11274552" cy="960120"/>
          </a:xfrm>
          <a:prstGeom prst="roundRect">
            <a:avLst/>
          </a:prstGeom>
          <a:solidFill>
            <a:srgbClr val="0B2B27"/>
          </a:solidFill>
          <a:ln w="6350">
            <a:solidFill>
              <a:srgbClr val="33D1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130552"/>
            <a:ext cx="3200400" cy="320040"/>
          </a:xfrm>
          <a:prstGeom prst="rect">
            <a:avLst/>
          </a:prstGeom>
          <a:noFill/>
        </p:spPr>
        <p:txBody>
          <a:bodyPr wrap="square">
            <a:spAutoFit/>
          </a:bodyPr>
          <a:lstStyle/>
          <a:p>
            <a:pPr algn="l"/>
            <a:r>
              <a:rPr sz="1000" b="1" i="0">
                <a:solidFill>
                  <a:srgbClr val="33D17A"/>
                </a:solidFill>
                <a:latin typeface="Aptos Display"/>
              </a:rPr>
              <a:t>Calibración post-hoc con temperature scaling</a:t>
            </a:r>
          </a:p>
        </p:txBody>
      </p:sp>
      <p:sp>
        <p:nvSpPr>
          <p:cNvPr id="12" name="TextBox 11"/>
          <p:cNvSpPr txBox="1"/>
          <p:nvPr/>
        </p:nvSpPr>
        <p:spPr>
          <a:xfrm>
            <a:off x="3931920" y="2130552"/>
            <a:ext cx="7589520" cy="777240"/>
          </a:xfrm>
          <a:prstGeom prst="rect">
            <a:avLst/>
          </a:prstGeom>
          <a:noFill/>
        </p:spPr>
        <p:txBody>
          <a:bodyPr wrap="square">
            <a:spAutoFit/>
          </a:bodyPr>
          <a:lstStyle/>
          <a:p>
            <a:pPr algn="l"/>
            <a:r>
              <a:rPr sz="950" b="0" i="0">
                <a:solidFill>
                  <a:srgbClr val="B5D3C3"/>
                </a:solidFill>
                <a:latin typeface="Aptos Display"/>
              </a:rPr>
              <a:t>Aplicar temperature scaling (Guo et al. 2017) sobre v2 para mejorar ECE sin cambiar la arquitectura. Requiere val set independiente anotado.</a:t>
            </a:r>
          </a:p>
        </p:txBody>
      </p:sp>
      <p:sp>
        <p:nvSpPr>
          <p:cNvPr id="13" name="Rounded Rectangle 12"/>
          <p:cNvSpPr/>
          <p:nvPr/>
        </p:nvSpPr>
        <p:spPr>
          <a:xfrm>
            <a:off x="457200" y="3108960"/>
            <a:ext cx="11274552" cy="960120"/>
          </a:xfrm>
          <a:prstGeom prst="roundRect">
            <a:avLst/>
          </a:prstGeom>
          <a:solidFill>
            <a:srgbClr val="0B2B27"/>
          </a:solidFill>
          <a:ln w="6350">
            <a:solidFill>
              <a:srgbClr val="F4D3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182112"/>
            <a:ext cx="3200400" cy="320040"/>
          </a:xfrm>
          <a:prstGeom prst="rect">
            <a:avLst/>
          </a:prstGeom>
          <a:noFill/>
        </p:spPr>
        <p:txBody>
          <a:bodyPr wrap="square">
            <a:spAutoFit/>
          </a:bodyPr>
          <a:lstStyle/>
          <a:p>
            <a:pPr algn="l"/>
            <a:r>
              <a:rPr sz="1000" b="1" i="0">
                <a:solidFill>
                  <a:srgbClr val="F4D35E"/>
                </a:solidFill>
                <a:latin typeface="Aptos Display"/>
              </a:rPr>
              <a:t>Transfer learning desde BirdNET o PANNs</a:t>
            </a:r>
          </a:p>
        </p:txBody>
      </p:sp>
      <p:sp>
        <p:nvSpPr>
          <p:cNvPr id="15" name="TextBox 14"/>
          <p:cNvSpPr txBox="1"/>
          <p:nvPr/>
        </p:nvSpPr>
        <p:spPr>
          <a:xfrm>
            <a:off x="3931920" y="3182112"/>
            <a:ext cx="7589520" cy="777240"/>
          </a:xfrm>
          <a:prstGeom prst="rect">
            <a:avLst/>
          </a:prstGeom>
          <a:noFill/>
        </p:spPr>
        <p:txBody>
          <a:bodyPr wrap="square">
            <a:spAutoFit/>
          </a:bodyPr>
          <a:lstStyle/>
          <a:p>
            <a:pPr algn="l"/>
            <a:r>
              <a:rPr sz="950" b="0" i="0">
                <a:solidFill>
                  <a:srgbClr val="B5D3C3"/>
                </a:solidFill>
                <a:latin typeface="Aptos Display"/>
              </a:rPr>
              <a:t>Usar embeddings preentrenados como features y fine-tunear las últimas capas. Hipótesis: con datos muy escasos (&lt; 20 grabaciones), el preentrenamiento ayuda.</a:t>
            </a:r>
          </a:p>
        </p:txBody>
      </p:sp>
      <p:sp>
        <p:nvSpPr>
          <p:cNvPr id="16" name="Rounded Rectangle 15"/>
          <p:cNvSpPr/>
          <p:nvPr/>
        </p:nvSpPr>
        <p:spPr>
          <a:xfrm>
            <a:off x="457200" y="4160520"/>
            <a:ext cx="11274552" cy="960120"/>
          </a:xfrm>
          <a:prstGeom prst="roundRect">
            <a:avLst/>
          </a:prstGeom>
          <a:solidFill>
            <a:srgbClr val="0B2B27"/>
          </a:solidFill>
          <a:ln w="6350">
            <a:solidFill>
              <a:srgbClr val="FF9F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4233672"/>
            <a:ext cx="3200400" cy="320040"/>
          </a:xfrm>
          <a:prstGeom prst="rect">
            <a:avLst/>
          </a:prstGeom>
          <a:noFill/>
        </p:spPr>
        <p:txBody>
          <a:bodyPr wrap="square">
            <a:spAutoFit/>
          </a:bodyPr>
          <a:lstStyle/>
          <a:p>
            <a:pPr algn="l"/>
            <a:r>
              <a:rPr sz="1000" b="1" i="0">
                <a:solidFill>
                  <a:srgbClr val="FF9F1C"/>
                </a:solidFill>
                <a:latin typeface="Aptos Display"/>
              </a:rPr>
              <a:t>Multi-label (sigmoid)</a:t>
            </a:r>
          </a:p>
        </p:txBody>
      </p:sp>
      <p:sp>
        <p:nvSpPr>
          <p:cNvPr id="18" name="TextBox 17"/>
          <p:cNvSpPr txBox="1"/>
          <p:nvPr/>
        </p:nvSpPr>
        <p:spPr>
          <a:xfrm>
            <a:off x="3931920" y="4233672"/>
            <a:ext cx="7589520" cy="777240"/>
          </a:xfrm>
          <a:prstGeom prst="rect">
            <a:avLst/>
          </a:prstGeom>
          <a:noFill/>
        </p:spPr>
        <p:txBody>
          <a:bodyPr wrap="square">
            <a:spAutoFit/>
          </a:bodyPr>
          <a:lstStyle/>
          <a:p>
            <a:pPr algn="l"/>
            <a:r>
              <a:rPr sz="950" b="0" i="0">
                <a:solidFill>
                  <a:srgbClr val="B5D3C3"/>
                </a:solidFill>
                <a:latin typeface="Aptos Display"/>
              </a:rPr>
              <a:t>Migrar de softmax a sigmoid para manejar clips con múltiples especies vocalizando simultáneamente. Requiere re-anotar el dataset.</a:t>
            </a:r>
          </a:p>
        </p:txBody>
      </p:sp>
      <p:sp>
        <p:nvSpPr>
          <p:cNvPr id="19" name="Rounded Rectangle 18"/>
          <p:cNvSpPr/>
          <p:nvPr/>
        </p:nvSpPr>
        <p:spPr>
          <a:xfrm>
            <a:off x="457200" y="5212079"/>
            <a:ext cx="11274552" cy="960120"/>
          </a:xfrm>
          <a:prstGeom prst="roundRect">
            <a:avLst/>
          </a:prstGeom>
          <a:solidFill>
            <a:srgbClr val="0B2B27"/>
          </a:solidFill>
          <a:ln w="6350">
            <a:solidFill>
              <a:srgbClr val="FF5C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5285231"/>
            <a:ext cx="3200400" cy="320040"/>
          </a:xfrm>
          <a:prstGeom prst="rect">
            <a:avLst/>
          </a:prstGeom>
          <a:noFill/>
        </p:spPr>
        <p:txBody>
          <a:bodyPr wrap="square">
            <a:spAutoFit/>
          </a:bodyPr>
          <a:lstStyle/>
          <a:p>
            <a:pPr algn="l"/>
            <a:r>
              <a:rPr sz="1000" b="1" i="0">
                <a:solidFill>
                  <a:srgbClr val="FF5C7A"/>
                </a:solidFill>
                <a:latin typeface="Aptos Display"/>
              </a:rPr>
              <a:t>Despliegue en dispositivos edge</a:t>
            </a:r>
          </a:p>
        </p:txBody>
      </p:sp>
      <p:sp>
        <p:nvSpPr>
          <p:cNvPr id="21" name="TextBox 20"/>
          <p:cNvSpPr txBox="1"/>
          <p:nvPr/>
        </p:nvSpPr>
        <p:spPr>
          <a:xfrm>
            <a:off x="3931920" y="5285231"/>
            <a:ext cx="7589520" cy="777240"/>
          </a:xfrm>
          <a:prstGeom prst="rect">
            <a:avLst/>
          </a:prstGeom>
          <a:noFill/>
        </p:spPr>
        <p:txBody>
          <a:bodyPr wrap="square">
            <a:spAutoFit/>
          </a:bodyPr>
          <a:lstStyle/>
          <a:p>
            <a:pPr algn="l"/>
            <a:r>
              <a:rPr sz="950" b="0" i="0">
                <a:solidFill>
                  <a:srgbClr val="B5D3C3"/>
                </a:solidFill>
                <a:latin typeface="Aptos Display"/>
              </a:rPr>
              <a:t>Cuantizar el modelo (INT8) para correr en Raspberry Pi + micrófono. Objetivo: monitoreo continuo y autónomo en campo sin conectividad.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jungle_bg.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64592"/>
            <a:ext cx="11274552" cy="475488"/>
          </a:xfrm>
          <a:prstGeom prst="rect">
            <a:avLst/>
          </a:prstGeom>
          <a:noFill/>
        </p:spPr>
        <p:txBody>
          <a:bodyPr wrap="square">
            <a:spAutoFit/>
          </a:bodyPr>
          <a:lstStyle/>
          <a:p>
            <a:pPr algn="l"/>
            <a:r>
              <a:rPr sz="2100" b="1" i="0">
                <a:solidFill>
                  <a:srgbClr val="EFFCF5"/>
                </a:solidFill>
                <a:latin typeface="Aptos Display"/>
              </a:rPr>
              <a:t>Conclusión</a:t>
            </a:r>
          </a:p>
        </p:txBody>
      </p:sp>
      <p:sp>
        <p:nvSpPr>
          <p:cNvPr id="4" name="TextBox 3"/>
          <p:cNvSpPr txBox="1"/>
          <p:nvPr/>
        </p:nvSpPr>
        <p:spPr>
          <a:xfrm>
            <a:off x="457200" y="621792"/>
            <a:ext cx="11274552" cy="292608"/>
          </a:xfrm>
          <a:prstGeom prst="rect">
            <a:avLst/>
          </a:prstGeom>
          <a:noFill/>
        </p:spPr>
        <p:txBody>
          <a:bodyPr wrap="square">
            <a:spAutoFit/>
          </a:bodyPr>
          <a:lstStyle/>
          <a:p>
            <a:pPr algn="l"/>
            <a:r>
              <a:rPr sz="1000" b="0" i="0">
                <a:solidFill>
                  <a:srgbClr val="7EAA95"/>
                </a:solidFill>
                <a:latin typeface="Aptos Display"/>
              </a:rPr>
              <a:t>SelvaSonic-ML: una ruta completa de ML aplicado, trazable y reproducible</a:t>
            </a:r>
          </a:p>
        </p:txBody>
      </p:sp>
      <p:sp>
        <p:nvSpPr>
          <p:cNvPr id="5" name="Rectangle 4"/>
          <p:cNvSpPr/>
          <p:nvPr/>
        </p:nvSpPr>
        <p:spPr>
          <a:xfrm>
            <a:off x="457200" y="987552"/>
            <a:ext cx="5943600" cy="5349240"/>
          </a:xfrm>
          <a:prstGeom prst="rect">
            <a:avLst/>
          </a:prstGeom>
          <a:solidFill>
            <a:srgbClr val="0B2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078992"/>
            <a:ext cx="5669280" cy="5166360"/>
          </a:xfrm>
          <a:prstGeom prst="rect">
            <a:avLst/>
          </a:prstGeom>
          <a:noFill/>
        </p:spPr>
        <p:txBody>
          <a:bodyPr wrap="square">
            <a:spAutoFit/>
          </a:bodyPr>
          <a:lstStyle/>
          <a:p>
            <a:pPr algn="l"/>
            <a:r>
              <a:rPr sz="1100" b="1">
                <a:solidFill>
                  <a:srgbClr val="21D4D4"/>
                </a:solidFill>
                <a:latin typeface="Aptos Display"/>
              </a:rPr>
              <a:t>Mensaje principal</a:t>
            </a:r>
          </a:p>
          <a:p>
            <a:pPr algn="l"/>
            <a:r>
              <a:rPr sz="300" b="0">
                <a:solidFill>
                  <a:srgbClr val="B5D3C3"/>
                </a:solidFill>
                <a:latin typeface="Aptos Display"/>
              </a:rPr>
              <a:t> </a:t>
            </a:r>
          </a:p>
          <a:p>
            <a:pPr algn="l"/>
            <a:r>
              <a:rPr sz="1000" b="0">
                <a:solidFill>
                  <a:srgbClr val="EFFCF5"/>
                </a:solidFill>
                <a:latin typeface="Aptos Display"/>
              </a:rPr>
              <a:t>SelvaSonic-ML demuestra una ruta completa de Machine Learning aplicado: descarga estructurada de datos → segmentación → representación Mel → CNN baseline → +attention → +balanceo → evaluación multi-métrica → prueba en campo.</a:t>
            </a:r>
          </a:p>
          <a:p>
            <a:pPr algn="l"/>
            <a:r>
              <a:rPr sz="500" b="0">
                <a:solidFill>
                  <a:srgbClr val="B5D3C3"/>
                </a:solidFill>
                <a:latin typeface="Aptos Display"/>
              </a:rPr>
              <a:t> </a:t>
            </a:r>
          </a:p>
          <a:p>
            <a:pPr algn="l"/>
            <a:r>
              <a:rPr sz="1100" b="1">
                <a:solidFill>
                  <a:srgbClr val="F4D35E"/>
                </a:solidFill>
                <a:latin typeface="Aptos Display"/>
              </a:rPr>
              <a:t>Resultado cuantitativo</a:t>
            </a:r>
          </a:p>
          <a:p>
            <a:pPr algn="l"/>
            <a:r>
              <a:rPr sz="300" b="0">
                <a:solidFill>
                  <a:srgbClr val="B5D3C3"/>
                </a:solidFill>
                <a:latin typeface="Aptos Display"/>
              </a:rPr>
              <a:t> </a:t>
            </a:r>
          </a:p>
          <a:p>
            <a:pPr algn="l"/>
            <a:r>
              <a:rPr sz="1000" b="0">
                <a:solidFill>
                  <a:srgbClr val="EFFCF5"/>
                </a:solidFill>
                <a:latin typeface="Aptos Display"/>
              </a:rPr>
              <a:t>El modelo final (Attention v2) alcanza 0.7036 de test accuracy sobre 11 clases con desbalance severo (12:1), sin preentrenamiento.</a:t>
            </a:r>
          </a:p>
          <a:p>
            <a:pPr algn="l"/>
            <a:r>
              <a:rPr sz="500" b="0">
                <a:solidFill>
                  <a:srgbClr val="B5D3C3"/>
                </a:solidFill>
                <a:latin typeface="Aptos Display"/>
              </a:rPr>
              <a:t> </a:t>
            </a:r>
          </a:p>
          <a:p>
            <a:pPr algn="l"/>
            <a:r>
              <a:rPr sz="1100" b="1">
                <a:solidFill>
                  <a:srgbClr val="21D4D4"/>
                </a:solidFill>
                <a:latin typeface="Aptos Display"/>
              </a:rPr>
              <a:t>Mensaje metodológico</a:t>
            </a:r>
          </a:p>
          <a:p>
            <a:pPr algn="l"/>
            <a:r>
              <a:rPr sz="300" b="0">
                <a:solidFill>
                  <a:srgbClr val="B5D3C3"/>
                </a:solidFill>
                <a:latin typeface="Aptos Display"/>
              </a:rPr>
              <a:t> </a:t>
            </a:r>
          </a:p>
          <a:p>
            <a:pPr algn="l"/>
            <a:r>
              <a:rPr sz="1000" b="0">
                <a:solidFill>
                  <a:srgbClr val="B5D3C3"/>
                </a:solidFill>
                <a:latin typeface="Aptos Display"/>
              </a:rPr>
              <a:t>La mejora de un modelo no se defiende solo con accuracy: se defiende con controles de fuga, métricas balanceadas, análisis de calibración, embeddings interpretables y pruebas bajo cambio de distribución.</a:t>
            </a:r>
          </a:p>
          <a:p>
            <a:pPr algn="l"/>
            <a:r>
              <a:rPr sz="500" b="0">
                <a:solidFill>
                  <a:srgbClr val="B5D3C3"/>
                </a:solidFill>
                <a:latin typeface="Aptos Display"/>
              </a:rPr>
              <a:t> </a:t>
            </a:r>
          </a:p>
          <a:p>
            <a:pPr algn="l"/>
            <a:r>
              <a:rPr sz="900" b="0">
                <a:solidFill>
                  <a:srgbClr val="7EAA95"/>
                </a:solidFill>
                <a:latin typeface="Aptos Display"/>
              </a:rPr>
              <a:t>Repositorio: github.com/LauraRuizA09/SelvaSonic-ML</a:t>
            </a:r>
          </a:p>
        </p:txBody>
      </p:sp>
      <p:sp>
        <p:nvSpPr>
          <p:cNvPr id="7" name="Rectangle 6"/>
          <p:cNvSpPr/>
          <p:nvPr/>
        </p:nvSpPr>
        <p:spPr>
          <a:xfrm>
            <a:off x="6537960" y="987552"/>
            <a:ext cx="5193792" cy="5349240"/>
          </a:xfrm>
          <a:prstGeom prst="rect">
            <a:avLst/>
          </a:prstGeom>
          <a:solidFill>
            <a:srgbClr val="0F3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1051560"/>
            <a:ext cx="4937760" cy="274320"/>
          </a:xfrm>
          <a:prstGeom prst="rect">
            <a:avLst/>
          </a:prstGeom>
          <a:noFill/>
        </p:spPr>
        <p:txBody>
          <a:bodyPr wrap="square">
            <a:spAutoFit/>
          </a:bodyPr>
          <a:lstStyle/>
          <a:p>
            <a:pPr algn="l"/>
            <a:r>
              <a:rPr sz="1000" b="1" i="0">
                <a:solidFill>
                  <a:srgbClr val="21D4D4"/>
                </a:solidFill>
                <a:latin typeface="Aptos Display"/>
              </a:rPr>
              <a:t>Referencias</a:t>
            </a:r>
          </a:p>
        </p:txBody>
      </p:sp>
      <p:sp>
        <p:nvSpPr>
          <p:cNvPr id="9" name="TextBox 8"/>
          <p:cNvSpPr txBox="1"/>
          <p:nvPr/>
        </p:nvSpPr>
        <p:spPr>
          <a:xfrm>
            <a:off x="6675120" y="1417320"/>
            <a:ext cx="4937760" cy="201168"/>
          </a:xfrm>
          <a:prstGeom prst="rect">
            <a:avLst/>
          </a:prstGeom>
          <a:noFill/>
        </p:spPr>
        <p:txBody>
          <a:bodyPr wrap="square">
            <a:spAutoFit/>
          </a:bodyPr>
          <a:lstStyle/>
          <a:p>
            <a:pPr algn="l"/>
            <a:r>
              <a:rPr sz="750" b="1" i="0">
                <a:solidFill>
                  <a:srgbClr val="F4D35E"/>
                </a:solidFill>
                <a:latin typeface="Aptos Display"/>
              </a:rPr>
              <a:t>Gong et al. (2021).</a:t>
            </a:r>
          </a:p>
        </p:txBody>
      </p:sp>
      <p:sp>
        <p:nvSpPr>
          <p:cNvPr id="10" name="TextBox 9"/>
          <p:cNvSpPr txBox="1"/>
          <p:nvPr/>
        </p:nvSpPr>
        <p:spPr>
          <a:xfrm>
            <a:off x="6675120" y="1600200"/>
            <a:ext cx="4937760" cy="201168"/>
          </a:xfrm>
          <a:prstGeom prst="rect">
            <a:avLst/>
          </a:prstGeom>
          <a:noFill/>
        </p:spPr>
        <p:txBody>
          <a:bodyPr wrap="square">
            <a:spAutoFit/>
          </a:bodyPr>
          <a:lstStyle/>
          <a:p>
            <a:pPr algn="l"/>
            <a:r>
              <a:rPr sz="750" b="0" i="0">
                <a:solidFill>
                  <a:srgbClr val="B5D3C3"/>
                </a:solidFill>
                <a:latin typeface="Aptos Display"/>
              </a:rPr>
              <a:t>AST: Audio Spectrogram Transformer. Interspeech 2021.</a:t>
            </a:r>
          </a:p>
        </p:txBody>
      </p:sp>
      <p:sp>
        <p:nvSpPr>
          <p:cNvPr id="11" name="TextBox 10"/>
          <p:cNvSpPr txBox="1"/>
          <p:nvPr/>
        </p:nvSpPr>
        <p:spPr>
          <a:xfrm>
            <a:off x="6675120" y="1856232"/>
            <a:ext cx="4937760" cy="201168"/>
          </a:xfrm>
          <a:prstGeom prst="rect">
            <a:avLst/>
          </a:prstGeom>
          <a:noFill/>
        </p:spPr>
        <p:txBody>
          <a:bodyPr wrap="square">
            <a:spAutoFit/>
          </a:bodyPr>
          <a:lstStyle/>
          <a:p>
            <a:pPr algn="l"/>
            <a:r>
              <a:rPr sz="750" b="1" i="0">
                <a:solidFill>
                  <a:srgbClr val="F4D35E"/>
                </a:solidFill>
                <a:latin typeface="Aptos Display"/>
              </a:rPr>
              <a:t>Kong et al. (2020).</a:t>
            </a:r>
          </a:p>
        </p:txBody>
      </p:sp>
      <p:sp>
        <p:nvSpPr>
          <p:cNvPr id="12" name="TextBox 11"/>
          <p:cNvSpPr txBox="1"/>
          <p:nvPr/>
        </p:nvSpPr>
        <p:spPr>
          <a:xfrm>
            <a:off x="6675120" y="2039112"/>
            <a:ext cx="4937760" cy="201168"/>
          </a:xfrm>
          <a:prstGeom prst="rect">
            <a:avLst/>
          </a:prstGeom>
          <a:noFill/>
        </p:spPr>
        <p:txBody>
          <a:bodyPr wrap="square">
            <a:spAutoFit/>
          </a:bodyPr>
          <a:lstStyle/>
          <a:p>
            <a:pPr algn="l"/>
            <a:r>
              <a:rPr sz="750" b="0" i="0">
                <a:solidFill>
                  <a:srgbClr val="B5D3C3"/>
                </a:solidFill>
                <a:latin typeface="Aptos Display"/>
              </a:rPr>
              <a:t>PANNs: Large-scale pretrained audio neural networks. IEEE TASLP 28.</a:t>
            </a:r>
          </a:p>
        </p:txBody>
      </p:sp>
      <p:sp>
        <p:nvSpPr>
          <p:cNvPr id="13" name="TextBox 12"/>
          <p:cNvSpPr txBox="1"/>
          <p:nvPr/>
        </p:nvSpPr>
        <p:spPr>
          <a:xfrm>
            <a:off x="6675120" y="2295144"/>
            <a:ext cx="4937760" cy="201168"/>
          </a:xfrm>
          <a:prstGeom prst="rect">
            <a:avLst/>
          </a:prstGeom>
          <a:noFill/>
        </p:spPr>
        <p:txBody>
          <a:bodyPr wrap="square">
            <a:spAutoFit/>
          </a:bodyPr>
          <a:lstStyle/>
          <a:p>
            <a:pPr algn="l"/>
            <a:r>
              <a:rPr sz="750" b="1" i="0">
                <a:solidFill>
                  <a:srgbClr val="F4D35E"/>
                </a:solidFill>
                <a:latin typeface="Aptos Display"/>
              </a:rPr>
              <a:t>Piczak (2015).</a:t>
            </a:r>
          </a:p>
        </p:txBody>
      </p:sp>
      <p:sp>
        <p:nvSpPr>
          <p:cNvPr id="14" name="TextBox 13"/>
          <p:cNvSpPr txBox="1"/>
          <p:nvPr/>
        </p:nvSpPr>
        <p:spPr>
          <a:xfrm>
            <a:off x="6675120" y="2478024"/>
            <a:ext cx="4937760" cy="201168"/>
          </a:xfrm>
          <a:prstGeom prst="rect">
            <a:avLst/>
          </a:prstGeom>
          <a:noFill/>
        </p:spPr>
        <p:txBody>
          <a:bodyPr wrap="square">
            <a:spAutoFit/>
          </a:bodyPr>
          <a:lstStyle/>
          <a:p>
            <a:pPr algn="l"/>
            <a:r>
              <a:rPr sz="750" b="0" i="0">
                <a:solidFill>
                  <a:srgbClr val="B5D3C3"/>
                </a:solidFill>
                <a:latin typeface="Aptos Display"/>
              </a:rPr>
              <a:t>ESC: Dataset for environmental sound classification. ACM MM.</a:t>
            </a:r>
          </a:p>
        </p:txBody>
      </p:sp>
      <p:sp>
        <p:nvSpPr>
          <p:cNvPr id="15" name="TextBox 14"/>
          <p:cNvSpPr txBox="1"/>
          <p:nvPr/>
        </p:nvSpPr>
        <p:spPr>
          <a:xfrm>
            <a:off x="6675120" y="2734056"/>
            <a:ext cx="4937760" cy="201168"/>
          </a:xfrm>
          <a:prstGeom prst="rect">
            <a:avLst/>
          </a:prstGeom>
          <a:noFill/>
        </p:spPr>
        <p:txBody>
          <a:bodyPr wrap="square">
            <a:spAutoFit/>
          </a:bodyPr>
          <a:lstStyle/>
          <a:p>
            <a:pPr algn="l"/>
            <a:r>
              <a:rPr sz="750" b="1" i="0">
                <a:solidFill>
                  <a:srgbClr val="F4D35E"/>
                </a:solidFill>
                <a:latin typeface="Aptos Display"/>
              </a:rPr>
              <a:t>Szegedy et al. (2016).</a:t>
            </a:r>
          </a:p>
        </p:txBody>
      </p:sp>
      <p:sp>
        <p:nvSpPr>
          <p:cNvPr id="16" name="TextBox 15"/>
          <p:cNvSpPr txBox="1"/>
          <p:nvPr/>
        </p:nvSpPr>
        <p:spPr>
          <a:xfrm>
            <a:off x="6675120" y="2916936"/>
            <a:ext cx="4937760" cy="201168"/>
          </a:xfrm>
          <a:prstGeom prst="rect">
            <a:avLst/>
          </a:prstGeom>
          <a:noFill/>
        </p:spPr>
        <p:txBody>
          <a:bodyPr wrap="square">
            <a:spAutoFit/>
          </a:bodyPr>
          <a:lstStyle/>
          <a:p>
            <a:pPr algn="l"/>
            <a:r>
              <a:rPr sz="750" b="0" i="0">
                <a:solidFill>
                  <a:srgbClr val="B5D3C3"/>
                </a:solidFill>
                <a:latin typeface="Aptos Display"/>
              </a:rPr>
              <a:t>Rethinking Inception. CVPR 2016. [label smoothing]</a:t>
            </a:r>
          </a:p>
        </p:txBody>
      </p:sp>
      <p:sp>
        <p:nvSpPr>
          <p:cNvPr id="17" name="TextBox 16"/>
          <p:cNvSpPr txBox="1"/>
          <p:nvPr/>
        </p:nvSpPr>
        <p:spPr>
          <a:xfrm>
            <a:off x="6675120" y="3172968"/>
            <a:ext cx="4937760" cy="201168"/>
          </a:xfrm>
          <a:prstGeom prst="rect">
            <a:avLst/>
          </a:prstGeom>
          <a:noFill/>
        </p:spPr>
        <p:txBody>
          <a:bodyPr wrap="square">
            <a:spAutoFit/>
          </a:bodyPr>
          <a:lstStyle/>
          <a:p>
            <a:pPr algn="l"/>
            <a:r>
              <a:rPr sz="750" b="1" i="0">
                <a:solidFill>
                  <a:srgbClr val="F4D35E"/>
                </a:solidFill>
                <a:latin typeface="Aptos Display"/>
              </a:rPr>
              <a:t>Vaswani et al. (2017).</a:t>
            </a:r>
          </a:p>
        </p:txBody>
      </p:sp>
      <p:sp>
        <p:nvSpPr>
          <p:cNvPr id="18" name="TextBox 17"/>
          <p:cNvSpPr txBox="1"/>
          <p:nvPr/>
        </p:nvSpPr>
        <p:spPr>
          <a:xfrm>
            <a:off x="6675120" y="3355848"/>
            <a:ext cx="4937760" cy="201168"/>
          </a:xfrm>
          <a:prstGeom prst="rect">
            <a:avLst/>
          </a:prstGeom>
          <a:noFill/>
        </p:spPr>
        <p:txBody>
          <a:bodyPr wrap="square">
            <a:spAutoFit/>
          </a:bodyPr>
          <a:lstStyle/>
          <a:p>
            <a:pPr algn="l"/>
            <a:r>
              <a:rPr sz="750" b="0" i="0">
                <a:solidFill>
                  <a:srgbClr val="B5D3C3"/>
                </a:solidFill>
                <a:latin typeface="Aptos Display"/>
              </a:rPr>
              <a:t>Attention is all you need. NeurIPS 30. [MHSA]</a:t>
            </a:r>
          </a:p>
        </p:txBody>
      </p:sp>
      <p:sp>
        <p:nvSpPr>
          <p:cNvPr id="19" name="TextBox 18"/>
          <p:cNvSpPr txBox="1"/>
          <p:nvPr/>
        </p:nvSpPr>
        <p:spPr>
          <a:xfrm>
            <a:off x="6675120" y="3611880"/>
            <a:ext cx="4937760" cy="201168"/>
          </a:xfrm>
          <a:prstGeom prst="rect">
            <a:avLst/>
          </a:prstGeom>
          <a:noFill/>
        </p:spPr>
        <p:txBody>
          <a:bodyPr wrap="square">
            <a:spAutoFit/>
          </a:bodyPr>
          <a:lstStyle/>
          <a:p>
            <a:pPr algn="l"/>
            <a:r>
              <a:rPr sz="750" b="1" i="0">
                <a:solidFill>
                  <a:srgbClr val="F4D35E"/>
                </a:solidFill>
                <a:latin typeface="Aptos Display"/>
              </a:rPr>
              <a:t>Vellinga &amp; Planqué (2015).</a:t>
            </a:r>
          </a:p>
        </p:txBody>
      </p:sp>
      <p:sp>
        <p:nvSpPr>
          <p:cNvPr id="20" name="TextBox 19"/>
          <p:cNvSpPr txBox="1"/>
          <p:nvPr/>
        </p:nvSpPr>
        <p:spPr>
          <a:xfrm>
            <a:off x="6675120" y="3794760"/>
            <a:ext cx="4937760" cy="201168"/>
          </a:xfrm>
          <a:prstGeom prst="rect">
            <a:avLst/>
          </a:prstGeom>
          <a:noFill/>
        </p:spPr>
        <p:txBody>
          <a:bodyPr wrap="square">
            <a:spAutoFit/>
          </a:bodyPr>
          <a:lstStyle/>
          <a:p>
            <a:pPr algn="l"/>
            <a:r>
              <a:rPr sz="750" b="0" i="0">
                <a:solidFill>
                  <a:srgbClr val="B5D3C3"/>
                </a:solidFill>
                <a:latin typeface="Aptos Display"/>
              </a:rPr>
              <a:t>The Xeno-canto collection. CLEF Working Notes.</a:t>
            </a:r>
          </a:p>
        </p:txBody>
      </p:sp>
      <p:sp>
        <p:nvSpPr>
          <p:cNvPr id="21" name="TextBox 20"/>
          <p:cNvSpPr txBox="1"/>
          <p:nvPr/>
        </p:nvSpPr>
        <p:spPr>
          <a:xfrm>
            <a:off x="6675120" y="4050791"/>
            <a:ext cx="4937760" cy="201168"/>
          </a:xfrm>
          <a:prstGeom prst="rect">
            <a:avLst/>
          </a:prstGeom>
          <a:noFill/>
        </p:spPr>
        <p:txBody>
          <a:bodyPr wrap="square">
            <a:spAutoFit/>
          </a:bodyPr>
          <a:lstStyle/>
          <a:p>
            <a:pPr algn="l"/>
            <a:r>
              <a:rPr sz="750" b="1" i="0">
                <a:solidFill>
                  <a:srgbClr val="F4D35E"/>
                </a:solidFill>
                <a:latin typeface="Aptos Display"/>
              </a:rPr>
              <a:t>Guo et al. (2017).</a:t>
            </a:r>
          </a:p>
        </p:txBody>
      </p:sp>
      <p:sp>
        <p:nvSpPr>
          <p:cNvPr id="22" name="TextBox 21"/>
          <p:cNvSpPr txBox="1"/>
          <p:nvPr/>
        </p:nvSpPr>
        <p:spPr>
          <a:xfrm>
            <a:off x="6675120" y="4233672"/>
            <a:ext cx="4937760" cy="201168"/>
          </a:xfrm>
          <a:prstGeom prst="rect">
            <a:avLst/>
          </a:prstGeom>
          <a:noFill/>
        </p:spPr>
        <p:txBody>
          <a:bodyPr wrap="square">
            <a:spAutoFit/>
          </a:bodyPr>
          <a:lstStyle/>
          <a:p>
            <a:pPr algn="l"/>
            <a:r>
              <a:rPr sz="750" b="0" i="0">
                <a:solidFill>
                  <a:srgbClr val="B5D3C3"/>
                </a:solidFill>
                <a:latin typeface="Aptos Display"/>
              </a:rPr>
              <a:t>On calibration of modern neural networks. ICML 34. [ECE]</a:t>
            </a:r>
          </a:p>
        </p:txBody>
      </p:sp>
      <p:sp>
        <p:nvSpPr>
          <p:cNvPr id="23" name="TextBox 22"/>
          <p:cNvSpPr txBox="1"/>
          <p:nvPr/>
        </p:nvSpPr>
        <p:spPr>
          <a:xfrm>
            <a:off x="6675120" y="4489704"/>
            <a:ext cx="4937760" cy="201168"/>
          </a:xfrm>
          <a:prstGeom prst="rect">
            <a:avLst/>
          </a:prstGeom>
          <a:noFill/>
        </p:spPr>
        <p:txBody>
          <a:bodyPr wrap="square">
            <a:spAutoFit/>
          </a:bodyPr>
          <a:lstStyle/>
          <a:p>
            <a:pPr algn="l"/>
            <a:r>
              <a:rPr sz="750" b="1" i="0">
                <a:solidFill>
                  <a:srgbClr val="F4D35E"/>
                </a:solidFill>
                <a:latin typeface="Aptos Display"/>
              </a:rPr>
              <a:t>Cao et al. (2019).</a:t>
            </a:r>
          </a:p>
        </p:txBody>
      </p:sp>
      <p:sp>
        <p:nvSpPr>
          <p:cNvPr id="24" name="TextBox 23"/>
          <p:cNvSpPr txBox="1"/>
          <p:nvPr/>
        </p:nvSpPr>
        <p:spPr>
          <a:xfrm>
            <a:off x="6675120" y="4672584"/>
            <a:ext cx="4937760" cy="201168"/>
          </a:xfrm>
          <a:prstGeom prst="rect">
            <a:avLst/>
          </a:prstGeom>
          <a:noFill/>
        </p:spPr>
        <p:txBody>
          <a:bodyPr wrap="square">
            <a:spAutoFit/>
          </a:bodyPr>
          <a:lstStyle/>
          <a:p>
            <a:pPr algn="l"/>
            <a:r>
              <a:rPr sz="750" b="0" i="0">
                <a:solidFill>
                  <a:srgbClr val="B5D3C3"/>
                </a:solidFill>
                <a:latin typeface="Aptos Display"/>
              </a:rPr>
              <a:t>Learning imbalanced datasets with label-distribution-aware margin loss. NeurIPS.</a:t>
            </a:r>
          </a:p>
        </p:txBody>
      </p:sp>
      <p:sp>
        <p:nvSpPr>
          <p:cNvPr id="25" name="TextBox 24"/>
          <p:cNvSpPr txBox="1"/>
          <p:nvPr/>
        </p:nvSpPr>
        <p:spPr>
          <a:xfrm>
            <a:off x="457200" y="6537960"/>
            <a:ext cx="11274552" cy="256032"/>
          </a:xfrm>
          <a:prstGeom prst="rect">
            <a:avLst/>
          </a:prstGeom>
          <a:noFill/>
        </p:spPr>
        <p:txBody>
          <a:bodyPr wrap="square">
            <a:spAutoFit/>
          </a:bodyPr>
          <a:lstStyle/>
          <a:p>
            <a:pPr algn="ctr"/>
            <a:r>
              <a:rPr sz="800" b="0" i="0">
                <a:solidFill>
                  <a:srgbClr val="7EAA95"/>
                </a:solidFill>
                <a:latin typeface="Aptos Display"/>
              </a:rPr>
              <a:t>Laura Ruiz Arango &amp; Jose Aldair Molina Méndez · Prof. Alcides Montoya · UNAL Medellín · Junio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